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BC8FF"/>
                </a:solidFill>
                <a:latin typeface="Arial"/>
                <a:ea typeface="Meiryo"/>
              </a:rPr>
              <a:t>VC FUND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82296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EAF1FF"/>
                </a:solidFill>
                <a:latin typeface="Arial"/>
                <a:ea typeface="Meiryo"/>
              </a:rPr>
              <a:t>SENTINEL CAPITAL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93392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5BC8FF"/>
                </a:solidFill>
                <a:latin typeface="Arial"/>
                <a:ea typeface="Meiryo"/>
              </a:rPr>
              <a:t>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44368"/>
            <a:ext cx="8046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EAF1FF"/>
                </a:solidFill>
                <a:latin typeface="Arial"/>
                <a:ea typeface="Meiryo"/>
              </a:rPr>
              <a:t>宇宙から地球を読み、経済安全保障に張る。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8046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7FA6"/>
                </a:solidFill>
                <a:latin typeface="Arial"/>
                <a:ea typeface="Meiryo"/>
              </a:rPr>
              <a:t>Securing the critical frontier — from orbit.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262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7FA6"/>
                </a:solidFill>
                <a:latin typeface="Arial"/>
                <a:ea typeface="Meiryo"/>
              </a:rPr>
              <a:t>投資対象  </a:t>
            </a:r>
            <a:r>
              <a:rPr sz="1300" b="1">
                <a:solidFill>
                  <a:srgbClr val="EAF1FF"/>
                </a:solidFill>
                <a:latin typeface="Arial"/>
                <a:ea typeface="Meiryo"/>
              </a:rPr>
              <a:t>Solafune</a:t>
            </a:r>
            <a:r>
              <a:rPr sz="1300" b="0">
                <a:solidFill>
                  <a:srgbClr val="6E7FA6"/>
                </a:solidFill>
                <a:latin typeface="Arial"/>
                <a:ea typeface="Meiryo"/>
              </a:rPr>
              <a:t>       3号ファンド  </a:t>
            </a:r>
            <a:r>
              <a:rPr sz="1300" b="1">
                <a:solidFill>
                  <a:srgbClr val="F5B454"/>
                </a:solidFill>
                <a:latin typeface="Arial"/>
                <a:ea typeface="Meiryo"/>
              </a:rPr>
              <a:t>¥150億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51206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E7FA6"/>
                </a:solidFill>
                <a:latin typeface="Arial"/>
                <a:ea typeface="Meiryo"/>
              </a:rPr>
              <a:t>Sentinel Capital Partners｜センチネル・キャピタル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BC8FF"/>
                </a:solidFill>
                <a:latin typeface="Arial"/>
                <a:ea typeface="Meiryo"/>
              </a:rPr>
              <a:t>OUR EDGE ・ 勝ち筋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EAF1FF"/>
                </a:solidFill>
                <a:latin typeface="Arial"/>
                <a:ea typeface="Meiryo"/>
              </a:rPr>
              <a:t>私たちは、どう勝つか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25296"/>
            <a:ext cx="8046720" cy="566928"/>
          </a:xfrm>
          <a:prstGeom prst="roundRect">
            <a:avLst>
              <a:gd name="adj" fmla="val 10000"/>
            </a:avLst>
          </a:prstGeom>
          <a:solidFill>
            <a:srgbClr val="13234D"/>
          </a:solidFill>
          <a:ln w="12700">
            <a:solidFill>
              <a:srgbClr val="2C4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25296"/>
            <a:ext cx="64008" cy="566928"/>
          </a:xfrm>
          <a:prstGeom prst="rect">
            <a:avLst/>
          </a:prstGeom>
          <a:solidFill>
            <a:srgbClr val="F5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225296"/>
            <a:ext cx="7635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衛星を持たない解析レイヤーの1社に、</a:t>
            </a:r>
            <a:r>
              <a:rPr sz="1350" b="1">
                <a:solidFill>
                  <a:srgbClr val="F5B454"/>
                </a:solidFill>
                <a:latin typeface="Arial"/>
                <a:ea typeface="Meiryo"/>
              </a:rPr>
              <a:t>ファンドの元手1本ぶんを集中して張る</a:t>
            </a: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——狭く深く。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2542032" cy="2377440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11680"/>
            <a:ext cx="2542032" cy="82296"/>
          </a:xfrm>
          <a:prstGeom prst="rect">
            <a:avLst/>
          </a:prstGeom>
          <a:solidFill>
            <a:srgbClr val="5B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304288"/>
            <a:ext cx="213969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AF1FF"/>
                </a:solidFill>
                <a:latin typeface="Arial"/>
                <a:ea typeface="Meiryo"/>
              </a:rPr>
              <a:t>主権  </a:t>
            </a:r>
            <a:r>
              <a:rPr sz="1100" b="1">
                <a:solidFill>
                  <a:srgbClr val="5BC8FF"/>
                </a:solidFill>
                <a:latin typeface="Arial"/>
                <a:ea typeface="Meiryo"/>
              </a:rPr>
              <a:t>SOVEREIGNTY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926080"/>
            <a:ext cx="213969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DB0D0"/>
                </a:solidFill>
                <a:latin typeface="Arial"/>
                <a:ea typeface="Meiryo"/>
              </a:rPr>
              <a:t>国産・データ主権が不可欠な領域に、政府アンカーで張る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2011680"/>
            <a:ext cx="2542032" cy="2377440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27832" y="2011680"/>
            <a:ext cx="2542032" cy="82296"/>
          </a:xfrm>
          <a:prstGeom prst="rect">
            <a:avLst/>
          </a:prstGeom>
          <a:solidFill>
            <a:srgbClr val="F5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304288"/>
            <a:ext cx="213969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AF1FF"/>
                </a:solidFill>
                <a:latin typeface="Arial"/>
                <a:ea typeface="Meiryo"/>
              </a:rPr>
              <a:t>集中  </a:t>
            </a:r>
            <a:r>
              <a:rPr sz="1100" b="1">
                <a:solidFill>
                  <a:srgbClr val="F5B454"/>
                </a:solidFill>
                <a:latin typeface="Arial"/>
                <a:ea typeface="Meiryo"/>
              </a:rPr>
              <a:t>CONCENTRATION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926080"/>
            <a:ext cx="213969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DB0D0"/>
                </a:solidFill>
                <a:latin typeface="Arial"/>
                <a:ea typeface="Meiryo"/>
              </a:rPr>
              <a:t>10〜12社に絞り、1社でファンドを返す設計に徹する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07024" y="2011680"/>
            <a:ext cx="2542032" cy="2377440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07024" y="2011680"/>
            <a:ext cx="2542032" cy="82296"/>
          </a:xfrm>
          <a:prstGeom prst="rect">
            <a:avLst/>
          </a:prstGeom>
          <a:solidFill>
            <a:srgbClr val="9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08192" y="2304288"/>
            <a:ext cx="213969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AF1FF"/>
                </a:solidFill>
                <a:latin typeface="Arial"/>
                <a:ea typeface="Meiryo"/>
              </a:rPr>
              <a:t>宇宙×AI  </a:t>
            </a:r>
            <a:r>
              <a:rPr sz="1100" b="1">
                <a:solidFill>
                  <a:srgbClr val="9C8CFF"/>
                </a:solidFill>
                <a:latin typeface="Arial"/>
                <a:ea typeface="Meiryo"/>
              </a:rPr>
              <a:t>ORBIT ×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08192" y="2926080"/>
            <a:ext cx="213969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9DB0D0"/>
                </a:solidFill>
                <a:latin typeface="Arial"/>
                <a:ea typeface="Meiryo"/>
              </a:rPr>
              <a:t>衛星×AIで地球を解析するソフト層に投資する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55464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E7FA6"/>
                </a:solidFill>
                <a:latin typeface="Arial"/>
                <a:ea typeface="Meiryo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48554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E7FA6"/>
                </a:solidFill>
                <a:latin typeface="Arial"/>
                <a:ea typeface="Meiry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BC8FF"/>
                </a:solidFill>
                <a:latin typeface="Arial"/>
                <a:ea typeface="Meiryo"/>
              </a:rPr>
              <a:t>FUND DESIGN ・ ファンド設計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EAF1FF"/>
                </a:solidFill>
                <a:latin typeface="Arial"/>
                <a:ea typeface="Meiryo"/>
              </a:rPr>
              <a:t>数字で語るファンドの骨格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25296"/>
            <a:ext cx="8046720" cy="566928"/>
          </a:xfrm>
          <a:prstGeom prst="roundRect">
            <a:avLst>
              <a:gd name="adj" fmla="val 10000"/>
            </a:avLst>
          </a:prstGeom>
          <a:solidFill>
            <a:srgbClr val="13234D"/>
          </a:solidFill>
          <a:ln w="12700">
            <a:solidFill>
              <a:srgbClr val="2C4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25296"/>
            <a:ext cx="64008" cy="566928"/>
          </a:xfrm>
          <a:prstGeom prst="rect">
            <a:avLst/>
          </a:prstGeom>
          <a:solidFill>
            <a:srgbClr val="F5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225296"/>
            <a:ext cx="7635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150億・集中10社・初回5.5億で持分</a:t>
            </a:r>
            <a:r>
              <a:rPr sz="1350" b="1">
                <a:solidFill>
                  <a:srgbClr val="F5B454"/>
                </a:solidFill>
                <a:latin typeface="Arial"/>
                <a:ea typeface="Meiryo"/>
              </a:rPr>
              <a:t>約15%</a:t>
            </a: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、狙うはネット</a:t>
            </a:r>
            <a:r>
              <a:rPr sz="1350" b="1">
                <a:solidFill>
                  <a:srgbClr val="5BC8FF"/>
                </a:solidFill>
                <a:latin typeface="Arial"/>
                <a:ea typeface="Meiryo"/>
              </a:rPr>
              <a:t>DPI 3.0X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93392"/>
            <a:ext cx="2542032" cy="1078992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139696"/>
            <a:ext cx="22128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5BC8FF"/>
                </a:solidFill>
                <a:latin typeface="Arial"/>
                <a:ea typeface="Meiryo"/>
              </a:rPr>
              <a:t>¥150億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688336"/>
            <a:ext cx="221284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ファンド総額（3号）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27832" y="1993392"/>
            <a:ext cx="2542032" cy="1078992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92424" y="2139696"/>
            <a:ext cx="22128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B454"/>
                </a:solidFill>
                <a:latin typeface="Arial"/>
                <a:ea typeface="Meiryo"/>
              </a:rPr>
              <a:t>3.0X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2424" y="2688336"/>
            <a:ext cx="221284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目標ネットDPI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07024" y="1993392"/>
            <a:ext cx="2542032" cy="1078992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71616" y="2139696"/>
            <a:ext cx="22128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5BC8FF"/>
                </a:solidFill>
                <a:latin typeface="Arial"/>
                <a:ea typeface="Meiryo"/>
              </a:rPr>
              <a:t>10–12社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71616" y="2688336"/>
            <a:ext cx="221284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集中ポートフォリオ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182112"/>
            <a:ext cx="2542032" cy="1078992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328416"/>
            <a:ext cx="22128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B454"/>
                </a:solidFill>
                <a:latin typeface="Arial"/>
                <a:ea typeface="Meiryo"/>
              </a:rPr>
              <a:t>約15%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877056"/>
            <a:ext cx="221284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エントリー持分（リード）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27832" y="3182112"/>
            <a:ext cx="2542032" cy="1078992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92424" y="3328416"/>
            <a:ext cx="22128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5BC8FF"/>
                </a:solidFill>
                <a:latin typeface="Arial"/>
                <a:ea typeface="Meiryo"/>
              </a:rPr>
              <a:t>2 / 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92424" y="3877056"/>
            <a:ext cx="221284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管理報酬 / 成功報酬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07024" y="3182112"/>
            <a:ext cx="2542032" cy="1078992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71616" y="3328416"/>
            <a:ext cx="22128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B454"/>
                </a:solidFill>
                <a:latin typeface="Arial"/>
                <a:ea typeface="Meiryo"/>
              </a:rPr>
              <a:t>10年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71616" y="3877056"/>
            <a:ext cx="221284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運用期間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407408"/>
            <a:ext cx="8046720" cy="475488"/>
          </a:xfrm>
          <a:prstGeom prst="roundRect">
            <a:avLst>
              <a:gd name="adj" fmla="val 12000"/>
            </a:avLst>
          </a:prstGeom>
          <a:solidFill>
            <a:srgbClr val="132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4407408"/>
            <a:ext cx="75895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DB0D0"/>
                </a:solidFill>
                <a:latin typeface="Arial"/>
                <a:ea typeface="Meiryo"/>
              </a:rPr>
              <a:t>算数：初回5.5億 ÷ 投資後36.5億（Pre 31＋5.5）＝ </a:t>
            </a:r>
            <a:r>
              <a:rPr sz="1250" b="1">
                <a:solidFill>
                  <a:srgbClr val="F5B454"/>
                </a:solidFill>
                <a:latin typeface="Arial"/>
                <a:ea typeface="Meiryo"/>
              </a:rPr>
              <a:t>約15%</a:t>
            </a:r>
            <a:r>
              <a:rPr sz="1250" b="0">
                <a:solidFill>
                  <a:srgbClr val="9DB0D0"/>
                </a:solidFill>
                <a:latin typeface="Arial"/>
                <a:ea typeface="Meiryo"/>
              </a:rPr>
              <a:t>。チームは </a:t>
            </a:r>
            <a:r>
              <a:rPr sz="1250" b="1">
                <a:solidFill>
                  <a:srgbClr val="EAF1FF"/>
                </a:solidFill>
                <a:latin typeface="Arial"/>
                <a:ea typeface="Meiryo"/>
              </a:rPr>
              <a:t>GP2＋アソシ2＋クリアランス保持</a:t>
            </a:r>
            <a:r>
              <a:rPr sz="1250" b="0">
                <a:solidFill>
                  <a:srgbClr val="9DB0D0"/>
                </a:solidFill>
                <a:latin typeface="Arial"/>
                <a:ea typeface="Meiryo"/>
              </a:rPr>
              <a:t>＝深く回せる件数の天井10〜12社。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855464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E7FA6"/>
                </a:solidFill>
                <a:latin typeface="Arial"/>
                <a:ea typeface="Meiryo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48554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E7FA6"/>
                </a:solidFill>
                <a:latin typeface="Arial"/>
                <a:ea typeface="Meiry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BC8FF"/>
                </a:solidFill>
                <a:latin typeface="Arial"/>
                <a:ea typeface="Meiryo"/>
              </a:rPr>
              <a:t>HOW VC WINS ・ べき乗則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EAF1FF"/>
                </a:solidFill>
                <a:latin typeface="Arial"/>
                <a:ea typeface="Meiryo"/>
              </a:rPr>
              <a:t>1社で元手を返す“ファンドリターナー”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25296"/>
            <a:ext cx="8046720" cy="566928"/>
          </a:xfrm>
          <a:prstGeom prst="roundRect">
            <a:avLst>
              <a:gd name="adj" fmla="val 10000"/>
            </a:avLst>
          </a:prstGeom>
          <a:solidFill>
            <a:srgbClr val="13234D"/>
          </a:solidFill>
          <a:ln w="12700">
            <a:solidFill>
              <a:srgbClr val="2C4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25296"/>
            <a:ext cx="64008" cy="566928"/>
          </a:xfrm>
          <a:prstGeom prst="rect">
            <a:avLst/>
          </a:prstGeom>
          <a:solidFill>
            <a:srgbClr val="F5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225296"/>
            <a:ext cx="7635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ネット3.0Xは“全社そこそこ”では作れない——</a:t>
            </a:r>
            <a:r>
              <a:rPr sz="1350" b="1">
                <a:solidFill>
                  <a:srgbClr val="F5B454"/>
                </a:solidFill>
                <a:latin typeface="Arial"/>
                <a:ea typeface="Meiryo"/>
              </a:rPr>
              <a:t>少数のアウトライヤーを必ず1社仕込む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93392"/>
            <a:ext cx="4160520" cy="2395728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39696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5BC8FF"/>
                </a:solidFill>
                <a:latin typeface="Arial"/>
                <a:ea typeface="Meiryo"/>
              </a:rPr>
              <a:t>10社のリターン分布（イメージ）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743200"/>
            <a:ext cx="274320" cy="1417320"/>
          </a:xfrm>
          <a:prstGeom prst="roundRect">
            <a:avLst>
              <a:gd name="adj" fmla="val 18000"/>
            </a:avLst>
          </a:prstGeom>
          <a:solidFill>
            <a:srgbClr val="F5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5237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F5B454"/>
                </a:solidFill>
                <a:latin typeface="Arial"/>
                <a:ea typeface="Meiryo"/>
              </a:rPr>
              <a:t>FR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34440" y="3200400"/>
            <a:ext cx="274320" cy="960120"/>
          </a:xfrm>
          <a:prstGeom prst="roundRect">
            <a:avLst>
              <a:gd name="adj" fmla="val 18000"/>
            </a:avLst>
          </a:prstGeom>
          <a:solidFill>
            <a:srgbClr val="5B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2980944"/>
            <a:ext cx="640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5BC8FF"/>
                </a:solidFill>
                <a:latin typeface="Arial"/>
                <a:ea typeface="Meiryo"/>
              </a:rPr>
              <a:t>7-8X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00200" y="3520439"/>
            <a:ext cx="274320" cy="640080"/>
          </a:xfrm>
          <a:prstGeom prst="roundRect">
            <a:avLst>
              <a:gd name="adj" fmla="val 18000"/>
            </a:avLst>
          </a:prstGeom>
          <a:solidFill>
            <a:srgbClr val="9DB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965960" y="3593591"/>
            <a:ext cx="274320" cy="566928"/>
          </a:xfrm>
          <a:prstGeom prst="roundRect">
            <a:avLst>
              <a:gd name="adj" fmla="val 18000"/>
            </a:avLst>
          </a:prstGeom>
          <a:solidFill>
            <a:srgbClr val="9DB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331720" y="3794759"/>
            <a:ext cx="274320" cy="365760"/>
          </a:xfrm>
          <a:prstGeom prst="roundRect">
            <a:avLst>
              <a:gd name="adj" fmla="val 18000"/>
            </a:avLst>
          </a:prstGeom>
          <a:solidFill>
            <a:srgbClr val="6E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697479" y="3867911"/>
            <a:ext cx="274320" cy="292608"/>
          </a:xfrm>
          <a:prstGeom prst="roundRect">
            <a:avLst>
              <a:gd name="adj" fmla="val 18000"/>
            </a:avLst>
          </a:prstGeom>
          <a:solidFill>
            <a:srgbClr val="6E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063239" y="3941063"/>
            <a:ext cx="274320" cy="219456"/>
          </a:xfrm>
          <a:prstGeom prst="roundRect">
            <a:avLst>
              <a:gd name="adj" fmla="val 18000"/>
            </a:avLst>
          </a:prstGeom>
          <a:solidFill>
            <a:srgbClr val="6E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28999" y="4014215"/>
            <a:ext cx="274320" cy="146304"/>
          </a:xfrm>
          <a:prstGeom prst="roundRect">
            <a:avLst>
              <a:gd name="adj" fmla="val 18000"/>
            </a:avLst>
          </a:prstGeom>
          <a:solidFill>
            <a:srgbClr val="6E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794759" y="4050791"/>
            <a:ext cx="274320" cy="109728"/>
          </a:xfrm>
          <a:prstGeom prst="roundRect">
            <a:avLst>
              <a:gd name="adj" fmla="val 18000"/>
            </a:avLst>
          </a:prstGeom>
          <a:solidFill>
            <a:srgbClr val="6E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160520" y="4087368"/>
            <a:ext cx="274320" cy="73152"/>
          </a:xfrm>
          <a:prstGeom prst="roundRect">
            <a:avLst>
              <a:gd name="adj" fmla="val 18000"/>
            </a:avLst>
          </a:prstGeom>
          <a:solidFill>
            <a:srgbClr val="6E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187952"/>
            <a:ext cx="3703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DB0D0"/>
                </a:solidFill>
                <a:latin typeface="Arial"/>
                <a:ea typeface="Meiryo"/>
              </a:rPr>
              <a:t>1〜2社の大当たりが回収の大半を作る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92040" y="1993392"/>
            <a:ext cx="3703320" cy="2395728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02352" y="213969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5BC8FF"/>
                </a:solidFill>
                <a:latin typeface="Arial"/>
                <a:ea typeface="Meiryo"/>
              </a:rPr>
              <a:t>ファンドリターナーの4条件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02352" y="2468880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B454"/>
                </a:solidFill>
                <a:latin typeface="Arial"/>
                <a:ea typeface="Meiryo"/>
              </a:rPr>
              <a:t>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0680" y="2468880"/>
            <a:ext cx="30175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1社で150億超のポジションが射程（高い天井）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02352" y="2889504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B454"/>
                </a:solidFill>
                <a:latin typeface="Arial"/>
                <a:ea typeface="Meiryo"/>
              </a:rPr>
              <a:t>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0680" y="2889504"/>
            <a:ext cx="30175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シード〜Aでリードしエグジット持分10〜12%確保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02352" y="3310128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B454"/>
                </a:solidFill>
                <a:latin typeface="Arial"/>
                <a:ea typeface="Meiryo"/>
              </a:rPr>
              <a:t>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3310128"/>
            <a:ext cx="30175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日本のIPOか国内プライム・商社M&amp;Aで回収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02352" y="3730752"/>
            <a:ext cx="320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5B454"/>
                </a:solidFill>
                <a:latin typeface="Arial"/>
                <a:ea typeface="Meiryo"/>
              </a:rPr>
              <a:t>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3730752"/>
            <a:ext cx="30175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センサー非依存の解析レイヤーという自社エッジ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02352" y="4151376"/>
            <a:ext cx="3337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DB0D0"/>
                </a:solidFill>
                <a:latin typeface="Arial"/>
                <a:ea typeface="Meiryo"/>
              </a:rPr>
              <a:t>Solafune＝</a:t>
            </a:r>
            <a:r>
              <a:rPr sz="1150" b="1">
                <a:solidFill>
                  <a:srgbClr val="EAF1FF"/>
                </a:solidFill>
                <a:latin typeface="Arial"/>
                <a:ea typeface="Meiryo"/>
              </a:rPr>
              <a:t>4条件すべてに高適合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855464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E7FA6"/>
                </a:solidFill>
                <a:latin typeface="Arial"/>
                <a:ea typeface="Meiryo"/>
              </a:rPr>
              <a:t/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48554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E7FA6"/>
                </a:solidFill>
                <a:latin typeface="Arial"/>
                <a:ea typeface="Meiry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BC8FF"/>
                </a:solidFill>
                <a:latin typeface="Arial"/>
                <a:ea typeface="Meiryo"/>
              </a:rPr>
              <a:t>WHY NOW ・ なぜ今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EAF1FF"/>
                </a:solidFill>
                <a:latin typeface="Arial"/>
                <a:ea typeface="Meiryo"/>
              </a:rPr>
              <a:t>経済安全保障 × 宇宙の時代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25296"/>
            <a:ext cx="8046720" cy="566928"/>
          </a:xfrm>
          <a:prstGeom prst="roundRect">
            <a:avLst>
              <a:gd name="adj" fmla="val 10000"/>
            </a:avLst>
          </a:prstGeom>
          <a:solidFill>
            <a:srgbClr val="13234D"/>
          </a:solidFill>
          <a:ln w="12700">
            <a:solidFill>
              <a:srgbClr val="2C4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25296"/>
            <a:ext cx="64008" cy="566928"/>
          </a:xfrm>
          <a:prstGeom prst="rect">
            <a:avLst/>
          </a:prstGeom>
          <a:solidFill>
            <a:srgbClr val="F5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225296"/>
            <a:ext cx="7635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重要鉱物をめぐる主権争いが、</a:t>
            </a:r>
            <a:r>
              <a:rPr sz="1350" b="1">
                <a:solidFill>
                  <a:srgbClr val="F5B454"/>
                </a:solidFill>
                <a:latin typeface="Arial"/>
                <a:ea typeface="Meiryo"/>
              </a:rPr>
              <a:t>国産インテリジェンス需要を構造的に押し上げる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93392"/>
            <a:ext cx="4160520" cy="2395728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57984"/>
            <a:ext cx="3657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AF1FF"/>
                </a:solidFill>
                <a:latin typeface="Arial"/>
                <a:ea typeface="Meiryo"/>
              </a:rPr>
              <a:t>重要鉱物をめぐる主権争い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615184"/>
            <a:ext cx="37033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DB0D0"/>
                </a:solidFill>
                <a:latin typeface="Arial"/>
                <a:ea typeface="Meiryo"/>
              </a:rPr>
              <a:t>● 中国がレアアース輸出管理を強化、アフリカ等で鉱床を囲い込み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9DB0D0"/>
                </a:solidFill>
                <a:latin typeface="Arial"/>
                <a:ea typeface="Meiryo"/>
              </a:rPr>
              <a:t>● サプライチェーン途絶リスクが現実化（磁石・半導体）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5BC8FF"/>
                </a:solidFill>
                <a:latin typeface="Arial"/>
                <a:ea typeface="Meiryo"/>
              </a:rPr>
              <a:t>→ 国産の資源モニタリング／解析需要が構造拡大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19933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AF1FF"/>
                </a:solidFill>
                <a:latin typeface="Arial"/>
                <a:ea typeface="Meiryo"/>
              </a:rPr>
              <a:t>追い風となる公的需要プール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2395728"/>
            <a:ext cx="3520440" cy="603504"/>
          </a:xfrm>
          <a:prstGeom prst="roundRect">
            <a:avLst>
              <a:gd name="adj" fmla="val 16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85232" y="2395728"/>
            <a:ext cx="16002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5BC8FF"/>
                </a:solidFill>
                <a:latin typeface="Arial"/>
                <a:ea typeface="Meiryo"/>
              </a:rPr>
              <a:t>¥8.8兆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395728"/>
            <a:ext cx="17373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防衛関係費（2026年度）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3090672"/>
            <a:ext cx="3520440" cy="603504"/>
          </a:xfrm>
          <a:prstGeom prst="roundRect">
            <a:avLst>
              <a:gd name="adj" fmla="val 16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85232" y="3090672"/>
            <a:ext cx="16002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5B454"/>
                </a:solidFill>
                <a:latin typeface="Arial"/>
                <a:ea typeface="Meiryo"/>
              </a:rPr>
              <a:t>¥1兆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090672"/>
            <a:ext cx="17373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宇宙戦略基金（10年）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3785615"/>
            <a:ext cx="3520440" cy="603504"/>
          </a:xfrm>
          <a:prstGeom prst="roundRect">
            <a:avLst>
              <a:gd name="adj" fmla="val 16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85232" y="3785615"/>
            <a:ext cx="16002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9C8CFF"/>
                </a:solidFill>
                <a:latin typeface="Arial"/>
                <a:ea typeface="Meiryo"/>
              </a:rPr>
              <a:t>数千億円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785615"/>
            <a:ext cx="17373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経済安保 強靱化予算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425696"/>
            <a:ext cx="8046720" cy="338328"/>
          </a:xfrm>
          <a:prstGeom prst="roundRect">
            <a:avLst>
              <a:gd name="adj" fmla="val 16000"/>
            </a:avLst>
          </a:prstGeom>
          <a:solidFill>
            <a:srgbClr val="132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425696"/>
            <a:ext cx="7726679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5B454"/>
                </a:solidFill>
                <a:latin typeface="Arial"/>
                <a:ea typeface="Meiryo"/>
              </a:rPr>
              <a:t>2026年の制度変化　</a:t>
            </a:r>
            <a:r>
              <a:rPr sz="1000" b="0">
                <a:solidFill>
                  <a:srgbClr val="EAF1FF"/>
                </a:solidFill>
                <a:latin typeface="Arial"/>
                <a:ea typeface="Meiryo"/>
              </a:rPr>
              <a:t>① 輸出緩和（同志国市場へ）　② ファストパス調達 約3.5か月　③ 前払い導入＝死の谷を浅く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55464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E7FA6"/>
                </a:solidFill>
                <a:latin typeface="Arial"/>
                <a:ea typeface="Meiryo"/>
              </a:rPr>
              <a:t>出典：防衛省・宇宙戦略基金／Morning Pitch（01前提パック §4・§6）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48554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E7FA6"/>
                </a:solidFill>
                <a:latin typeface="Arial"/>
                <a:ea typeface="Meiry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BC8FF"/>
                </a:solidFill>
                <a:latin typeface="Arial"/>
                <a:ea typeface="Meiryo"/>
              </a:rPr>
              <a:t>THE TARGET ・ 投資対象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EAF1FF"/>
                </a:solidFill>
                <a:latin typeface="Arial"/>
                <a:ea typeface="Meiryo"/>
              </a:rPr>
              <a:t>Solafune ― 地球を読むOS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25296"/>
            <a:ext cx="8046720" cy="566928"/>
          </a:xfrm>
          <a:prstGeom prst="roundRect">
            <a:avLst>
              <a:gd name="adj" fmla="val 10000"/>
            </a:avLst>
          </a:prstGeom>
          <a:solidFill>
            <a:srgbClr val="13234D"/>
          </a:solidFill>
          <a:ln w="12700">
            <a:solidFill>
              <a:srgbClr val="2C4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25296"/>
            <a:ext cx="64008" cy="566928"/>
          </a:xfrm>
          <a:prstGeom prst="rect">
            <a:avLst/>
          </a:prstGeom>
          <a:solidFill>
            <a:srgbClr val="F5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225296"/>
            <a:ext cx="7635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衛星画像・公開情報・通信という様々な“目”を束ねるAI＝</a:t>
            </a:r>
            <a:r>
              <a:rPr sz="1350" b="1">
                <a:solidFill>
                  <a:srgbClr val="5BC8FF"/>
                </a:solidFill>
                <a:latin typeface="Arial"/>
                <a:ea typeface="Meiryo"/>
              </a:rPr>
              <a:t>Planetary Intelligence 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2011680" cy="658368"/>
          </a:xfrm>
          <a:prstGeom prst="roundRect">
            <a:avLst>
              <a:gd name="adj" fmla="val 14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57984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AF1FF"/>
                </a:solidFill>
                <a:latin typeface="Arial"/>
                <a:ea typeface="Meiryo"/>
              </a:rPr>
              <a:t>GEOINT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79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DB0D0"/>
                </a:solidFill>
                <a:latin typeface="Arial"/>
                <a:ea typeface="Meiryo"/>
              </a:rPr>
              <a:t>衛星・地理空間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62072"/>
            <a:ext cx="2011680" cy="658368"/>
          </a:xfrm>
          <a:prstGeom prst="roundRect">
            <a:avLst>
              <a:gd name="adj" fmla="val 14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16936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AF1FF"/>
                </a:solidFill>
                <a:latin typeface="Arial"/>
                <a:ea typeface="Meiryo"/>
              </a:rPr>
              <a:t>OSINT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27832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DB0D0"/>
                </a:solidFill>
                <a:latin typeface="Arial"/>
                <a:ea typeface="Meiryo"/>
              </a:rPr>
              <a:t>公開情報・Web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21024"/>
            <a:ext cx="2011680" cy="658368"/>
          </a:xfrm>
          <a:prstGeom prst="roundRect">
            <a:avLst>
              <a:gd name="adj" fmla="val 14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75887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AF1FF"/>
                </a:solidFill>
                <a:latin typeface="Arial"/>
                <a:ea typeface="Meiryo"/>
              </a:rPr>
              <a:t>SIGINT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986784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DB0D0"/>
                </a:solidFill>
                <a:latin typeface="Arial"/>
                <a:ea typeface="Meiryo"/>
              </a:rPr>
              <a:t>通信・電波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80360" y="2240280"/>
            <a:ext cx="1783080" cy="1783080"/>
          </a:xfrm>
          <a:prstGeom prst="roundRect">
            <a:avLst>
              <a:gd name="adj" fmla="val 50000"/>
            </a:avLst>
          </a:prstGeom>
          <a:solidFill>
            <a:srgbClr val="0E2A52"/>
          </a:solidFill>
          <a:ln w="12700">
            <a:solidFill>
              <a:srgbClr val="5BC8FF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80360" y="246888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EAF1FF"/>
                </a:solidFill>
                <a:latin typeface="Arial"/>
                <a:ea typeface="Meiryo"/>
              </a:rPr>
              <a:t>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283464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5BC8FF"/>
                </a:solidFill>
                <a:latin typeface="Arial"/>
                <a:ea typeface="Meiryo"/>
              </a:rPr>
              <a:t>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2103120"/>
            <a:ext cx="3611880" cy="658368"/>
          </a:xfrm>
          <a:prstGeom prst="roundRect">
            <a:avLst>
              <a:gd name="adj" fmla="val 14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93792" y="2103120"/>
            <a:ext cx="32461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5BC8FF"/>
                </a:solidFill>
                <a:latin typeface="Arial"/>
                <a:ea typeface="Meiryo"/>
              </a:rPr>
              <a:t>▸ </a:t>
            </a:r>
            <a:r>
              <a:rPr sz="1150" b="0">
                <a:solidFill>
                  <a:srgbClr val="9DB0D0"/>
                </a:solidFill>
                <a:latin typeface="Arial"/>
                <a:ea typeface="Meiryo"/>
              </a:rPr>
              <a:t>重要鉱物の探査・違法採掘モニタリング（SHIGEN AI）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2862072"/>
            <a:ext cx="3611880" cy="658368"/>
          </a:xfrm>
          <a:prstGeom prst="roundRect">
            <a:avLst>
              <a:gd name="adj" fmla="val 14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93792" y="2862072"/>
            <a:ext cx="32461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5BC8FF"/>
                </a:solidFill>
                <a:latin typeface="Arial"/>
                <a:ea typeface="Meiryo"/>
              </a:rPr>
              <a:t>▸ </a:t>
            </a:r>
            <a:r>
              <a:rPr sz="1150" b="0">
                <a:solidFill>
                  <a:srgbClr val="9DB0D0"/>
                </a:solidFill>
                <a:latin typeface="Arial"/>
                <a:ea typeface="Meiryo"/>
              </a:rPr>
              <a:t>防衛省・警察庁・内閣府 ＋ アフリカ諸国・国連機関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83480" y="3621024"/>
            <a:ext cx="3611880" cy="658368"/>
          </a:xfrm>
          <a:prstGeom prst="roundRect">
            <a:avLst>
              <a:gd name="adj" fmla="val 14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93792" y="3621024"/>
            <a:ext cx="32461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5BC8FF"/>
                </a:solidFill>
                <a:latin typeface="Arial"/>
                <a:ea typeface="Meiryo"/>
              </a:rPr>
              <a:t>▸ </a:t>
            </a:r>
            <a:r>
              <a:rPr sz="1150" b="0">
                <a:solidFill>
                  <a:srgbClr val="9DB0D0"/>
                </a:solidFill>
                <a:latin typeface="Arial"/>
                <a:ea typeface="Meiryo"/>
              </a:rPr>
              <a:t>120カ国超の開発者コミュニティが解析を供給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855464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E7FA6"/>
                </a:solidFill>
                <a:latin typeface="Arial"/>
                <a:ea typeface="Meiryo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48554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E7FA6"/>
                </a:solidFill>
                <a:latin typeface="Arial"/>
                <a:ea typeface="Meiry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BC8FF"/>
                </a:solidFill>
                <a:latin typeface="Arial"/>
                <a:ea typeface="Meiryo"/>
              </a:rPr>
              <a:t>MOAT ・ 競争優位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EAF1FF"/>
                </a:solidFill>
                <a:latin typeface="Arial"/>
                <a:ea typeface="Meiryo"/>
              </a:rPr>
              <a:t>なぜ Solafune が勝てるか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25296"/>
            <a:ext cx="8046720" cy="566928"/>
          </a:xfrm>
          <a:prstGeom prst="roundRect">
            <a:avLst>
              <a:gd name="adj" fmla="val 10000"/>
            </a:avLst>
          </a:prstGeom>
          <a:solidFill>
            <a:srgbClr val="13234D"/>
          </a:solidFill>
          <a:ln w="12700">
            <a:solidFill>
              <a:srgbClr val="2C4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25296"/>
            <a:ext cx="64008" cy="566928"/>
          </a:xfrm>
          <a:prstGeom prst="rect">
            <a:avLst/>
          </a:prstGeom>
          <a:solidFill>
            <a:srgbClr val="F5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225296"/>
            <a:ext cx="7635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各社と競合せず“その上”の解析レイヤーに乗る——</a:t>
            </a:r>
            <a:r>
              <a:rPr sz="1350" b="1">
                <a:solidFill>
                  <a:srgbClr val="F5B454"/>
                </a:solidFill>
                <a:latin typeface="Arial"/>
                <a:ea typeface="Meiryo"/>
              </a:rPr>
              <a:t>資本効率・ネットワーク効果・主権的信認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75104"/>
            <a:ext cx="2542032" cy="1078992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84831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DB0D0"/>
                </a:solidFill>
                <a:latin typeface="Arial"/>
                <a:ea typeface="Meiryo"/>
              </a:rPr>
              <a:t>上流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1401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DB0D0"/>
                </a:solidFill>
                <a:latin typeface="Arial"/>
                <a:ea typeface="Meiryo"/>
              </a:rPr>
              <a:t>衛星を作る・飛ばす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0662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EAF1FF"/>
                </a:solidFill>
                <a:latin typeface="Arial"/>
                <a:ea typeface="Meiryo"/>
              </a:rPr>
              <a:t>三菱電機 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27832" y="1975104"/>
            <a:ext cx="2542032" cy="1078992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0712" y="2084831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9DB0D0"/>
                </a:solidFill>
                <a:latin typeface="Arial"/>
                <a:ea typeface="Meiryo"/>
              </a:rPr>
              <a:t>中流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0712" y="241401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DB0D0"/>
                </a:solidFill>
                <a:latin typeface="Arial"/>
                <a:ea typeface="Meiryo"/>
              </a:rPr>
              <a:t>データを撮る・売る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0712" y="270662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EAF1FF"/>
                </a:solidFill>
                <a:latin typeface="Arial"/>
                <a:ea typeface="Meiryo"/>
              </a:rPr>
              <a:t>Synspective / ICEYE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07024" y="1975104"/>
            <a:ext cx="2542032" cy="1078992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9904" y="2084831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5B454"/>
                </a:solidFill>
                <a:latin typeface="Arial"/>
                <a:ea typeface="Meiryo"/>
              </a:rPr>
              <a:t>下流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9904" y="2414016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9DB0D0"/>
                </a:solidFill>
                <a:latin typeface="Arial"/>
                <a:ea typeface="Meiryo"/>
              </a:rPr>
              <a:t>解析 → インテリジェンス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9904" y="2706624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5B454"/>
                </a:solidFill>
                <a:latin typeface="Arial"/>
                <a:ea typeface="Meiryo"/>
              </a:rPr>
              <a:t>★ Solafune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200400"/>
            <a:ext cx="2542032" cy="1417320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34670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BC8FF"/>
                </a:solidFill>
                <a:latin typeface="Arial"/>
                <a:ea typeface="Meiryo"/>
              </a:rPr>
              <a:t>◆ </a:t>
            </a:r>
            <a:r>
              <a:rPr sz="1300" b="1">
                <a:solidFill>
                  <a:srgbClr val="EAF1FF"/>
                </a:solidFill>
                <a:latin typeface="Arial"/>
                <a:ea typeface="Meiryo"/>
              </a:rPr>
              <a:t>センサー非依存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749039"/>
            <a:ext cx="2212848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9DB0D0"/>
                </a:solidFill>
                <a:latin typeface="Arial"/>
                <a:ea typeface="Meiryo"/>
              </a:rPr>
              <a:t>衛星を持たず複数ソースを統合する解析層＝高い資本効率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27832" y="3200400"/>
            <a:ext cx="2542032" cy="1417320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10712" y="334670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BC8FF"/>
                </a:solidFill>
                <a:latin typeface="Arial"/>
                <a:ea typeface="Meiryo"/>
              </a:rPr>
              <a:t>◆ </a:t>
            </a:r>
            <a:r>
              <a:rPr sz="1300" b="1">
                <a:solidFill>
                  <a:srgbClr val="EAF1FF"/>
                </a:solidFill>
                <a:latin typeface="Arial"/>
                <a:ea typeface="Meiryo"/>
              </a:rPr>
              <a:t>ネットワーク効果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10712" y="3749039"/>
            <a:ext cx="2212848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9DB0D0"/>
                </a:solidFill>
                <a:latin typeface="Arial"/>
                <a:ea typeface="Meiryo"/>
              </a:rPr>
              <a:t>120カ国の開発者がデータ・人材・アルゴリズムを循環供給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07024" y="3200400"/>
            <a:ext cx="2542032" cy="1417320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9904" y="334670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5BC8FF"/>
                </a:solidFill>
                <a:latin typeface="Arial"/>
                <a:ea typeface="Meiryo"/>
              </a:rPr>
              <a:t>◆ </a:t>
            </a:r>
            <a:r>
              <a:rPr sz="1300" b="1">
                <a:solidFill>
                  <a:srgbClr val="EAF1FF"/>
                </a:solidFill>
                <a:latin typeface="Arial"/>
                <a:ea typeface="Meiryo"/>
              </a:rPr>
              <a:t>主権的信認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9904" y="3749039"/>
            <a:ext cx="2212848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9DB0D0"/>
                </a:solidFill>
                <a:latin typeface="Arial"/>
                <a:ea typeface="Meiryo"/>
              </a:rPr>
              <a:t>政府・国際機関の実績が参入障壁の高い領域での堀になる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855464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E7FA6"/>
                </a:solidFill>
                <a:latin typeface="Arial"/>
                <a:ea typeface="Meiryo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48554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E7FA6"/>
                </a:solidFill>
                <a:latin typeface="Arial"/>
                <a:ea typeface="Meiry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BC8FF"/>
                </a:solidFill>
                <a:latin typeface="Arial"/>
                <a:ea typeface="Meiryo"/>
              </a:rPr>
              <a:t>MARKET ・ 市場規模（SOM）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EAF1FF"/>
                </a:solidFill>
                <a:latin typeface="Arial"/>
                <a:ea typeface="Meiryo"/>
              </a:rPr>
              <a:t>“誰に・いくらで・何件”で積む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25296"/>
            <a:ext cx="8046720" cy="566928"/>
          </a:xfrm>
          <a:prstGeom prst="roundRect">
            <a:avLst>
              <a:gd name="adj" fmla="val 10000"/>
            </a:avLst>
          </a:prstGeom>
          <a:solidFill>
            <a:srgbClr val="13234D"/>
          </a:solidFill>
          <a:ln w="12700">
            <a:solidFill>
              <a:srgbClr val="2C4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25296"/>
            <a:ext cx="64008" cy="566928"/>
          </a:xfrm>
          <a:prstGeom prst="rect">
            <a:avLst/>
          </a:prstGeom>
          <a:solidFill>
            <a:srgbClr val="F5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225296"/>
            <a:ext cx="7635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2032年SOM </a:t>
            </a:r>
            <a:r>
              <a:rPr sz="1350" b="1">
                <a:solidFill>
                  <a:srgbClr val="F5B454"/>
                </a:solidFill>
                <a:latin typeface="Arial"/>
                <a:ea typeface="Meiryo"/>
              </a:rPr>
              <a:t>約101億円</a:t>
            </a: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 は、Exit逆算の必要売上 約88億と一致＝市場と財務が一本の線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75104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5BC8FF"/>
                </a:solidFill>
                <a:latin typeface="Arial"/>
                <a:ea typeface="Meiryo"/>
              </a:rPr>
              <a:t>2030年 SOM 積み上げ ＝ 85億円 / 38件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86000"/>
            <a:ext cx="2803442" cy="420624"/>
          </a:xfrm>
          <a:prstGeom prst="roundRect">
            <a:avLst>
              <a:gd name="adj" fmla="val 10000"/>
            </a:avLst>
          </a:prstGeom>
          <a:solidFill>
            <a:srgbClr val="5B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86000"/>
            <a:ext cx="280344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B1220"/>
                </a:solidFill>
                <a:latin typeface="Arial"/>
                <a:ea typeface="Meiryo"/>
              </a:rPr>
              <a:t>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8658" y="2286000"/>
            <a:ext cx="1383433" cy="420624"/>
          </a:xfrm>
          <a:prstGeom prst="roundRect">
            <a:avLst>
              <a:gd name="adj" fmla="val 10000"/>
            </a:avLst>
          </a:prstGeom>
          <a:solidFill>
            <a:srgbClr val="9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8658" y="2286000"/>
            <a:ext cx="1383433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B1220"/>
                </a:solidFill>
                <a:latin typeface="Arial"/>
                <a:ea typeface="Meiryo"/>
              </a:rPr>
              <a:t>15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8668" y="2286000"/>
            <a:ext cx="531427" cy="420624"/>
          </a:xfrm>
          <a:prstGeom prst="roundRect">
            <a:avLst>
              <a:gd name="adj" fmla="val 10000"/>
            </a:avLst>
          </a:prstGeom>
          <a:solidFill>
            <a:srgbClr val="9DB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8668" y="2286000"/>
            <a:ext cx="531427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B1220"/>
                </a:solidFill>
                <a:latin typeface="Arial"/>
                <a:ea typeface="Meiryo"/>
              </a:rPr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76672" y="2286000"/>
            <a:ext cx="1288766" cy="420624"/>
          </a:xfrm>
          <a:prstGeom prst="roundRect">
            <a:avLst>
              <a:gd name="adj" fmla="val 10000"/>
            </a:avLst>
          </a:prstGeom>
          <a:solidFill>
            <a:srgbClr val="F5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76672" y="2286000"/>
            <a:ext cx="128876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B1220"/>
                </a:solidFill>
                <a:latin typeface="Arial"/>
                <a:ea typeface="Meiryo"/>
              </a:rPr>
              <a:t>14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02014" y="2286000"/>
            <a:ext cx="1856769" cy="420624"/>
          </a:xfrm>
          <a:prstGeom prst="roundRect">
            <a:avLst>
              <a:gd name="adj" fmla="val 10000"/>
            </a:avLst>
          </a:prstGeom>
          <a:solidFill>
            <a:srgbClr val="5B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02014" y="2286000"/>
            <a:ext cx="185676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B1220"/>
                </a:solidFill>
                <a:latin typeface="Arial"/>
                <a:ea typeface="Meiryo"/>
              </a:rPr>
              <a:t>20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907792"/>
            <a:ext cx="1499616" cy="960120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907792"/>
            <a:ext cx="1499616" cy="64008"/>
          </a:xfrm>
          <a:prstGeom prst="rect">
            <a:avLst/>
          </a:prstGeom>
          <a:solidFill>
            <a:srgbClr val="5B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035808"/>
            <a:ext cx="13167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AF1FF"/>
                </a:solidFill>
                <a:latin typeface="Arial"/>
                <a:ea typeface="Meiryo"/>
              </a:rPr>
              <a:t>A 日本政府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346704"/>
            <a:ext cx="1316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9DB0D0"/>
                </a:solidFill>
                <a:latin typeface="Arial"/>
                <a:ea typeface="Meiryo"/>
              </a:rPr>
              <a:t>12件×2.5億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621024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5BC8FF"/>
                </a:solidFill>
                <a:latin typeface="Arial"/>
                <a:ea typeface="Meiryo"/>
              </a:rPr>
              <a:t>¥30億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03120" y="2907792"/>
            <a:ext cx="1499616" cy="960120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03120" y="2907792"/>
            <a:ext cx="1499616" cy="64008"/>
          </a:xfrm>
          <a:prstGeom prst="rect">
            <a:avLst/>
          </a:prstGeom>
          <a:solidFill>
            <a:srgbClr val="9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12848" y="3035808"/>
            <a:ext cx="13167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AF1FF"/>
                </a:solidFill>
                <a:latin typeface="Arial"/>
                <a:ea typeface="Meiryo"/>
              </a:rPr>
              <a:t>B 宇宙基金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12848" y="3346704"/>
            <a:ext cx="1316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9DB0D0"/>
                </a:solidFill>
                <a:latin typeface="Arial"/>
                <a:ea typeface="Meiryo"/>
              </a:rPr>
              <a:t>5件×3億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2848" y="3621024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9C8CFF"/>
                </a:solidFill>
                <a:latin typeface="Arial"/>
                <a:ea typeface="Meiryo"/>
              </a:rPr>
              <a:t>¥15億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0" y="2907792"/>
            <a:ext cx="1499616" cy="960120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0" y="2907792"/>
            <a:ext cx="1499616" cy="64008"/>
          </a:xfrm>
          <a:prstGeom prst="rect">
            <a:avLst/>
          </a:prstGeom>
          <a:solidFill>
            <a:srgbClr val="9DB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67328" y="3035808"/>
            <a:ext cx="13167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AF1FF"/>
                </a:solidFill>
                <a:latin typeface="Arial"/>
                <a:ea typeface="Meiryo"/>
              </a:rPr>
              <a:t>C 同志国MoU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67328" y="3346704"/>
            <a:ext cx="1316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9DB0D0"/>
                </a:solidFill>
                <a:latin typeface="Arial"/>
                <a:ea typeface="Meiryo"/>
              </a:rPr>
              <a:t>8×50%×1.5億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67328" y="3621024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9DB0D0"/>
                </a:solidFill>
                <a:latin typeface="Arial"/>
                <a:ea typeface="Meiryo"/>
              </a:rPr>
              <a:t>¥6億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12080" y="2907792"/>
            <a:ext cx="1499616" cy="960120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212080" y="2907792"/>
            <a:ext cx="1499616" cy="64008"/>
          </a:xfrm>
          <a:prstGeom prst="rect">
            <a:avLst/>
          </a:prstGeom>
          <a:solidFill>
            <a:srgbClr val="F5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21808" y="3035808"/>
            <a:ext cx="13167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AF1FF"/>
                </a:solidFill>
                <a:latin typeface="Arial"/>
                <a:ea typeface="Meiryo"/>
              </a:rPr>
              <a:t>D 経済安保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21808" y="3346704"/>
            <a:ext cx="1316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9DB0D0"/>
                </a:solidFill>
                <a:latin typeface="Arial"/>
                <a:ea typeface="Meiryo"/>
              </a:rPr>
              <a:t>SHIGEN 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21808" y="3621024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B454"/>
                </a:solidFill>
                <a:latin typeface="Arial"/>
                <a:ea typeface="Meiryo"/>
              </a:rPr>
              <a:t>¥14億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766560" y="2907792"/>
            <a:ext cx="1499616" cy="960120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766560" y="2907792"/>
            <a:ext cx="1499616" cy="64008"/>
          </a:xfrm>
          <a:prstGeom prst="rect">
            <a:avLst/>
          </a:prstGeom>
          <a:solidFill>
            <a:srgbClr val="5B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76288" y="3035808"/>
            <a:ext cx="13167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AF1FF"/>
                </a:solidFill>
                <a:latin typeface="Arial"/>
                <a:ea typeface="Meiryo"/>
              </a:rPr>
              <a:t>E 民間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3346704"/>
            <a:ext cx="1316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9DB0D0"/>
                </a:solidFill>
                <a:latin typeface="Arial"/>
                <a:ea typeface="Meiryo"/>
              </a:rPr>
              <a:t>資源・インフラ監視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76288" y="3621024"/>
            <a:ext cx="131673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5BC8FF"/>
                </a:solidFill>
                <a:latin typeface="Arial"/>
                <a:ea typeface="Meiryo"/>
              </a:rPr>
              <a:t>¥20億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023360"/>
            <a:ext cx="8046720" cy="566928"/>
          </a:xfrm>
          <a:prstGeom prst="roundRect">
            <a:avLst>
              <a:gd name="adj" fmla="val 12000"/>
            </a:avLst>
          </a:prstGeom>
          <a:solidFill>
            <a:srgbClr val="132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6384" y="4023360"/>
            <a:ext cx="75895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0D0"/>
                </a:solidFill>
                <a:latin typeface="Arial"/>
                <a:ea typeface="Meiryo"/>
              </a:rPr>
              <a:t>2030年 </a:t>
            </a:r>
            <a:r>
              <a:rPr sz="1200" b="1">
                <a:solidFill>
                  <a:srgbClr val="EAF1FF"/>
                </a:solidFill>
                <a:latin typeface="Arial"/>
                <a:ea typeface="Meiryo"/>
              </a:rPr>
              <a:t>85億/38件</a:t>
            </a:r>
            <a:r>
              <a:rPr sz="1200" b="0">
                <a:solidFill>
                  <a:srgbClr val="9DB0D0"/>
                </a:solidFill>
                <a:latin typeface="Arial"/>
                <a:ea typeface="Meiryo"/>
              </a:rPr>
              <a:t> → 2032年 </a:t>
            </a:r>
            <a:r>
              <a:rPr sz="1200" b="1">
                <a:solidFill>
                  <a:srgbClr val="F5B454"/>
                </a:solidFill>
                <a:latin typeface="Arial"/>
                <a:ea typeface="Meiryo"/>
              </a:rPr>
              <a:t>101億/46件</a:t>
            </a: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。シェア仮定なし、単価×件数の積み上げ［仮・要検証／C転換率が最も要実証］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4855464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E7FA6"/>
                </a:solidFill>
                <a:latin typeface="Arial"/>
                <a:ea typeface="Meiryo"/>
              </a:rPr>
              <a:t>出典：01前提パック §2-3（ボトムアップ積算）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79" y="48554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E7FA6"/>
                </a:solidFill>
                <a:latin typeface="Arial"/>
                <a:ea typeface="Meiry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BC8FF"/>
                </a:solidFill>
                <a:latin typeface="Arial"/>
                <a:ea typeface="Meiryo"/>
              </a:rPr>
              <a:t>QUANT ・ 定量モデル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EAF1FF"/>
                </a:solidFill>
                <a:latin typeface="Arial"/>
                <a:ea typeface="Meiryo"/>
              </a:rPr>
              <a:t>5年で描く成長（仮・要検証）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25296"/>
            <a:ext cx="8046720" cy="566928"/>
          </a:xfrm>
          <a:prstGeom prst="roundRect">
            <a:avLst>
              <a:gd name="adj" fmla="val 10000"/>
            </a:avLst>
          </a:prstGeom>
          <a:solidFill>
            <a:srgbClr val="13234D"/>
          </a:solidFill>
          <a:ln w="12700">
            <a:solidFill>
              <a:srgbClr val="2C4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25296"/>
            <a:ext cx="64008" cy="566928"/>
          </a:xfrm>
          <a:prstGeom prst="rect">
            <a:avLst/>
          </a:prstGeom>
          <a:solidFill>
            <a:srgbClr val="F5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225296"/>
            <a:ext cx="7635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売上 4億→85億（CAGR約113%）×粗利 </a:t>
            </a:r>
            <a:r>
              <a:rPr sz="1350" b="1">
                <a:solidFill>
                  <a:srgbClr val="F5B454"/>
                </a:solidFill>
                <a:latin typeface="Arial"/>
                <a:ea typeface="Meiryo"/>
              </a:rPr>
              <a:t>60→72%</a:t>
            </a: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。KPI閾値クリアで段階投資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75104"/>
            <a:ext cx="5212080" cy="2633472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5BC8FF"/>
                </a:solidFill>
                <a:latin typeface="Arial"/>
                <a:ea typeface="Meiryo"/>
              </a:rPr>
              <a:t>売上高の推移（億円）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4142769"/>
            <a:ext cx="658368" cy="81758"/>
          </a:xfrm>
          <a:prstGeom prst="roundRect">
            <a:avLst>
              <a:gd name="adj" fmla="val 18000"/>
            </a:avLst>
          </a:prstGeom>
          <a:solidFill>
            <a:srgbClr val="5B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923313"/>
            <a:ext cx="84124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EAF1FF"/>
                </a:solidFill>
                <a:latin typeface="Arial"/>
                <a:ea typeface="Meiryo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61104"/>
            <a:ext cx="84124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9DB0D0"/>
                </a:solidFill>
                <a:latin typeface="Arial"/>
                <a:ea typeface="Meiryo"/>
              </a:rPr>
              <a:t>'26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11095" y="3979253"/>
            <a:ext cx="658368" cy="245274"/>
          </a:xfrm>
          <a:prstGeom prst="roundRect">
            <a:avLst>
              <a:gd name="adj" fmla="val 18000"/>
            </a:avLst>
          </a:prstGeom>
          <a:solidFill>
            <a:srgbClr val="5B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19655" y="3759797"/>
            <a:ext cx="84124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EAF1FF"/>
                </a:solidFill>
                <a:latin typeface="Arial"/>
                <a:ea typeface="Meiryo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19655" y="4261104"/>
            <a:ext cx="84124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9DB0D0"/>
                </a:solidFill>
                <a:latin typeface="Arial"/>
                <a:ea typeface="Meiryo"/>
              </a:rPr>
              <a:t>'27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62072" y="3611342"/>
            <a:ext cx="658368" cy="613185"/>
          </a:xfrm>
          <a:prstGeom prst="roundRect">
            <a:avLst>
              <a:gd name="adj" fmla="val 18000"/>
            </a:avLst>
          </a:prstGeom>
          <a:solidFill>
            <a:srgbClr val="5B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70632" y="3391886"/>
            <a:ext cx="84124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EAF1FF"/>
                </a:solidFill>
                <a:latin typeface="Arial"/>
                <a:ea typeface="Meiryo"/>
              </a:rPr>
              <a:t>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0632" y="4261104"/>
            <a:ext cx="84124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9DB0D0"/>
                </a:solidFill>
                <a:latin typeface="Arial"/>
                <a:ea typeface="Meiryo"/>
              </a:rPr>
              <a:t>'28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13048" y="3100353"/>
            <a:ext cx="658368" cy="1124174"/>
          </a:xfrm>
          <a:prstGeom prst="roundRect">
            <a:avLst>
              <a:gd name="adj" fmla="val 18000"/>
            </a:avLst>
          </a:prstGeom>
          <a:solidFill>
            <a:srgbClr val="5B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21608" y="2880897"/>
            <a:ext cx="84124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EAF1FF"/>
                </a:solidFill>
                <a:latin typeface="Arial"/>
                <a:ea typeface="Meiryo"/>
              </a:rPr>
              <a:t>55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21608" y="4261104"/>
            <a:ext cx="84124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9DB0D0"/>
                </a:solidFill>
                <a:latin typeface="Arial"/>
                <a:ea typeface="Meiryo"/>
              </a:rPr>
              <a:t>'29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64024" y="2487168"/>
            <a:ext cx="658368" cy="1737360"/>
          </a:xfrm>
          <a:prstGeom prst="roundRect">
            <a:avLst>
              <a:gd name="adj" fmla="val 18000"/>
            </a:avLst>
          </a:prstGeom>
          <a:solidFill>
            <a:srgbClr val="F5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72584" y="2267712"/>
            <a:ext cx="84124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EAF1FF"/>
                </a:solidFill>
                <a:latin typeface="Arial"/>
                <a:ea typeface="Meiryo"/>
              </a:rPr>
              <a:t>85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2584" y="4261104"/>
            <a:ext cx="84124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9DB0D0"/>
                </a:solidFill>
                <a:latin typeface="Arial"/>
                <a:ea typeface="Meiryo"/>
              </a:rPr>
              <a:t>'30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334256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DB0D0"/>
                </a:solidFill>
                <a:latin typeface="Arial"/>
                <a:ea typeface="Meiryo"/>
              </a:rPr>
              <a:t>日本政府 → 同志国 → 民間（グローバルサウス）の段階展開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89320" y="1975104"/>
            <a:ext cx="2606040" cy="822960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2048256"/>
            <a:ext cx="22860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5B454"/>
                </a:solidFill>
                <a:latin typeface="Arial"/>
                <a:ea typeface="Meiryo"/>
              </a:rPr>
              <a:t>60% → 72%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0488" y="24688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>
                <a:solidFill>
                  <a:srgbClr val="9DB0D0"/>
                </a:solidFill>
                <a:latin typeface="Arial"/>
                <a:ea typeface="Meiryo"/>
              </a:rPr>
              <a:t>グロスマージン（ソフト/解析）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89320" y="2880360"/>
            <a:ext cx="2606040" cy="822960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2953512"/>
            <a:ext cx="22860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5BC8FF"/>
                </a:solidFill>
                <a:latin typeface="Arial"/>
                <a:ea typeface="Meiryo"/>
              </a:rPr>
              <a:t>¥31→36.5億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0488" y="3374136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>
                <a:solidFill>
                  <a:srgbClr val="9DB0D0"/>
                </a:solidFill>
                <a:latin typeface="Arial"/>
                <a:ea typeface="Meiryo"/>
              </a:rPr>
              <a:t>投資前Pre→投資後Post-Val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89320" y="3785616"/>
            <a:ext cx="2606040" cy="822960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3858768"/>
            <a:ext cx="22860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9C8CFF"/>
                </a:solidFill>
                <a:latin typeface="Arial"/>
                <a:ea typeface="Meiryo"/>
              </a:rPr>
              <a:t>年率 約2倍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0488" y="4279392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0">
                <a:solidFill>
                  <a:srgbClr val="9DB0D0"/>
                </a:solidFill>
                <a:latin typeface="Arial"/>
                <a:ea typeface="Meiryo"/>
              </a:rPr>
              <a:t>政府リカーリングのフォローKPI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4855464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E7FA6"/>
                </a:solidFill>
                <a:latin typeface="Arial"/>
                <a:ea typeface="Meiryo"/>
              </a:rPr>
              <a:t>出典：02財務モデル.xlsx（PL/前提シート）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48554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E7FA6"/>
                </a:solidFill>
                <a:latin typeface="Arial"/>
                <a:ea typeface="Meiry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BC8FF"/>
                </a:solidFill>
                <a:latin typeface="Arial"/>
                <a:ea typeface="Meiryo"/>
              </a:rPr>
              <a:t>EXIT ・ バリュエーション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EAF1FF"/>
                </a:solidFill>
                <a:latin typeface="Arial"/>
                <a:ea typeface="Meiryo"/>
              </a:rPr>
              <a:t>1社でファンドを返す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25296"/>
            <a:ext cx="8046720" cy="566928"/>
          </a:xfrm>
          <a:prstGeom prst="roundRect">
            <a:avLst>
              <a:gd name="adj" fmla="val 10000"/>
            </a:avLst>
          </a:prstGeom>
          <a:solidFill>
            <a:srgbClr val="13234D"/>
          </a:solidFill>
          <a:ln w="12700">
            <a:solidFill>
              <a:srgbClr val="2C4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25296"/>
            <a:ext cx="64008" cy="566928"/>
          </a:xfrm>
          <a:prstGeom prst="rect">
            <a:avLst/>
          </a:prstGeom>
          <a:solidFill>
            <a:srgbClr val="F5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225296"/>
            <a:ext cx="7635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Exit売上101億 × </a:t>
            </a:r>
            <a:r>
              <a:rPr sz="1350" b="1">
                <a:solidFill>
                  <a:srgbClr val="5BC8FF"/>
                </a:solidFill>
                <a:latin typeface="Arial"/>
                <a:ea typeface="Meiryo"/>
              </a:rPr>
              <a:t>EV/Sales 17倍</a:t>
            </a: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 → 企業価値 </a:t>
            </a:r>
            <a:r>
              <a:rPr sz="1350" b="1">
                <a:solidFill>
                  <a:srgbClr val="F5B454"/>
                </a:solidFill>
                <a:latin typeface="Arial"/>
                <a:ea typeface="Meiryo"/>
              </a:rPr>
              <a:t>約1,717億円</a:t>
            </a: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（持分12%で206億）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75104"/>
            <a:ext cx="1481328" cy="1024128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03120"/>
            <a:ext cx="129844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5BC8FF"/>
                </a:solidFill>
                <a:latin typeface="Arial"/>
                <a:ea typeface="Meiryo"/>
              </a:rPr>
              <a:t>売上 ¥101億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96896"/>
            <a:ext cx="12984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0">
                <a:solidFill>
                  <a:srgbClr val="9DB0D0"/>
                </a:solidFill>
                <a:latin typeface="Arial"/>
                <a:ea typeface="Meiryo"/>
              </a:rPr>
              <a:t>2032E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975104"/>
            <a:ext cx="25603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E7FA6"/>
                </a:solidFill>
                <a:latin typeface="Arial"/>
                <a:ea typeface="Meiryo"/>
              </a:rPr>
              <a:t>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4560" y="1975104"/>
            <a:ext cx="1481328" cy="1024128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0" y="2103120"/>
            <a:ext cx="129844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9DB0D0"/>
                </a:solidFill>
                <a:latin typeface="Arial"/>
                <a:ea typeface="Meiryo"/>
              </a:rPr>
              <a:t>× 17倍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596896"/>
            <a:ext cx="12984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0">
                <a:solidFill>
                  <a:srgbClr val="9DB0D0"/>
                </a:solidFill>
                <a:latin typeface="Arial"/>
                <a:ea typeface="Meiryo"/>
              </a:rPr>
              <a:t>EV/Sales（保守15–18）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599" y="1975104"/>
            <a:ext cx="25603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E7FA6"/>
                </a:solidFill>
                <a:latin typeface="Arial"/>
                <a:ea typeface="Meiryo"/>
              </a:rPr>
              <a:t>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0" y="1975104"/>
            <a:ext cx="1481328" cy="1024128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2103120"/>
            <a:ext cx="129844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5B454"/>
                </a:solidFill>
                <a:latin typeface="Arial"/>
                <a:ea typeface="Meiryo"/>
              </a:rPr>
              <a:t>¥1,717億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2596896"/>
            <a:ext cx="12984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0">
                <a:solidFill>
                  <a:srgbClr val="9DB0D0"/>
                </a:solidFill>
                <a:latin typeface="Arial"/>
                <a:ea typeface="Meiryo"/>
              </a:rPr>
              <a:t>Exit企業価値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1975104"/>
            <a:ext cx="25603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E7FA6"/>
                </a:solidFill>
                <a:latin typeface="Arial"/>
                <a:ea typeface="Meiryo"/>
              </a:rPr>
              <a:t>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1975104"/>
            <a:ext cx="1481328" cy="1024128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0" y="2103120"/>
            <a:ext cx="129844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9DB0D0"/>
                </a:solidFill>
                <a:latin typeface="Arial"/>
                <a:ea typeface="Meiryo"/>
              </a:rPr>
              <a:t>× 12%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2596896"/>
            <a:ext cx="12984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0">
                <a:solidFill>
                  <a:srgbClr val="9DB0D0"/>
                </a:solidFill>
                <a:latin typeface="Arial"/>
                <a:ea typeface="Meiryo"/>
              </a:rPr>
              <a:t>Exit持分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1975104"/>
            <a:ext cx="25603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E7FA6"/>
                </a:solidFill>
                <a:latin typeface="Arial"/>
                <a:ea typeface="Meiryo"/>
              </a:rPr>
              <a:t>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0" y="1975104"/>
            <a:ext cx="1481328" cy="1024128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23759" y="2103120"/>
            <a:ext cx="129844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9C8CFF"/>
                </a:solidFill>
                <a:latin typeface="Arial"/>
                <a:ea typeface="Meiryo"/>
              </a:rPr>
              <a:t>¥206億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59" y="2596896"/>
            <a:ext cx="12984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0">
                <a:solidFill>
                  <a:srgbClr val="9DB0D0"/>
                </a:solidFill>
                <a:latin typeface="Arial"/>
                <a:ea typeface="Meiryo"/>
              </a:rPr>
              <a:t>ポジション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200400"/>
            <a:ext cx="5074920" cy="1417320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3328416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5BC8FF"/>
                </a:solidFill>
                <a:latin typeface="Arial"/>
                <a:ea typeface="Meiryo"/>
              </a:rPr>
              <a:t>EV/Sales 17倍の統計的導出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657600"/>
            <a:ext cx="4892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9DB0D0"/>
                </a:solidFill>
                <a:latin typeface="Arial"/>
                <a:ea typeface="Meiryo"/>
              </a:rPr>
              <a:t>comps採用群 {Planet6・Synspective7・BlackSky10・Anduril14・Palantirプレ20}</a:t>
            </a:r>
          </a:p>
          <a:p>
            <a:pPr algn="l">
              <a:lnSpc>
                <a:spcPct val="118000"/>
              </a:lnSpc>
            </a:pPr>
            <a:r>
              <a:rPr sz="1050" b="0">
                <a:solidFill>
                  <a:srgbClr val="9DB0D0"/>
                </a:solidFill>
                <a:latin typeface="Arial"/>
                <a:ea typeface="Meiryo"/>
              </a:rPr>
              <a:t>中央値10倍 ＋ ソフト+3／粗利+2／主権プレミアム+2 ＝ </a:t>
            </a:r>
            <a:r>
              <a:rPr sz="1050" b="1">
                <a:solidFill>
                  <a:srgbClr val="F5B454"/>
                </a:solidFill>
                <a:latin typeface="Arial"/>
                <a:ea typeface="Meiryo"/>
              </a:rPr>
              <a:t>17倍</a:t>
            </a:r>
          </a:p>
          <a:p>
            <a:pPr algn="l">
              <a:lnSpc>
                <a:spcPct val="118000"/>
              </a:lnSpc>
            </a:pPr>
            <a:r>
              <a:rPr sz="1000" b="0">
                <a:solidFill>
                  <a:srgbClr val="6E7FA6"/>
                </a:solidFill>
                <a:latin typeface="Arial"/>
                <a:ea typeface="Meiryo"/>
              </a:rPr>
              <a:t>Palantir現況60.7倍はバブル局面として明示除外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06440" y="3200400"/>
            <a:ext cx="2788920" cy="1417320"/>
          </a:xfrm>
          <a:prstGeom prst="roundRect">
            <a:avLst>
              <a:gd name="adj" fmla="val 7000"/>
            </a:avLst>
          </a:prstGeom>
          <a:solidFill>
            <a:srgbClr val="13234D"/>
          </a:solidFill>
          <a:ln w="12700">
            <a:solidFill>
              <a:srgbClr val="F5B454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16752" y="334670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5B454"/>
                </a:solidFill>
                <a:latin typeface="Arial"/>
                <a:ea typeface="Meiryo"/>
              </a:rPr>
              <a:t>ファンドリターナー成立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16752" y="3675887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AF1FF"/>
                </a:solidFill>
                <a:latin typeface="Arial"/>
                <a:ea typeface="Meiryo"/>
              </a:rPr>
              <a:t>¥206億</a:t>
            </a:r>
            <a:r>
              <a:rPr sz="1200" b="0">
                <a:solidFill>
                  <a:srgbClr val="9DB0D0"/>
                </a:solidFill>
                <a:latin typeface="Arial"/>
                <a:ea typeface="Meiryo"/>
              </a:rPr>
              <a:t> ÷ ¥150億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16752" y="4169663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＝ 対ファンド </a:t>
            </a:r>
            <a:r>
              <a:rPr sz="1300" b="1">
                <a:solidFill>
                  <a:srgbClr val="5BC8FF"/>
                </a:solidFill>
                <a:latin typeface="Arial"/>
                <a:ea typeface="Meiryo"/>
              </a:rPr>
              <a:t>1.37X</a:t>
            </a: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／総コミMOIC </a:t>
            </a:r>
            <a:r>
              <a:rPr sz="1300" b="1">
                <a:solidFill>
                  <a:srgbClr val="F5B454"/>
                </a:solidFill>
                <a:latin typeface="Arial"/>
                <a:ea typeface="Meiryo"/>
              </a:rPr>
              <a:t>12.5X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855464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E7FA6"/>
                </a:solidFill>
                <a:latin typeface="Arial"/>
                <a:ea typeface="Meiryo"/>
              </a:rPr>
              <a:t>出典：01前提パック §5・02財務モデル Exit/リターン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48554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E7FA6"/>
                </a:solidFill>
                <a:latin typeface="Arial"/>
                <a:ea typeface="Meiry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BC8FF"/>
                </a:solidFill>
                <a:latin typeface="Arial"/>
                <a:ea typeface="Meiryo"/>
              </a:rPr>
              <a:t>PORTFOLIO ・ ポートフォリオ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EAF1FF"/>
                </a:solidFill>
                <a:latin typeface="Arial"/>
                <a:ea typeface="Meiryo"/>
              </a:rPr>
              <a:t>ネット3.0Xは分布で作る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25296"/>
            <a:ext cx="8046720" cy="566928"/>
          </a:xfrm>
          <a:prstGeom prst="roundRect">
            <a:avLst>
              <a:gd name="adj" fmla="val 10000"/>
            </a:avLst>
          </a:prstGeom>
          <a:solidFill>
            <a:srgbClr val="13234D"/>
          </a:solidFill>
          <a:ln w="12700">
            <a:solidFill>
              <a:srgbClr val="2C4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25296"/>
            <a:ext cx="64008" cy="566928"/>
          </a:xfrm>
          <a:prstGeom prst="rect">
            <a:avLst/>
          </a:prstGeom>
          <a:solidFill>
            <a:srgbClr val="F5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225296"/>
            <a:ext cx="7635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Solafune 206億 ＋ べき乗則10社 → </a:t>
            </a:r>
            <a:r>
              <a:rPr sz="1350" b="1">
                <a:solidFill>
                  <a:srgbClr val="F5B454"/>
                </a:solidFill>
                <a:latin typeface="Arial"/>
                <a:ea typeface="Meiryo"/>
              </a:rPr>
              <a:t>グロス4.3X → ネットDPI 3.0X</a:t>
            </a: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（上位2社で回収の約65%）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75104"/>
            <a:ext cx="1499616" cy="1188720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75104"/>
            <a:ext cx="1499616" cy="64008"/>
          </a:xfrm>
          <a:prstGeom prst="rect">
            <a:avLst/>
          </a:prstGeom>
          <a:solidFill>
            <a:srgbClr val="F5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103120"/>
            <a:ext cx="1316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EAF1FF"/>
                </a:solidFill>
                <a:latin typeface="Arial"/>
                <a:ea typeface="Meiryo"/>
              </a:rPr>
              <a:t>Solafune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95728"/>
            <a:ext cx="13167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9DB0D0"/>
                </a:solidFill>
                <a:latin typeface="Arial"/>
                <a:ea typeface="Meiryo"/>
              </a:rPr>
              <a:t>★ FR（本命）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670048"/>
            <a:ext cx="13167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5B454"/>
                </a:solidFill>
                <a:latin typeface="Arial"/>
                <a:ea typeface="Meiryo"/>
              </a:rPr>
              <a:t>¥206億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03120" y="1975104"/>
            <a:ext cx="1499616" cy="1188720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03120" y="1975104"/>
            <a:ext cx="1499616" cy="64008"/>
          </a:xfrm>
          <a:prstGeom prst="rect">
            <a:avLst/>
          </a:prstGeom>
          <a:solidFill>
            <a:srgbClr val="5BC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12848" y="2103120"/>
            <a:ext cx="1316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EAF1FF"/>
                </a:solidFill>
                <a:latin typeface="Arial"/>
                <a:ea typeface="Meiryo"/>
              </a:rPr>
              <a:t>Humanity Brain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12848" y="2395728"/>
            <a:ext cx="13167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9DB0D0"/>
                </a:solidFill>
                <a:latin typeface="Arial"/>
                <a:ea typeface="Meiryo"/>
              </a:rPr>
              <a:t>認知戦AI・7-8X｜実在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12848" y="2670048"/>
            <a:ext cx="13167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5BC8FF"/>
                </a:solidFill>
                <a:latin typeface="Arial"/>
                <a:ea typeface="Meiryo"/>
              </a:rPr>
              <a:t>¥136億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1975104"/>
            <a:ext cx="1499616" cy="1188720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0" y="1975104"/>
            <a:ext cx="1499616" cy="64008"/>
          </a:xfrm>
          <a:prstGeom prst="rect">
            <a:avLst/>
          </a:prstGeom>
          <a:solidFill>
            <a:srgbClr val="9DB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67328" y="2103120"/>
            <a:ext cx="1316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EAF1FF"/>
                </a:solidFill>
                <a:latin typeface="Arial"/>
                <a:ea typeface="Meiryo"/>
              </a:rPr>
              <a:t>C・D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67328" y="2395728"/>
            <a:ext cx="13167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9DB0D0"/>
                </a:solidFill>
                <a:latin typeface="Arial"/>
                <a:ea typeface="Meiryo"/>
              </a:rPr>
              <a:t>3-5X級2社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67328" y="2670048"/>
            <a:ext cx="13167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9DB0D0"/>
                </a:solidFill>
                <a:latin typeface="Arial"/>
                <a:ea typeface="Meiryo"/>
              </a:rPr>
              <a:t>¥119億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80" y="1975104"/>
            <a:ext cx="1499616" cy="1188720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212080" y="1975104"/>
            <a:ext cx="1499616" cy="64008"/>
          </a:xfrm>
          <a:prstGeom prst="rect">
            <a:avLst/>
          </a:prstGeom>
          <a:solidFill>
            <a:srgbClr val="6E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21808" y="2103120"/>
            <a:ext cx="1316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EAF1FF"/>
                </a:solidFill>
                <a:latin typeface="Arial"/>
                <a:ea typeface="Meiryo"/>
              </a:rPr>
              <a:t>E-G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21808" y="2395728"/>
            <a:ext cx="13167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9DB0D0"/>
                </a:solidFill>
                <a:latin typeface="Arial"/>
                <a:ea typeface="Meiryo"/>
              </a:rPr>
              <a:t>1-2X級3社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21808" y="2670048"/>
            <a:ext cx="13167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6E7FA6"/>
                </a:solidFill>
                <a:latin typeface="Arial"/>
                <a:ea typeface="Meiryo"/>
              </a:rPr>
              <a:t>¥43億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66560" y="1975104"/>
            <a:ext cx="1499616" cy="1188720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66560" y="1975104"/>
            <a:ext cx="1499616" cy="64008"/>
          </a:xfrm>
          <a:prstGeom prst="rect">
            <a:avLst/>
          </a:prstGeom>
          <a:solidFill>
            <a:srgbClr val="6E7F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76288" y="2103120"/>
            <a:ext cx="13167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EAF1FF"/>
                </a:solidFill>
                <a:latin typeface="Arial"/>
                <a:ea typeface="Meiryo"/>
              </a:rPr>
              <a:t>H-J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2395728"/>
            <a:ext cx="13167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>
                <a:solidFill>
                  <a:srgbClr val="9DB0D0"/>
                </a:solidFill>
                <a:latin typeface="Arial"/>
                <a:ea typeface="Meiryo"/>
              </a:rPr>
              <a:t>0-1X級3社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2670048"/>
            <a:ext cx="13167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6E7FA6"/>
                </a:solidFill>
                <a:latin typeface="Arial"/>
                <a:ea typeface="Meiryo"/>
              </a:rPr>
              <a:t>¥20億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3346704"/>
            <a:ext cx="2633472" cy="822960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3419856"/>
            <a:ext cx="2286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5BC8FF"/>
                </a:solidFill>
                <a:latin typeface="Arial"/>
                <a:ea typeface="Meiryo"/>
              </a:rPr>
              <a:t>¥123億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38404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DB0D0"/>
                </a:solidFill>
                <a:latin typeface="Arial"/>
                <a:ea typeface="Meiryo"/>
              </a:rPr>
              <a:t>投下資本（10社）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27832" y="3346704"/>
            <a:ext cx="2633472" cy="822960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92424" y="3419856"/>
            <a:ext cx="2286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B454"/>
                </a:solidFill>
                <a:latin typeface="Arial"/>
                <a:ea typeface="Meiryo"/>
              </a:rPr>
              <a:t>¥524億 / 4.3X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92424" y="38404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DB0D0"/>
                </a:solidFill>
                <a:latin typeface="Arial"/>
                <a:ea typeface="Meiryo"/>
              </a:rPr>
              <a:t>グロス回収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07024" y="3346704"/>
            <a:ext cx="2633472" cy="822960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71616" y="3419856"/>
            <a:ext cx="22860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9C8CFF"/>
                </a:solidFill>
                <a:latin typeface="Arial"/>
                <a:ea typeface="Meiryo"/>
              </a:rPr>
              <a:t>3.0X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71616" y="38404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9DB0D0"/>
                </a:solidFill>
                <a:latin typeface="Arial"/>
                <a:ea typeface="Meiryo"/>
              </a:rPr>
              <a:t>ネットDPI（検算一致）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261104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9DB0D0"/>
                </a:solidFill>
                <a:latin typeface="Arial"/>
                <a:ea typeface="Meiryo"/>
              </a:rPr>
              <a:t>DPI＝財布全体が何倍／MOIC＝この1社が何倍。</a:t>
            </a:r>
            <a:r>
              <a:rPr sz="1100" b="1">
                <a:solidFill>
                  <a:srgbClr val="EAF1FF"/>
                </a:solidFill>
                <a:latin typeface="Arial"/>
                <a:ea typeface="Meiryo"/>
              </a:rPr>
              <a:t>少数の当たりで勝つ＝VCのべき乗則を体現。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855464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E7FA6"/>
                </a:solidFill>
                <a:latin typeface="Arial"/>
                <a:ea typeface="Meiryo"/>
              </a:rPr>
              <a:t>出典：02財務モデル「ポートフォリオ」シート（net DPI 2.995≈3.0X）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79" y="48554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E7FA6"/>
                </a:solidFill>
                <a:latin typeface="Arial"/>
                <a:ea typeface="Meiry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10896"/>
            <a:ext cx="8046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5BC8FF"/>
                </a:solidFill>
                <a:latin typeface="Arial"/>
                <a:ea typeface="Meiryo"/>
              </a:rPr>
              <a:t>RISK ・ リスクと備え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046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EAF1FF"/>
                </a:solidFill>
                <a:latin typeface="Arial"/>
                <a:ea typeface="Meiryo"/>
              </a:rPr>
              <a:t>弱点を、先に潰す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25296"/>
            <a:ext cx="8046720" cy="566928"/>
          </a:xfrm>
          <a:prstGeom prst="roundRect">
            <a:avLst>
              <a:gd name="adj" fmla="val 10000"/>
            </a:avLst>
          </a:prstGeom>
          <a:solidFill>
            <a:srgbClr val="13234D"/>
          </a:solidFill>
          <a:ln w="12700">
            <a:solidFill>
              <a:srgbClr val="2C4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25296"/>
            <a:ext cx="64008" cy="566928"/>
          </a:xfrm>
          <a:prstGeom prst="rect">
            <a:avLst/>
          </a:prstGeom>
          <a:solidFill>
            <a:srgbClr val="F5B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225296"/>
            <a:ext cx="7635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</a:pPr>
            <a:r>
              <a:rPr sz="1350" b="1">
                <a:solidFill>
                  <a:srgbClr val="EAF1FF"/>
                </a:solidFill>
                <a:latin typeface="Arial"/>
                <a:ea typeface="Meiryo"/>
              </a:rPr>
              <a:t>出口・政府依存・評価・バブルの4論点に、</a:t>
            </a:r>
            <a:r>
              <a:rPr sz="1350" b="1">
                <a:solidFill>
                  <a:srgbClr val="F5B454"/>
                </a:solidFill>
                <a:latin typeface="Arial"/>
                <a:ea typeface="Meiryo"/>
              </a:rPr>
              <a:t>契約と設計レベルの具体策を当てる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93392"/>
            <a:ext cx="3931920" cy="1225296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139696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B454"/>
                </a:solidFill>
                <a:latin typeface="Arial"/>
                <a:ea typeface="Meiryo"/>
              </a:rPr>
              <a:t>⚠ </a:t>
            </a:r>
            <a:r>
              <a:rPr sz="1400" b="1">
                <a:solidFill>
                  <a:srgbClr val="EAF1FF"/>
                </a:solidFill>
                <a:latin typeface="Arial"/>
                <a:ea typeface="Meiryo"/>
              </a:rPr>
              <a:t>出口が未実証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560320"/>
            <a:ext cx="3520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9DB0D0"/>
                </a:solidFill>
                <a:latin typeface="Arial"/>
                <a:ea typeface="Meiryo"/>
              </a:rPr>
              <a:t>上場済み宇宙SU（Synspective等）が実証。日本IPO波に乗る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1993392"/>
            <a:ext cx="3931920" cy="1225296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82896" y="2139696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B454"/>
                </a:solidFill>
                <a:latin typeface="Arial"/>
                <a:ea typeface="Meiryo"/>
              </a:rPr>
              <a:t>⚠ </a:t>
            </a:r>
            <a:r>
              <a:rPr sz="1400" b="1">
                <a:solidFill>
                  <a:srgbClr val="EAF1FF"/>
                </a:solidFill>
                <a:latin typeface="Arial"/>
                <a:ea typeface="Meiryo"/>
              </a:rPr>
              <a:t>政府依存・調達変動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2896" y="2560320"/>
            <a:ext cx="3520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9DB0D0"/>
                </a:solidFill>
                <a:latin typeface="Arial"/>
                <a:ea typeface="Meiryo"/>
              </a:rPr>
              <a:t>マイルストン連動＋同志国横展開でリカーリング化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310128"/>
            <a:ext cx="3931920" cy="1225296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3456432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B454"/>
                </a:solidFill>
                <a:latin typeface="Arial"/>
                <a:ea typeface="Meiryo"/>
              </a:rPr>
              <a:t>⚠ </a:t>
            </a:r>
            <a:r>
              <a:rPr sz="1400" b="1">
                <a:solidFill>
                  <a:srgbClr val="EAF1FF"/>
                </a:solidFill>
                <a:latin typeface="Arial"/>
                <a:ea typeface="Meiryo"/>
              </a:rPr>
              <a:t>バリュエーション非開示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3877056"/>
            <a:ext cx="3520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9DB0D0"/>
                </a:solidFill>
                <a:latin typeface="Arial"/>
                <a:ea typeface="Meiryo"/>
              </a:rPr>
              <a:t>トランシェ払込・希薄化防止・取締役指名権を確保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3310128"/>
            <a:ext cx="3931920" cy="1225296"/>
          </a:xfrm>
          <a:prstGeom prst="roundRect">
            <a:avLst>
              <a:gd name="adj" fmla="val 7000"/>
            </a:avLst>
          </a:prstGeom>
          <a:solidFill>
            <a:srgbClr val="111C3C"/>
          </a:solidFill>
          <a:ln w="12700">
            <a:solidFill>
              <a:srgbClr val="2A3B66"/>
            </a:solidFill>
          </a:ln>
          <a:effectLst/>
          <a:effectLst>
            <a:outerShdw blurRad="90000" dist="30000" dir="5400000" rotWithShape="0" algn="tl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82896" y="3456432"/>
            <a:ext cx="3566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B454"/>
                </a:solidFill>
                <a:latin typeface="Arial"/>
                <a:ea typeface="Meiryo"/>
              </a:rPr>
              <a:t>⚠ </a:t>
            </a:r>
            <a:r>
              <a:rPr sz="1400" b="1">
                <a:solidFill>
                  <a:srgbClr val="EAF1FF"/>
                </a:solidFill>
                <a:latin typeface="Arial"/>
                <a:ea typeface="Meiryo"/>
              </a:rPr>
              <a:t>防衛AIバブル懸念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82896" y="3877056"/>
            <a:ext cx="35204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9DB0D0"/>
                </a:solidFill>
                <a:latin typeface="Arial"/>
                <a:ea typeface="Meiryo"/>
              </a:rPr>
              <a:t>保守的マルチプル(15–18倍)とExit時期の柔軟化で吸収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55464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6E7FA6"/>
                </a:solidFill>
                <a:latin typeface="Arial"/>
                <a:ea typeface="Meiryo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48554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E7FA6"/>
                </a:solidFill>
                <a:latin typeface="Arial"/>
                <a:ea typeface="Meiry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64008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BC8FF"/>
                </a:solidFill>
                <a:latin typeface="Arial"/>
                <a:ea typeface="Meiryo"/>
              </a:rPr>
              <a:t>SENTINEL CAPITAL PARTNERS  ×  Solafune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EAF1FF"/>
                </a:solidFill>
                <a:latin typeface="Arial"/>
                <a:ea typeface="Meiryo"/>
              </a:rPr>
              <a:t>地球を読む者が、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5BC8FF"/>
                </a:solidFill>
                <a:latin typeface="Arial"/>
                <a:ea typeface="Meiryo"/>
              </a:rPr>
              <a:t>次の安全保障を制する。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546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9DB0D0"/>
                </a:solidFill>
                <a:latin typeface="Arial"/>
                <a:ea typeface="Meiryo"/>
              </a:rPr>
              <a:t>経済安全保障 × 宇宙 × AI に、狭く深く張る。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675887"/>
            <a:ext cx="8046720" cy="676656"/>
          </a:xfrm>
          <a:prstGeom prst="roundRect">
            <a:avLst>
              <a:gd name="adj" fmla="val 10000"/>
            </a:avLst>
          </a:prstGeom>
          <a:solidFill>
            <a:srgbClr val="13234D"/>
          </a:solidFill>
          <a:ln w="12700">
            <a:solidFill>
              <a:srgbClr val="F5B4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3675887"/>
            <a:ext cx="758952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5B454"/>
                </a:solidFill>
                <a:latin typeface="Arial"/>
                <a:ea typeface="Meiryo"/>
              </a:rPr>
              <a:t>投資判断：</a:t>
            </a:r>
            <a:r>
              <a:rPr sz="1250" b="1">
                <a:solidFill>
                  <a:srgbClr val="EAF1FF"/>
                </a:solidFill>
                <a:latin typeface="Arial"/>
                <a:ea typeface="Meiryo"/>
              </a:rPr>
              <a:t>初回5.5億・持分約15%でリード</a:t>
            </a:r>
            <a:r>
              <a:rPr sz="1150" b="0">
                <a:solidFill>
                  <a:srgbClr val="9DB0D0"/>
                </a:solidFill>
                <a:latin typeface="Arial"/>
                <a:ea typeface="Meiryo"/>
              </a:rPr>
              <a:t>／Exit 206億・対ファンド1.37X・ネットDPI 3.0X ＝ </a:t>
            </a:r>
            <a:r>
              <a:rPr sz="1250" b="1">
                <a:solidFill>
                  <a:srgbClr val="5BC8FF"/>
                </a:solidFill>
                <a:latin typeface="Arial"/>
                <a:ea typeface="Meiryo"/>
              </a:rPr>
              <a:t>ファンドリターナー候補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53712"/>
            <a:ext cx="8229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E7FA6"/>
                </a:solidFill>
                <a:latin typeface="Arial"/>
                <a:ea typeface="Meiryo"/>
              </a:rPr>
              <a:t>ご清聴ありがとうございました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