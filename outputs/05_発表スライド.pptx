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6576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5C6C"/>
                </a:solidFill>
                <a:latin typeface="Arial"/>
                <a:ea typeface="Meiryo"/>
              </a:rPr>
              <a:t>BOSS BATTLE ・ 本日の投資委員会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AF1FF"/>
                </a:solidFill>
                <a:latin typeface="Arial"/>
                <a:ea typeface="Meiryo"/>
              </a:rPr>
              <a:t>ボスは「論破王」FM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8046720" cy="548640"/>
          </a:xfrm>
          <a:prstGeom prst="roundRect">
            <a:avLst>
              <a:gd name="adj" fmla="val 6000"/>
            </a:avLst>
          </a:prstGeom>
          <a:solidFill>
            <a:srgbClr val="13234D"/>
          </a:solidFill>
          <a:ln w="9525">
            <a:solidFill>
              <a:srgbClr val="2A3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17904"/>
            <a:ext cx="64008" cy="548640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517904"/>
            <a:ext cx="7635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論破を全部しのげたら、承認。</a:t>
            </a: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感想は要らない、ぜんぶ数字で殴り返す。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331720"/>
            <a:ext cx="960120" cy="960120"/>
          </a:xfrm>
          <a:prstGeom prst="ellipse">
            <a:avLst/>
          </a:prstGeom>
          <a:solidFill>
            <a:srgbClr val="2A1530"/>
          </a:solidFill>
          <a:ln w="2540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9601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AF1FF"/>
                </a:solidFill>
                <a:latin typeface="Arial"/>
                <a:ea typeface="Meiryo"/>
              </a:rPr>
              <a:t>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99232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5C6C"/>
                </a:solidFill>
                <a:latin typeface="Arial"/>
                <a:ea typeface="Meiryo"/>
              </a:rPr>
              <a:t>論破王 FM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2331720"/>
            <a:ext cx="3657600" cy="1691640"/>
          </a:xfrm>
          <a:prstGeom prst="roundRect">
            <a:avLst>
              <a:gd name="adj" fmla="val 10000"/>
            </a:avLst>
          </a:prstGeom>
          <a:solidFill>
            <a:srgbClr val="2A1530"/>
          </a:solidFill>
          <a:ln w="15875">
            <a:solidFill>
              <a:srgbClr val="FF5C6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24688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5C6C"/>
                </a:solidFill>
                <a:latin typeface="Arial"/>
                <a:ea typeface="Meiryo"/>
              </a:rPr>
              <a:t>必殺技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798064"/>
            <a:ext cx="32461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EAF1FF"/>
                </a:solidFill>
                <a:latin typeface="Arial"/>
                <a:ea typeface="Meiryo"/>
              </a:rPr>
              <a:t>「それってあなたの感想ですよね？」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AF1FF"/>
                </a:solidFill>
                <a:latin typeface="Arial"/>
                <a:ea typeface="Meiryo"/>
              </a:rPr>
              <a:t>「なんかそういうデータあるんですか？」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5C6C"/>
                </a:solidFill>
                <a:latin typeface="Arial"/>
                <a:ea typeface="Meiryo"/>
              </a:rPr>
              <a:t>「……で、論破」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331720"/>
            <a:ext cx="2788920" cy="1691640"/>
          </a:xfrm>
          <a:prstGeom prst="roundRect">
            <a:avLst>
              <a:gd name="adj" fmla="val 7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16752" y="2468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C8FF"/>
                </a:solidFill>
                <a:latin typeface="Arial"/>
                <a:ea typeface="Meiryo"/>
              </a:rPr>
              <a:t>挑戦者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2798064"/>
            <a:ext cx="24231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AF1FF"/>
                </a:solidFill>
                <a:latin typeface="Arial"/>
                <a:ea typeface="Meiryo"/>
              </a:rPr>
              <a:t>新人アナリスト（私）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議題＝3号ファンドから</a:t>
            </a:r>
          </a:p>
          <a:p>
            <a:pPr algn="l">
              <a:lnSpc>
                <a:spcPct val="120000"/>
              </a:lnSpc>
            </a:pPr>
            <a:r>
              <a:rPr sz="1250" b="1">
                <a:solidFill>
                  <a:srgbClr val="5BC8FF"/>
                </a:solidFill>
                <a:latin typeface="Arial"/>
                <a:ea typeface="Meiryo"/>
              </a:rPr>
              <a:t>Solafuneにリード投資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全[仮]に数字と出典を用意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24528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勝利条件＝論破4連打（誇大／感想／倫理／なぜ今あなた達）を</a:t>
            </a:r>
            <a:r>
              <a:rPr sz="1150" b="1">
                <a:solidFill>
                  <a:srgbClr val="EAF1FF"/>
                </a:solidFill>
                <a:latin typeface="Arial"/>
                <a:ea typeface="Meiryo"/>
              </a:rPr>
              <a:t>全て数字で返す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424281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7FA6"/>
                </a:solidFill>
                <a:latin typeface="Arial"/>
                <a:ea typeface="Meiryo"/>
              </a:rPr>
              <a:t>BOSS HP </a:t>
            </a:r>
            <a:r>
              <a:rPr sz="1100" b="1">
                <a:solidFill>
                  <a:srgbClr val="FF5C6C"/>
                </a:solidFill>
                <a:latin typeface="Arial"/>
                <a:ea typeface="Meiryo"/>
              </a:rPr>
              <a:t>4/4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59" y="4261104"/>
            <a:ext cx="310896" cy="1645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26096" y="4261104"/>
            <a:ext cx="310896" cy="1645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1" y="4261104"/>
            <a:ext cx="310896" cy="1645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7" y="4261104"/>
            <a:ext cx="310896" cy="1645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6263F"/>
                </a:solidFill>
                <a:latin typeface="Arial"/>
                <a:ea typeface="Meiryo"/>
              </a:rPr>
              <a:t>アジェンダ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0" y="4206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7C8AA3"/>
                </a:solidFill>
                <a:latin typeface="Arial"/>
                <a:ea typeface="Meiryo"/>
              </a:rPr>
              <a:t>プレゼンでは飛ばす（0秒）／詳細はAppendix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本日の論証は一本道＝「集中で勝つファンドが、なぜ今Solafuneに賭けるか」を、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①設計→②対象→③検算・論破→④決着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の順に全部数字で示す。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8046720" cy="56692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8096" y="2084832"/>
            <a:ext cx="384048" cy="384048"/>
          </a:xfrm>
          <a:prstGeom prst="ellipse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0848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Meiryo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066544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ファンド設計｜なぜ我々が・どう勝つか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2331720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トラックレコード→勝ち筋→ファンド設計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1993392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C77D11"/>
                </a:solidFill>
                <a:latin typeface="Arial"/>
                <a:ea typeface="Meiryo"/>
              </a:rPr>
              <a:t>S1–S4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51760"/>
            <a:ext cx="8046720" cy="56692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8096" y="2743200"/>
            <a:ext cx="384048" cy="384048"/>
          </a:xfrm>
          <a:prstGeom prst="ellipse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432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Meiry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8176" y="2724912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投資対象｜なぜ今・なぜSolafune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299008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制度変化→OS→市場→競合→財務→Exit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26517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C77D11"/>
                </a:solidFill>
                <a:latin typeface="Arial"/>
                <a:ea typeface="Meiryo"/>
              </a:rPr>
              <a:t>S5–S10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10128"/>
            <a:ext cx="8046720" cy="56692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8096" y="3401568"/>
            <a:ext cx="384048" cy="384048"/>
          </a:xfrm>
          <a:prstGeom prst="ellipse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34015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Meiryo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8176" y="33832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検算・論破｜誇大/感想/倫理を撃破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8176" y="3648456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リターン検算→論破①②③→リスク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31012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C77D11"/>
                </a:solidFill>
                <a:latin typeface="Arial"/>
                <a:ea typeface="Meiryo"/>
              </a:rPr>
              <a:t>S11–S15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68496"/>
            <a:ext cx="8046720" cy="56692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8096" y="4059935"/>
            <a:ext cx="384048" cy="384048"/>
          </a:xfrm>
          <a:prstGeom prst="ellipse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05993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Meiryo"/>
              </a:rPr>
              <a:t>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4041648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決着｜なぜ今・あなた達＝総回収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4306824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投資判断（論破④で締める）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396849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C77D11"/>
                </a:solidFill>
                <a:latin typeface="Arial"/>
                <a:ea typeface="Meiryo"/>
              </a:rPr>
              <a:t>S16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608576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7C8AA3"/>
                </a:solidFill>
                <a:latin typeface="Arial"/>
                <a:ea typeface="Meiryo"/>
              </a:rPr>
              <a:t>※複雑な導出・詳細データは Appendix（AP1〜9）に退避＝本編では飛ばし、QAで開く。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6263F"/>
                </a:solidFill>
                <a:latin typeface="Arial"/>
                <a:ea typeface="Meiryo"/>
              </a:rPr>
              <a:t>エグゼクティブサマリー ＝ 逆算マップ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25296"/>
            <a:ext cx="8046720" cy="512064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25296"/>
            <a:ext cx="64008" cy="512064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225296"/>
            <a:ext cx="7635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結論：3号150億から初回5.5億・持分約15%で、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Solafune にリード投資する。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63F"/>
                </a:solidFill>
                <a:latin typeface="Arial"/>
                <a:ea typeface="Meiryo"/>
              </a:rPr>
              <a:t>本日の証明は一本の逆算 ― 目標 DPI3.0X から各リンクが一意に決まる</a:t>
            </a:r>
            <a:r>
              <a:rPr sz="1000" b="0">
                <a:solidFill>
                  <a:srgbClr val="56627A"/>
                </a:solidFill>
                <a:latin typeface="Arial"/>
                <a:ea typeface="Meiryo"/>
              </a:rPr>
              <a:t>（数字下＝証明スライド）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39696"/>
            <a:ext cx="1170432" cy="117043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249424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6E5AD9"/>
                </a:solidFill>
                <a:latin typeface="Arial"/>
                <a:ea typeface="Meiryo"/>
              </a:rPr>
              <a:t>3.0X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67004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>
                <a:solidFill>
                  <a:srgbClr val="56627A"/>
                </a:solidFill>
                <a:latin typeface="Arial"/>
                <a:ea typeface="Meiryo"/>
              </a:rPr>
              <a:t>ネットDPI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303580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88C2"/>
                </a:solidFill>
                <a:latin typeface="Arial"/>
                <a:ea typeface="Meiryo"/>
              </a:rPr>
              <a:t>S12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2139696"/>
            <a:ext cx="18288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C8AA3"/>
                </a:solidFill>
                <a:latin typeface="Arial"/>
                <a:ea typeface="Meiryo"/>
              </a:rPr>
              <a:t>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01952" y="2139696"/>
            <a:ext cx="1170432" cy="117043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38528" y="2249424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C77D11"/>
                </a:solidFill>
                <a:latin typeface="Arial"/>
                <a:ea typeface="Meiryo"/>
              </a:rPr>
              <a:t>¥206億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8528" y="267004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>
                <a:solidFill>
                  <a:srgbClr val="56627A"/>
                </a:solidFill>
                <a:latin typeface="Arial"/>
                <a:ea typeface="Meiryo"/>
              </a:rPr>
              <a:t>1社FR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8528" y="303580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88C2"/>
                </a:solidFill>
                <a:latin typeface="Arial"/>
                <a:ea typeface="Meiryo"/>
              </a:rPr>
              <a:t>S3·S12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2139696"/>
            <a:ext cx="18288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C8AA3"/>
                </a:solidFill>
                <a:latin typeface="Arial"/>
                <a:ea typeface="Meiryo"/>
              </a:rPr>
              <a:t>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55264" y="2139696"/>
            <a:ext cx="1170432" cy="117043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2249424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C77D11"/>
                </a:solidFill>
                <a:latin typeface="Arial"/>
                <a:ea typeface="Meiryo"/>
              </a:rPr>
              <a:t>¥1,717億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67004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>
                <a:solidFill>
                  <a:srgbClr val="56627A"/>
                </a:solidFill>
                <a:latin typeface="Arial"/>
                <a:ea typeface="Meiryo"/>
              </a:rPr>
              <a:t>Exit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03580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88C2"/>
                </a:solidFill>
                <a:latin typeface="Arial"/>
                <a:ea typeface="Meiryo"/>
              </a:rPr>
              <a:t>S10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2139696"/>
            <a:ext cx="18288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C8AA3"/>
                </a:solidFill>
                <a:latin typeface="Arial"/>
                <a:ea typeface="Meiryo"/>
              </a:rPr>
              <a:t>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08576" y="2139696"/>
            <a:ext cx="1170432" cy="117043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2249424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488C2"/>
                </a:solidFill>
                <a:latin typeface="Arial"/>
                <a:ea typeface="Meiryo"/>
              </a:rPr>
              <a:t>17倍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2" y="267004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>
                <a:solidFill>
                  <a:srgbClr val="56627A"/>
                </a:solidFill>
                <a:latin typeface="Arial"/>
                <a:ea typeface="Meiryo"/>
              </a:rPr>
              <a:t>EV/Sales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5152" y="303580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88C2"/>
                </a:solidFill>
                <a:latin typeface="Arial"/>
                <a:ea typeface="Meiryo"/>
              </a:rPr>
              <a:t>S10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79008" y="2139696"/>
            <a:ext cx="18288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C8AA3"/>
                </a:solidFill>
                <a:latin typeface="Arial"/>
                <a:ea typeface="Meiryo"/>
              </a:rPr>
              <a:t>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61888" y="2139696"/>
            <a:ext cx="1170432" cy="117043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98464" y="2249424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488C2"/>
                </a:solidFill>
                <a:latin typeface="Arial"/>
                <a:ea typeface="Meiryo"/>
              </a:rPr>
              <a:t>¥90億≒SOM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98464" y="267004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>
                <a:solidFill>
                  <a:srgbClr val="56627A"/>
                </a:solidFill>
                <a:latin typeface="Arial"/>
                <a:ea typeface="Meiryo"/>
              </a:rPr>
              <a:t>必要売上=市場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98464" y="303580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88C2"/>
                </a:solidFill>
                <a:latin typeface="Arial"/>
                <a:ea typeface="Meiryo"/>
              </a:rPr>
              <a:t>S7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2139696"/>
            <a:ext cx="182880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C8AA3"/>
                </a:solidFill>
                <a:latin typeface="Arial"/>
                <a:ea typeface="Meiryo"/>
              </a:rPr>
              <a:t>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2139696"/>
            <a:ext cx="1170432" cy="117043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51775" y="2249424"/>
            <a:ext cx="10972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C77D11"/>
                </a:solidFill>
                <a:latin typeface="Arial"/>
                <a:ea typeface="Meiryo"/>
              </a:rPr>
              <a:t>15→12%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51775" y="267004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>
                <a:solidFill>
                  <a:srgbClr val="56627A"/>
                </a:solidFill>
                <a:latin typeface="Arial"/>
                <a:ea typeface="Meiryo"/>
              </a:rPr>
              <a:t>seed持分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1775" y="303580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488C2"/>
                </a:solidFill>
                <a:latin typeface="Arial"/>
                <a:ea typeface="Meiryo"/>
              </a:rPr>
              <a:t>S4·S6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456432"/>
            <a:ext cx="2615184" cy="694944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3511296"/>
            <a:ext cx="23225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88C2"/>
                </a:solidFill>
                <a:latin typeface="Arial"/>
                <a:ea typeface="Meiryo"/>
              </a:rPr>
              <a:t>なぜ今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" y="3767328"/>
            <a:ext cx="23225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0">
                <a:solidFill>
                  <a:srgbClr val="16263F"/>
                </a:solidFill>
                <a:latin typeface="Arial"/>
                <a:ea typeface="Meiryo"/>
              </a:rPr>
              <a:t>2026年の輸出緩和・調達ファストパス・前払いで参入条件が構造変化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64408" y="3456432"/>
            <a:ext cx="2615184" cy="694944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10712" y="3511296"/>
            <a:ext cx="23225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88C2"/>
                </a:solidFill>
                <a:latin typeface="Arial"/>
                <a:ea typeface="Meiryo"/>
              </a:rPr>
              <a:t>なぜ我々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10712" y="3767328"/>
            <a:ext cx="23225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0">
                <a:solidFill>
                  <a:srgbClr val="16263F"/>
                </a:solidFill>
                <a:latin typeface="Arial"/>
                <a:ea typeface="Meiryo"/>
              </a:rPr>
              <a:t>宇宙2号→集中へ転換。取締役＋120カ国＋政府リレーションで伴走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80175" y="3456432"/>
            <a:ext cx="2615184" cy="694944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26479" y="3511296"/>
            <a:ext cx="23225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88C2"/>
                </a:solidFill>
                <a:latin typeface="Arial"/>
                <a:ea typeface="Meiryo"/>
              </a:rPr>
              <a:t>なぜSolafune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79" y="3767328"/>
            <a:ext cx="23225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0">
                <a:solidFill>
                  <a:srgbClr val="16263F"/>
                </a:solidFill>
                <a:latin typeface="Arial"/>
                <a:ea typeface="Meiryo"/>
              </a:rPr>
              <a:t>衛星を持たない解析特化＝二桁持分を保てる希少企業（FR候補）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297680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この鎖を8分で1リンクずつ実数で証明し、</a:t>
            </a:r>
            <a:r>
              <a:rPr sz="1050" b="1">
                <a:solidFill>
                  <a:srgbClr val="C77D11"/>
                </a:solidFill>
                <a:latin typeface="Arial"/>
                <a:ea typeface="Meiryo"/>
              </a:rPr>
              <a:t>S12で閉じる（答え合わせ）</a:t>
            </a: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。残リスクは契約条項で先回り。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BC8FF"/>
                </a:solidFill>
                <a:latin typeface="Arial"/>
                <a:ea typeface="Meiryo"/>
              </a:rPr>
              <a:t>VC FUND PITCH ・ 投資テーゼ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229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EAF1FF"/>
                </a:solidFill>
                <a:latin typeface="Arial"/>
                <a:ea typeface="Meiryo"/>
              </a:rPr>
              <a:t>SENTINEL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BC8FF"/>
                </a:solidFill>
                <a:latin typeface="Arial"/>
                <a:ea typeface="Meiryo"/>
              </a:rPr>
              <a:t>PARTNERS  ×  Solafune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59152"/>
            <a:ext cx="8046720" cy="530352"/>
          </a:xfrm>
          <a:prstGeom prst="roundRect">
            <a:avLst>
              <a:gd name="adj" fmla="val 6000"/>
            </a:avLst>
          </a:prstGeom>
          <a:solidFill>
            <a:srgbClr val="13234D"/>
          </a:solidFill>
          <a:ln w="9525">
            <a:solidFill>
              <a:srgbClr val="2A3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59152"/>
            <a:ext cx="64008" cy="530352"/>
          </a:xfrm>
          <a:prstGeom prst="rect">
            <a:avLst/>
          </a:prstGeom>
          <a:solidFill>
            <a:srgbClr val="5B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359152"/>
            <a:ext cx="7635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3号150億から初回5.5億・エントリー持分約15%で、</a:t>
            </a: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Solafuneにリード投資する。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DB0D0"/>
                </a:solidFill>
                <a:latin typeface="Arial"/>
                <a:ea typeface="Meiryo"/>
              </a:rPr>
              <a:t>テーゼ：衛星を持たない</a:t>
            </a:r>
            <a:r>
              <a:rPr sz="1300" b="1">
                <a:solidFill>
                  <a:srgbClr val="EAF1FF"/>
                </a:solidFill>
                <a:latin typeface="Arial"/>
                <a:ea typeface="Meiryo"/>
              </a:rPr>
              <a:t>「Planetary Intelligence OS」＝解析・意思決定レイヤー特化</a:t>
            </a:r>
            <a:r>
              <a:rPr sz="1300" b="0">
                <a:solidFill>
                  <a:srgbClr val="9DB0D0"/>
                </a:solidFill>
                <a:latin typeface="Arial"/>
                <a:ea typeface="Meiryo"/>
              </a:rPr>
              <a:t>の希少な日本のデュアルユース・ソフト企業。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40480"/>
            <a:ext cx="2331720" cy="530352"/>
          </a:xfrm>
          <a:prstGeom prst="roundRect">
            <a:avLst>
              <a:gd name="adj" fmla="val 16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840480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BC8FF"/>
                </a:solidFill>
                <a:latin typeface="Arial"/>
                <a:ea typeface="Meiryo"/>
              </a:rPr>
              <a:t>3号 ¥150億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4952" y="3840480"/>
            <a:ext cx="2331720" cy="530352"/>
          </a:xfrm>
          <a:prstGeom prst="roundRect">
            <a:avLst>
              <a:gd name="adj" fmla="val 16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4952" y="3840480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5B454"/>
                </a:solidFill>
                <a:latin typeface="Arial"/>
                <a:ea typeface="Meiryo"/>
              </a:rPr>
              <a:t>集中 10–12社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41264" y="3840480"/>
            <a:ext cx="2331720" cy="530352"/>
          </a:xfrm>
          <a:prstGeom prst="roundRect">
            <a:avLst>
              <a:gd name="adj" fmla="val 16000"/>
            </a:avLst>
          </a:prstGeom>
          <a:solidFill>
            <a:srgbClr val="111C3C"/>
          </a:solidFill>
          <a:ln w="12700">
            <a:solidFill>
              <a:srgbClr val="2A3B66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41264" y="3840480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9C8CFF"/>
                </a:solidFill>
                <a:latin typeface="Arial"/>
                <a:ea typeface="Meiryo"/>
              </a:rPr>
              <a:t>ネットDPI 3.0X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98848"/>
            <a:ext cx="8138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EAF1FF"/>
                </a:solidFill>
                <a:latin typeface="Arial"/>
                <a:ea typeface="Meiryo"/>
              </a:rPr>
              <a:t>運用：Sentinel Capital Partners｜経済安保特化GP</a:t>
            </a:r>
            <a:r>
              <a:rPr sz="950" b="0">
                <a:solidFill>
                  <a:srgbClr val="9DB0D0"/>
                </a:solidFill>
                <a:latin typeface="Arial"/>
                <a:ea typeface="Meiryo"/>
              </a:rPr>
              <a:t>（宇宙2号運用＋安保クリアランス・防衛/商社オペレーティングパートナー）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>→詳細：S3・AP9（FR4条件・チーム/付加価値）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6263F"/>
                </a:solidFill>
                <a:latin typeface="Arial"/>
                <a:ea typeface="Meiryo"/>
              </a:rPr>
              <a:t>なぜ私たちなのか ― 宇宙で2度、結果を出した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1号 2.0X → 2号 1.5X。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倍率が下がった“痛み”こそ、3号「集中」の根拠。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2542032" cy="157276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21408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263F"/>
                </a:solidFill>
                <a:latin typeface="Arial"/>
                <a:ea typeface="Meiryo"/>
              </a:rPr>
              <a:t>1号  </a:t>
            </a:r>
            <a:r>
              <a:rPr sz="1500" b="1">
                <a:solidFill>
                  <a:srgbClr val="1488C2"/>
                </a:solidFill>
                <a:latin typeface="Arial"/>
                <a:ea typeface="Meiryo"/>
              </a:rPr>
              <a:t>¥30億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23744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宇宙の裾野・部品/データ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88C2"/>
                </a:solidFill>
                <a:latin typeface="Arial"/>
                <a:ea typeface="Meiryo"/>
              </a:rPr>
              <a:t>DPI 2.0X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93392"/>
            <a:ext cx="164592" cy="1572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7C8AA3"/>
                </a:solidFill>
                <a:latin typeface="Arial"/>
                <a:ea typeface="Meiryo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2403" y="1993392"/>
            <a:ext cx="2542032" cy="157276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5284" y="2121408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263F"/>
                </a:solidFill>
                <a:latin typeface="Arial"/>
                <a:ea typeface="Meiryo"/>
              </a:rPr>
              <a:t>2号  </a:t>
            </a:r>
            <a:r>
              <a:rPr sz="1500" b="1">
                <a:solidFill>
                  <a:srgbClr val="6E5AD9"/>
                </a:solidFill>
                <a:latin typeface="Arial"/>
                <a:ea typeface="Meiryo"/>
              </a:rPr>
              <a:t>¥80億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5284" y="2523744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宇宙データ・解析の成長期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5284" y="310896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6E5AD9"/>
                </a:solidFill>
                <a:latin typeface="Arial"/>
                <a:ea typeface="Meiryo"/>
              </a:rPr>
              <a:t>DPI 1.5X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6148" y="1993392"/>
            <a:ext cx="164592" cy="1572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7C8AA3"/>
                </a:solidFill>
                <a:latin typeface="Arial"/>
                <a:ea typeface="Meiryo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16167" y="1993392"/>
            <a:ext cx="2542032" cy="157276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9047" y="2121408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263F"/>
                </a:solidFill>
                <a:latin typeface="Arial"/>
                <a:ea typeface="Meiryo"/>
              </a:rPr>
              <a:t>3号  </a:t>
            </a:r>
            <a:r>
              <a:rPr sz="1500" b="1">
                <a:solidFill>
                  <a:srgbClr val="C77D11"/>
                </a:solidFill>
                <a:latin typeface="Arial"/>
                <a:ea typeface="Meiryo"/>
              </a:rPr>
              <a:t>¥150億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9047" y="2523744"/>
            <a:ext cx="21762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経済安保×宇宙×AIに集中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9047" y="310896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77D11"/>
                </a:solidFill>
                <a:latin typeface="Arial"/>
                <a:ea typeface="Meiryo"/>
              </a:rPr>
              <a:t>ネット3.0X 狙い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712463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6627A"/>
                </a:solidFill>
                <a:latin typeface="Arial"/>
                <a:ea typeface="Meiryo"/>
              </a:rPr>
              <a:t>宇宙を2度回したからこそのソーシング：</a:t>
            </a:r>
            <a:r>
              <a:rPr sz="1150" b="1">
                <a:solidFill>
                  <a:srgbClr val="16263F"/>
                </a:solidFill>
                <a:latin typeface="Arial"/>
                <a:ea typeface="Meiryo"/>
              </a:rPr>
              <a:t>120カ国コミュニティ／防衛装備庁・国際機関リレーション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078224"/>
            <a:ext cx="8046720" cy="566928"/>
          </a:xfrm>
          <a:prstGeom prst="roundRect">
            <a:avLst>
              <a:gd name="adj" fmla="val 10000"/>
            </a:avLst>
          </a:prstGeom>
          <a:solidFill>
            <a:srgbClr val="FCE9ED"/>
          </a:solidFill>
          <a:ln w="12700">
            <a:solidFill>
              <a:srgbClr val="DC3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4078224"/>
            <a:ext cx="7589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C3B52"/>
                </a:solidFill>
                <a:latin typeface="Arial"/>
                <a:ea typeface="Meiryo"/>
              </a:rPr>
              <a:t>ボス：「2号で下がってるじゃないですか」　</a:t>
            </a:r>
            <a:r>
              <a:rPr sz="1200" b="1">
                <a:solidFill>
                  <a:srgbClr val="16263F"/>
                </a:solidFill>
                <a:latin typeface="Arial"/>
                <a:ea typeface="Meiryo"/>
              </a:rPr>
              <a:t>→ はい。だから分散をやめ、集中に振り切った。痛みを戦略に変えました。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→詳細：AP9（1号2号の中身・ソーシング機構・“人の流れ”思想）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6263F"/>
                </a:solidFill>
                <a:latin typeface="Arial"/>
                <a:ea typeface="Meiryo"/>
              </a:rPr>
              <a:t>1社で元手を返す“ファンドリターナー”に張る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ネット3.0Xは“全社そこそこ”では作れない——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少数のアウトライヤーを必ず1社仕込む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4160520" cy="221284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21408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88C2"/>
                </a:solidFill>
                <a:latin typeface="Arial"/>
                <a:ea typeface="Meiryo"/>
              </a:rPr>
              <a:t>10社のリターン分布（イメージ）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651759"/>
            <a:ext cx="274320" cy="1325880"/>
          </a:xfrm>
          <a:prstGeom prst="roundRect">
            <a:avLst>
              <a:gd name="adj" fmla="val 18000"/>
            </a:avLst>
          </a:prstGeom>
          <a:solidFill>
            <a:srgbClr val="C77D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45059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C77D11"/>
                </a:solidFill>
                <a:latin typeface="Arial"/>
                <a:ea typeface="Meiryo"/>
              </a:rPr>
              <a:t>FR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081527"/>
            <a:ext cx="274320" cy="896112"/>
          </a:xfrm>
          <a:prstGeom prst="roundRect">
            <a:avLst>
              <a:gd name="adj" fmla="val 18000"/>
            </a:avLst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88035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488C2"/>
                </a:solidFill>
                <a:latin typeface="Arial"/>
                <a:ea typeface="Meiryo"/>
              </a:rPr>
              <a:t>7-8X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3374135"/>
            <a:ext cx="274320" cy="603504"/>
          </a:xfrm>
          <a:prstGeom prst="roundRect">
            <a:avLst>
              <a:gd name="adj" fmla="val 18000"/>
            </a:avLst>
          </a:prstGeom>
          <a:solidFill>
            <a:srgbClr val="566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65960" y="3447287"/>
            <a:ext cx="274320" cy="530352"/>
          </a:xfrm>
          <a:prstGeom prst="roundRect">
            <a:avLst>
              <a:gd name="adj" fmla="val 18000"/>
            </a:avLst>
          </a:prstGeom>
          <a:solidFill>
            <a:srgbClr val="566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331720" y="3630168"/>
            <a:ext cx="274320" cy="347472"/>
          </a:xfrm>
          <a:prstGeom prst="roundRect">
            <a:avLst>
              <a:gd name="adj" fmla="val 18000"/>
            </a:avLst>
          </a:prstGeom>
          <a:solidFill>
            <a:srgbClr val="7C8A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97479" y="37033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7C8A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63239" y="3776472"/>
            <a:ext cx="274320" cy="201168"/>
          </a:xfrm>
          <a:prstGeom prst="roundRect">
            <a:avLst>
              <a:gd name="adj" fmla="val 18000"/>
            </a:avLst>
          </a:prstGeom>
          <a:solidFill>
            <a:srgbClr val="7C8A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28999" y="3831335"/>
            <a:ext cx="274320" cy="146304"/>
          </a:xfrm>
          <a:prstGeom prst="roundRect">
            <a:avLst>
              <a:gd name="adj" fmla="val 18000"/>
            </a:avLst>
          </a:prstGeom>
          <a:solidFill>
            <a:srgbClr val="7C8A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94759" y="3867911"/>
            <a:ext cx="274320" cy="109728"/>
          </a:xfrm>
          <a:prstGeom prst="roundRect">
            <a:avLst>
              <a:gd name="adj" fmla="val 18000"/>
            </a:avLst>
          </a:prstGeom>
          <a:solidFill>
            <a:srgbClr val="7C8A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60520" y="3904487"/>
            <a:ext cx="274320" cy="73152"/>
          </a:xfrm>
          <a:prstGeom prst="roundRect">
            <a:avLst>
              <a:gd name="adj" fmla="val 18000"/>
            </a:avLst>
          </a:prstGeom>
          <a:solidFill>
            <a:srgbClr val="7C8A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00507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突出1本（Solafune＝FR）が回収の大半を作る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1993392"/>
            <a:ext cx="3703320" cy="221284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2352" y="212140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ファンドリターナーの4条件（Solafune＝全○）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2450592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11"/>
                </a:solidFill>
                <a:latin typeface="Arial"/>
                <a:ea typeface="Meiryo"/>
              </a:rPr>
              <a:t>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2450592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1社で150億超のポジションが射程（高い天井）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2352" y="2852928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11"/>
                </a:solidFill>
                <a:latin typeface="Arial"/>
                <a:ea typeface="Meiryo"/>
              </a:rPr>
              <a:t>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2852928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シード〜Aでリードしエグジット持分10〜12%確保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3255264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11"/>
                </a:solidFill>
                <a:latin typeface="Arial"/>
                <a:ea typeface="Meiryo"/>
              </a:rPr>
              <a:t>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255264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日本のIPOか国内プライム・商社M&amp;Aで回収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2352" y="3657600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11"/>
                </a:solidFill>
                <a:latin typeface="Arial"/>
                <a:ea typeface="Meiryo"/>
              </a:rPr>
              <a:t>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3657600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センサー非依存の解析レイヤーという自社エッジ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334256"/>
            <a:ext cx="8046720" cy="457200"/>
          </a:xfrm>
          <a:prstGeom prst="roundRect">
            <a:avLst>
              <a:gd name="adj" fmla="val 12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334256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77D11"/>
                </a:solidFill>
                <a:latin typeface="Arial"/>
                <a:ea typeface="Meiryo"/>
              </a:rPr>
              <a:t>我々の付加価値（＝当たり馬を勝たせる）：</a:t>
            </a:r>
            <a:r>
              <a:rPr sz="1050" b="1">
                <a:solidFill>
                  <a:srgbClr val="16263F"/>
                </a:solidFill>
                <a:latin typeface="Arial"/>
                <a:ea typeface="Meiryo"/>
              </a:rPr>
              <a:t>取締役就任／120カ国コミュニティ／政府リレーション／フォローオン　＝</a:t>
            </a:r>
            <a:r>
              <a:rPr sz="1050" b="1">
                <a:solidFill>
                  <a:srgbClr val="1488C2"/>
                </a:solidFill>
                <a:latin typeface="Arial"/>
                <a:ea typeface="Meiryo"/>
              </a:rPr>
              <a:t>起業家&gt;投資家で伴走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→詳細：AP9（FR4条件・付加価値4点・deal access4点の根拠）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6263F"/>
                </a:solidFill>
                <a:latin typeface="Arial"/>
                <a:ea typeface="Meiryo"/>
              </a:rPr>
              <a:t>数字で語るファンドの骨格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150億・集中10社・初回5.5億で持分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約15%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、狙うはネット</a:t>
            </a:r>
            <a:r>
              <a:rPr sz="1350" b="1">
                <a:solidFill>
                  <a:srgbClr val="1488C2"/>
                </a:solidFill>
                <a:latin typeface="Arial"/>
                <a:ea typeface="Meiryo"/>
              </a:rPr>
              <a:t>DPI 3.0X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139696"/>
            <a:ext cx="22128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88C2"/>
                </a:solidFill>
                <a:latin typeface="Arial"/>
                <a:ea typeface="Meiryo"/>
              </a:rPr>
              <a:t>¥150億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688336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ファンド総額（3号）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27832" y="1993392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2424" y="2139696"/>
            <a:ext cx="22128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77D11"/>
                </a:solidFill>
                <a:latin typeface="Arial"/>
                <a:ea typeface="Meiryo"/>
              </a:rPr>
              <a:t>3.0X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2424" y="2688336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目標ネットDPI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7024" y="1993392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71616" y="2139696"/>
            <a:ext cx="22128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88C2"/>
                </a:solidFill>
                <a:latin typeface="Arial"/>
                <a:ea typeface="Meiryo"/>
              </a:rPr>
              <a:t>10–12社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71616" y="2688336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集中ポートフォリオ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82112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328416"/>
            <a:ext cx="22128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77D11"/>
                </a:solidFill>
                <a:latin typeface="Arial"/>
                <a:ea typeface="Meiryo"/>
              </a:rPr>
              <a:t>約15%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877056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エントリー持分（リード）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27832" y="3182112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92424" y="3328416"/>
            <a:ext cx="22128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88C2"/>
                </a:solidFill>
                <a:latin typeface="Arial"/>
                <a:ea typeface="Meiryo"/>
              </a:rPr>
              <a:t>2 / 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3877056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管理報酬 / 成功報酬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3182112"/>
            <a:ext cx="2542032" cy="107899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1616" y="3328416"/>
            <a:ext cx="22128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77D11"/>
                </a:solidFill>
                <a:latin typeface="Arial"/>
                <a:ea typeface="Meiryo"/>
              </a:rPr>
              <a:t>10年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1616" y="3877056"/>
            <a:ext cx="22128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運用期間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407408"/>
            <a:ext cx="8046720" cy="475488"/>
          </a:xfrm>
          <a:prstGeom prst="roundRect">
            <a:avLst>
              <a:gd name="adj" fmla="val 12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407408"/>
            <a:ext cx="75895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6627A"/>
                </a:solidFill>
                <a:latin typeface="Arial"/>
                <a:ea typeface="Meiryo"/>
              </a:rPr>
              <a:t>算数：初回5.5億 ÷ 投資後36.5億（Pre 31＋5.5）＝ </a:t>
            </a:r>
            <a:r>
              <a:rPr sz="1200" b="1">
                <a:solidFill>
                  <a:srgbClr val="C77D11"/>
                </a:solidFill>
                <a:latin typeface="Arial"/>
                <a:ea typeface="Meiryo"/>
              </a:rPr>
              <a:t>約15%</a:t>
            </a:r>
            <a:r>
              <a:rPr sz="1200" b="0">
                <a:solidFill>
                  <a:srgbClr val="56627A"/>
                </a:solidFill>
                <a:latin typeface="Arial"/>
                <a:ea typeface="Meiryo"/>
              </a:rPr>
              <a:t>。持分はチケット増でなくPre交渉で確保。チーム </a:t>
            </a:r>
            <a:r>
              <a:rPr sz="1200" b="1">
                <a:solidFill>
                  <a:srgbClr val="16263F"/>
                </a:solidFill>
                <a:latin typeface="Arial"/>
                <a:ea typeface="Meiryo"/>
              </a:rPr>
              <a:t>GP2＋アソシ2＋クリアランス保持</a:t>
            </a:r>
            <a:r>
              <a:rPr sz="1200" b="0">
                <a:solidFill>
                  <a:srgbClr val="56627A"/>
                </a:solidFill>
                <a:latin typeface="Arial"/>
                <a:ea typeface="Meiryo"/>
              </a:rPr>
              <a:t>＝件数の天井10〜12社。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→詳細：AP4（LP構成40/30/30の合意ロジック・件数算術・Pre逆算）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6263F"/>
                </a:solidFill>
                <a:latin typeface="Arial"/>
                <a:ea typeface="Meiryo"/>
              </a:rPr>
              <a:t>なぜ今なのか ― 2026年、制度が動いた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追い風は気分じゃない。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輸出緩和・ファストパス・前払い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で、市場と参入条件が構造的に変わった。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542032" cy="148132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542032" cy="73152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6263F"/>
                </a:solidFill>
                <a:latin typeface="Arial"/>
                <a:ea typeface="Meiryo"/>
              </a:rPr>
              <a:t>① 輸出ルール緩和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42032"/>
            <a:ext cx="21579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協定国へ防衛装備の移転可。同志国市場が開く＝数が出て単価が下がる（量産効果）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2403" y="1920240"/>
            <a:ext cx="2542032" cy="148132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32403" y="1920240"/>
            <a:ext cx="2542032" cy="73152"/>
          </a:xfrm>
          <a:prstGeom prst="rect">
            <a:avLst/>
          </a:prstGeom>
          <a:solidFill>
            <a:srgbClr val="C77D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5284" y="210312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6263F"/>
                </a:solidFill>
                <a:latin typeface="Arial"/>
                <a:ea typeface="Meiryo"/>
              </a:rPr>
              <a:t>② ファストパス調達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5284" y="2542032"/>
            <a:ext cx="21579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公募〜契約が約3.5か月（従来は1年超）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16167" y="1920240"/>
            <a:ext cx="2542032" cy="148132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16167" y="1920240"/>
            <a:ext cx="2542032" cy="73152"/>
          </a:xfrm>
          <a:prstGeom prst="rect">
            <a:avLst/>
          </a:prstGeom>
          <a:solidFill>
            <a:srgbClr val="6E5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9047" y="210312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6263F"/>
                </a:solidFill>
                <a:latin typeface="Arial"/>
                <a:ea typeface="Meiryo"/>
              </a:rPr>
              <a:t>③ 前払い・部分払い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9047" y="2542032"/>
            <a:ext cx="21579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ディープテックの「死の谷」を浅くする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84448"/>
            <a:ext cx="8046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帰結＝民→官のデュアルユースが成立しやすい構造に。公的需要も実在：</a:t>
            </a:r>
            <a:r>
              <a:rPr sz="1100" b="1">
                <a:solidFill>
                  <a:srgbClr val="16263F"/>
                </a:solidFill>
                <a:latin typeface="Arial"/>
                <a:ea typeface="Meiryo"/>
              </a:rPr>
              <a:t>防衛費8.7兆／宇宙戦略基金10年1兆／衛星コンステPFI 2,832億。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78224"/>
            <a:ext cx="8046720" cy="566928"/>
          </a:xfrm>
          <a:prstGeom prst="roundRect">
            <a:avLst>
              <a:gd name="adj" fmla="val 10000"/>
            </a:avLst>
          </a:prstGeom>
          <a:solidFill>
            <a:srgbClr val="FCE9ED"/>
          </a:solidFill>
          <a:ln w="12700">
            <a:solidFill>
              <a:srgbClr val="DC3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4078224"/>
            <a:ext cx="7589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C3B52"/>
                </a:solidFill>
                <a:latin typeface="Arial"/>
                <a:ea typeface="Meiryo"/>
              </a:rPr>
              <a:t>ボス：「日本は輸出できないでしょ」　</a:t>
            </a:r>
            <a:r>
              <a:rPr sz="1200" b="1">
                <a:solidFill>
                  <a:srgbClr val="16263F"/>
                </a:solidFill>
                <a:latin typeface="Arial"/>
                <a:ea typeface="Meiryo"/>
              </a:rPr>
              <a:t>→ 2026年4月に変わりました。戦闘中の国は除外、歯止めとセットです。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出典：01前提パック §6 ／ →詳細：AP6（公的需要プールの金額：防衛費8.7兆／PFI2,831億／基金1兆 ほか）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6263F"/>
                </a:solidFill>
                <a:latin typeface="Arial"/>
                <a:ea typeface="Meiryo"/>
              </a:rPr>
              <a:t>Solafune ― 地球を読むOS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衛星画像・公開情報・通信という様々な“目”を束ねるAI＝</a:t>
            </a:r>
            <a:r>
              <a:rPr sz="1350" b="1">
                <a:solidFill>
                  <a:srgbClr val="1488C2"/>
                </a:solidFill>
                <a:latin typeface="Arial"/>
                <a:ea typeface="Meiryo"/>
              </a:rPr>
              <a:t>Planetary Intelligence 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29968"/>
            <a:ext cx="2011680" cy="585216"/>
          </a:xfrm>
          <a:prstGeom prst="roundRect">
            <a:avLst>
              <a:gd name="adj" fmla="val 14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665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GEOINT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59152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衛星・地理空間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06624"/>
            <a:ext cx="2011680" cy="585216"/>
          </a:xfrm>
          <a:prstGeom prst="roundRect">
            <a:avLst>
              <a:gd name="adj" fmla="val 14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OSINT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3580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公開情報・Web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83280"/>
            <a:ext cx="2011680" cy="585216"/>
          </a:xfrm>
          <a:prstGeom prst="roundRect">
            <a:avLst>
              <a:gd name="adj" fmla="val 14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4198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SIGINT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通信・電波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0360" y="2139696"/>
            <a:ext cx="1783080" cy="1627632"/>
          </a:xfrm>
          <a:prstGeom prst="roundRect">
            <a:avLst>
              <a:gd name="adj" fmla="val 50000"/>
            </a:avLst>
          </a:prstGeom>
          <a:solidFill>
            <a:srgbClr val="0E2A52"/>
          </a:solidFill>
          <a:ln w="12700">
            <a:solidFill>
              <a:srgbClr val="1488C2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360" y="2340864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AF1FF"/>
                </a:solidFill>
                <a:latin typeface="Arial"/>
                <a:ea typeface="Meiryo"/>
              </a:rPr>
              <a:t>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706624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5BC8FF"/>
                </a:solidFill>
                <a:latin typeface="Arial"/>
                <a:ea typeface="Meiryo"/>
              </a:rPr>
              <a:t>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83480" y="2029968"/>
            <a:ext cx="3611880" cy="585216"/>
          </a:xfrm>
          <a:prstGeom prst="roundRect">
            <a:avLst>
              <a:gd name="adj" fmla="val 14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029968"/>
            <a:ext cx="324612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488C2"/>
                </a:solidFill>
                <a:latin typeface="Arial"/>
                <a:ea typeface="Meiryo"/>
              </a:rPr>
              <a:t>▸ </a:t>
            </a: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重要鉱物の探査・違法採掘モニタリング（SHIGEN AI）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83480" y="2706624"/>
            <a:ext cx="3611880" cy="585216"/>
          </a:xfrm>
          <a:prstGeom prst="roundRect">
            <a:avLst>
              <a:gd name="adj" fmla="val 14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2706624"/>
            <a:ext cx="324612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488C2"/>
                </a:solidFill>
                <a:latin typeface="Arial"/>
                <a:ea typeface="Meiryo"/>
              </a:rPr>
              <a:t>▸ </a:t>
            </a: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防衛省・警察庁・内閣府 ＋ アフリカ諸国・国連機関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3480" y="3383280"/>
            <a:ext cx="3611880" cy="585216"/>
          </a:xfrm>
          <a:prstGeom prst="roundRect">
            <a:avLst>
              <a:gd name="adj" fmla="val 14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383280"/>
            <a:ext cx="324612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488C2"/>
                </a:solidFill>
                <a:latin typeface="Arial"/>
                <a:ea typeface="Meiryo"/>
              </a:rPr>
              <a:t>▸ </a:t>
            </a: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120カ国超の開発者コミュニティが解析を供給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14800"/>
            <a:ext cx="8046720" cy="512064"/>
          </a:xfrm>
          <a:prstGeom prst="roundRect">
            <a:avLst>
              <a:gd name="adj" fmla="val 12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114800"/>
            <a:ext cx="75895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488C2"/>
                </a:solidFill>
                <a:latin typeface="Arial"/>
                <a:ea typeface="Meiryo"/>
              </a:rPr>
              <a:t>moat：</a:t>
            </a:r>
            <a:r>
              <a:rPr sz="1050" b="0">
                <a:solidFill>
                  <a:srgbClr val="16263F"/>
                </a:solidFill>
                <a:latin typeface="Arial"/>
                <a:ea typeface="Meiryo"/>
              </a:rPr>
              <a:t>①センサー非依存のマルチソース解析　②120カ国コミュニティ　③政府・国際機関リレーション　④自然言語UI</a:t>
            </a: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　→ 資本効率高く二桁持分を保ちやすい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→詳細：AP5（moat4点の反証条件・受注/MoU実績）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6263F"/>
                </a:solidFill>
                <a:latin typeface="Arial"/>
                <a:ea typeface="Meiryo"/>
              </a:rPr>
              <a:t>“誰に・いくらで・何件”で積む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2032年SOM 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約101億円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 は、Exit逆算の必要売上 約88億と一致＝市場と財務が一本の線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510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88C2"/>
                </a:solidFill>
                <a:latin typeface="Arial"/>
                <a:ea typeface="Meiryo"/>
              </a:rPr>
              <a:t>2030年 SOM 積み上げ ＝ 85億円 / 38件（TAM：GeoAI 2030年629億ドル）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2803442" cy="420624"/>
          </a:xfrm>
          <a:prstGeom prst="roundRect">
            <a:avLst>
              <a:gd name="adj" fmla="val 10000"/>
            </a:avLst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280344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Arial"/>
                <a:ea typeface="Meiryo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8658" y="2286000"/>
            <a:ext cx="1383433" cy="420624"/>
          </a:xfrm>
          <a:prstGeom prst="roundRect">
            <a:avLst>
              <a:gd name="adj" fmla="val 10000"/>
            </a:avLst>
          </a:prstGeom>
          <a:solidFill>
            <a:srgbClr val="6E5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658" y="2286000"/>
            <a:ext cx="138343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Arial"/>
                <a:ea typeface="Meiryo"/>
              </a:rPr>
              <a:t>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8668" y="2286000"/>
            <a:ext cx="531427" cy="420624"/>
          </a:xfrm>
          <a:prstGeom prst="roundRect">
            <a:avLst>
              <a:gd name="adj" fmla="val 10000"/>
            </a:avLst>
          </a:prstGeom>
          <a:solidFill>
            <a:srgbClr val="566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8668" y="2286000"/>
            <a:ext cx="53142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Arial"/>
                <a:ea typeface="Meiryo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76672" y="2286000"/>
            <a:ext cx="1288766" cy="420624"/>
          </a:xfrm>
          <a:prstGeom prst="roundRect">
            <a:avLst>
              <a:gd name="adj" fmla="val 10000"/>
            </a:avLst>
          </a:prstGeom>
          <a:solidFill>
            <a:srgbClr val="C77D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76672" y="2286000"/>
            <a:ext cx="128876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Arial"/>
                <a:ea typeface="Meiryo"/>
              </a:rPr>
              <a:t>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2014" y="2286000"/>
            <a:ext cx="1856769" cy="420624"/>
          </a:xfrm>
          <a:prstGeom prst="roundRect">
            <a:avLst>
              <a:gd name="adj" fmla="val 10000"/>
            </a:avLst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2014" y="2286000"/>
            <a:ext cx="185676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Arial"/>
                <a:ea typeface="Meiryo"/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907792"/>
            <a:ext cx="1499616" cy="96012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907792"/>
            <a:ext cx="1499616" cy="6400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03580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63F"/>
                </a:solidFill>
                <a:latin typeface="Arial"/>
                <a:ea typeface="Meiryo"/>
              </a:rPr>
              <a:t>A 日本政府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346704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56627A"/>
                </a:solidFill>
                <a:latin typeface="Arial"/>
                <a:ea typeface="Meiryo"/>
              </a:rPr>
              <a:t>12件×2.5億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62102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88C2"/>
                </a:solidFill>
                <a:latin typeface="Arial"/>
                <a:ea typeface="Meiryo"/>
              </a:rPr>
              <a:t>¥30億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03120" y="2907792"/>
            <a:ext cx="1499616" cy="96012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03120" y="2907792"/>
            <a:ext cx="1499616" cy="64008"/>
          </a:xfrm>
          <a:prstGeom prst="rect">
            <a:avLst/>
          </a:prstGeom>
          <a:solidFill>
            <a:srgbClr val="6E5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12848" y="303580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63F"/>
                </a:solidFill>
                <a:latin typeface="Arial"/>
                <a:ea typeface="Meiryo"/>
              </a:rPr>
              <a:t>B 宇宙基金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3346704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56627A"/>
                </a:solidFill>
                <a:latin typeface="Arial"/>
                <a:ea typeface="Meiryo"/>
              </a:rPr>
              <a:t>5件×3億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12848" y="362102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6E5AD9"/>
                </a:solidFill>
                <a:latin typeface="Arial"/>
                <a:ea typeface="Meiryo"/>
              </a:rPr>
              <a:t>¥15億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0" y="2907792"/>
            <a:ext cx="1499616" cy="96012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0" y="2907792"/>
            <a:ext cx="1499616" cy="64008"/>
          </a:xfrm>
          <a:prstGeom prst="rect">
            <a:avLst/>
          </a:prstGeom>
          <a:solidFill>
            <a:srgbClr val="566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67328" y="303580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63F"/>
                </a:solidFill>
                <a:latin typeface="Arial"/>
                <a:ea typeface="Meiryo"/>
              </a:rPr>
              <a:t>C 同志国MoU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67328" y="3346704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56627A"/>
                </a:solidFill>
                <a:latin typeface="Arial"/>
                <a:ea typeface="Meiryo"/>
              </a:rPr>
              <a:t>8×50%×1.5億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7328" y="362102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6627A"/>
                </a:solidFill>
                <a:latin typeface="Arial"/>
                <a:ea typeface="Meiryo"/>
              </a:rPr>
              <a:t>¥6億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212080" y="2907792"/>
            <a:ext cx="1499616" cy="96012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212080" y="2907792"/>
            <a:ext cx="1499616" cy="64008"/>
          </a:xfrm>
          <a:prstGeom prst="rect">
            <a:avLst/>
          </a:prstGeom>
          <a:solidFill>
            <a:srgbClr val="C77D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21808" y="303580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63F"/>
                </a:solidFill>
                <a:latin typeface="Arial"/>
                <a:ea typeface="Meiryo"/>
              </a:rPr>
              <a:t>D 経済安保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808" y="3346704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56627A"/>
                </a:solidFill>
                <a:latin typeface="Arial"/>
                <a:ea typeface="Meiryo"/>
              </a:rPr>
              <a:t>SHIGEN 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21808" y="362102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C77D11"/>
                </a:solidFill>
                <a:latin typeface="Arial"/>
                <a:ea typeface="Meiryo"/>
              </a:rPr>
              <a:t>¥14億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66560" y="2907792"/>
            <a:ext cx="1499616" cy="96012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766560" y="2907792"/>
            <a:ext cx="1499616" cy="6400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76288" y="303580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63F"/>
                </a:solidFill>
                <a:latin typeface="Arial"/>
                <a:ea typeface="Meiryo"/>
              </a:rPr>
              <a:t>E 民間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3346704"/>
            <a:ext cx="1316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56627A"/>
                </a:solidFill>
                <a:latin typeface="Arial"/>
                <a:ea typeface="Meiryo"/>
              </a:rPr>
              <a:t>資源・インフラ監視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362102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88C2"/>
                </a:solidFill>
                <a:latin typeface="Arial"/>
                <a:ea typeface="Meiryo"/>
              </a:rPr>
              <a:t>¥20億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023360"/>
            <a:ext cx="8046720" cy="566928"/>
          </a:xfrm>
          <a:prstGeom prst="roundRect">
            <a:avLst>
              <a:gd name="adj" fmla="val 12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" y="4023360"/>
            <a:ext cx="7589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6627A"/>
                </a:solidFill>
                <a:latin typeface="Arial"/>
                <a:ea typeface="Meiryo"/>
              </a:rPr>
              <a:t>2030年 </a:t>
            </a:r>
            <a:r>
              <a:rPr sz="1200" b="1">
                <a:solidFill>
                  <a:srgbClr val="16263F"/>
                </a:solidFill>
                <a:latin typeface="Arial"/>
                <a:ea typeface="Meiryo"/>
              </a:rPr>
              <a:t>85億/38件</a:t>
            </a:r>
            <a:r>
              <a:rPr sz="1200" b="0">
                <a:solidFill>
                  <a:srgbClr val="56627A"/>
                </a:solidFill>
                <a:latin typeface="Arial"/>
                <a:ea typeface="Meiryo"/>
              </a:rPr>
              <a:t> → 2032年 </a:t>
            </a:r>
            <a:r>
              <a:rPr sz="1200" b="1">
                <a:solidFill>
                  <a:srgbClr val="C77D11"/>
                </a:solidFill>
                <a:latin typeface="Arial"/>
                <a:ea typeface="Meiryo"/>
              </a:rPr>
              <a:t>101億/46件</a:t>
            </a: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。シェア仮定なし、単価×件数の積み上げ［C転換率が最も要実証］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出典：01前提パック §2-3 ／ →詳細：AP2（TAMレイヤー・SAM充当率・SOM5セグメント表・感度81〜121億）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6263F"/>
                </a:solidFill>
                <a:latin typeface="Arial"/>
                <a:ea typeface="Meiryo"/>
              </a:rPr>
              <a:t>競合の真正面でなく“その上”に立つ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ハードは大企業・ソフト/解析はスタートアップ。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Solafuneはマルチソース解析レイヤーで独自ポジション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3931920" cy="210312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2140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88C2"/>
                </a:solidFill>
                <a:latin typeface="Arial"/>
                <a:ea typeface="Meiryo"/>
              </a:rPr>
              <a:t>グローバル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87168"/>
            <a:ext cx="3520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● 防衛/解析テック：Palantir・Anduril・Helsing・Shield AI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● 防衛テックVC投資は2025年に過去最高 491億ドル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→ 解析・統合レイヤーが主戦場化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993392"/>
            <a:ext cx="3931920" cy="210312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212140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77D11"/>
                </a:solidFill>
                <a:latin typeface="Arial"/>
                <a:ea typeface="Meiryo"/>
              </a:rPr>
              <a:t>国内（＝買い手候補でもある）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487168"/>
            <a:ext cx="3520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● Synspective＝上場で1社1,500億Exitを実証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● Axelspace・iQPS・重工プライム＝M&amp;A出口の買い手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16263F"/>
                </a:solidFill>
                <a:latin typeface="Arial"/>
                <a:ea typeface="Meiryo"/>
              </a:rPr>
              <a:t>→ Solafuneは各社の“上”の解析層に乗る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87952"/>
            <a:ext cx="8046720" cy="438912"/>
          </a:xfrm>
          <a:prstGeom prst="roundRect">
            <a:avLst>
              <a:gd name="adj" fmla="val 12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187952"/>
            <a:ext cx="7589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Anduril「生産そのものに価値はない」＝</a:t>
            </a:r>
            <a:r>
              <a:rPr sz="1100" b="1">
                <a:solidFill>
                  <a:srgbClr val="16263F"/>
                </a:solidFill>
                <a:latin typeface="Arial"/>
                <a:ea typeface="Meiryo"/>
              </a:rPr>
              <a:t>Solafuneはその解析層に日本政府アンカーで先行（→論破④で回収）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→詳細：AP1（グローバル/国内compsの評価額・倍率一覧）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6263F"/>
                </a:solidFill>
                <a:latin typeface="Arial"/>
                <a:ea typeface="Meiryo"/>
              </a:rPr>
              <a:t>5年で描く成長（仮・要検証）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売上 4億→85億（CAGR約113%）×粗利 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60→72%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。KPI閾値クリアで段階投資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75104"/>
            <a:ext cx="5212080" cy="263347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88C2"/>
                </a:solidFill>
                <a:latin typeface="Arial"/>
                <a:ea typeface="Meiryo"/>
              </a:rPr>
              <a:t>売上高の推移（億円）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142769"/>
            <a:ext cx="658368" cy="81758"/>
          </a:xfrm>
          <a:prstGeom prst="roundRect">
            <a:avLst>
              <a:gd name="adj" fmla="val 18000"/>
            </a:avLst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923313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6263F"/>
                </a:solidFill>
                <a:latin typeface="Arial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61104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'26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11095" y="3979253"/>
            <a:ext cx="658368" cy="245274"/>
          </a:xfrm>
          <a:prstGeom prst="roundRect">
            <a:avLst>
              <a:gd name="adj" fmla="val 18000"/>
            </a:avLst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19655" y="3759797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6263F"/>
                </a:solidFill>
                <a:latin typeface="Arial"/>
                <a:ea typeface="Meiryo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5" y="4261104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'27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62072" y="3611342"/>
            <a:ext cx="658368" cy="613185"/>
          </a:xfrm>
          <a:prstGeom prst="roundRect">
            <a:avLst>
              <a:gd name="adj" fmla="val 18000"/>
            </a:avLst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70632" y="3391886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6263F"/>
                </a:solidFill>
                <a:latin typeface="Arial"/>
                <a:ea typeface="Meiryo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4261104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'28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13048" y="3100353"/>
            <a:ext cx="658368" cy="1124174"/>
          </a:xfrm>
          <a:prstGeom prst="roundRect">
            <a:avLst>
              <a:gd name="adj" fmla="val 18000"/>
            </a:avLst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1608" y="2880897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6263F"/>
                </a:solidFill>
                <a:latin typeface="Arial"/>
                <a:ea typeface="Meiryo"/>
              </a:rPr>
              <a:t>55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608" y="4261104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'29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64024" y="2487168"/>
            <a:ext cx="658368" cy="1737360"/>
          </a:xfrm>
          <a:prstGeom prst="roundRect">
            <a:avLst>
              <a:gd name="adj" fmla="val 18000"/>
            </a:avLst>
          </a:prstGeom>
          <a:solidFill>
            <a:srgbClr val="C77D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4" y="2267712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6263F"/>
                </a:solidFill>
                <a:latin typeface="Arial"/>
                <a:ea typeface="Meiryo"/>
              </a:rPr>
              <a:t>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2584" y="4261104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'30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33425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27A"/>
                </a:solidFill>
                <a:latin typeface="Arial"/>
                <a:ea typeface="Meiryo"/>
              </a:rPr>
              <a:t>日本政府 → 同志国 → 民間（グローバルサウス）の段階展開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89320" y="1975104"/>
            <a:ext cx="2606040" cy="82296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048256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C77D11"/>
                </a:solidFill>
                <a:latin typeface="Arial"/>
                <a:ea typeface="Meiryo"/>
              </a:rPr>
              <a:t>60% → 72%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24688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56627A"/>
                </a:solidFill>
                <a:latin typeface="Arial"/>
                <a:ea typeface="Meiryo"/>
              </a:rPr>
              <a:t>グロスマージン（ソフト/解析）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89320" y="2880360"/>
            <a:ext cx="2606040" cy="82296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2953512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88C2"/>
                </a:solidFill>
                <a:latin typeface="Arial"/>
                <a:ea typeface="Meiryo"/>
              </a:rPr>
              <a:t>¥31→36.5億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33741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56627A"/>
                </a:solidFill>
                <a:latin typeface="Arial"/>
                <a:ea typeface="Meiryo"/>
              </a:rPr>
              <a:t>投資前Pre→投資後Post-Val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3785616"/>
            <a:ext cx="2606040" cy="82296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3858768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6E5AD9"/>
                </a:solidFill>
                <a:latin typeface="Arial"/>
                <a:ea typeface="Meiryo"/>
              </a:rPr>
              <a:t>年率 約2倍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0488" y="42793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56627A"/>
                </a:solidFill>
                <a:latin typeface="Arial"/>
                <a:ea typeface="Meiryo"/>
              </a:rPr>
              <a:t>政府リカーリングのフォローKPI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出典：02財務モデル（PL/前提シート） ／ →詳細：AP2（売上セグメント内訳）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6263F"/>
                </a:solidFill>
                <a:latin typeface="Arial"/>
                <a:ea typeface="Meiryo"/>
              </a:rPr>
              <a:t>1社でファンドを返す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Exit売上101億 × </a:t>
            </a:r>
            <a:r>
              <a:rPr sz="1350" b="1">
                <a:solidFill>
                  <a:srgbClr val="1488C2"/>
                </a:solidFill>
                <a:latin typeface="Arial"/>
                <a:ea typeface="Meiryo"/>
              </a:rPr>
              <a:t>EV/Sales 17倍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 → 企業価値 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約1,717億円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（持分12%で206億）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75104"/>
            <a:ext cx="1481328" cy="102412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2984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488C2"/>
                </a:solidFill>
                <a:latin typeface="Arial"/>
                <a:ea typeface="Meiryo"/>
              </a:rPr>
              <a:t>売上 ¥101億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9689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6627A"/>
                </a:solidFill>
                <a:latin typeface="Arial"/>
                <a:ea typeface="Meiryo"/>
              </a:rPr>
              <a:t>2032E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975104"/>
            <a:ext cx="25603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7C8AA3"/>
                </a:solidFill>
                <a:latin typeface="Arial"/>
                <a:ea typeface="Meiryo"/>
              </a:rPr>
              <a:t>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1975104"/>
            <a:ext cx="1481328" cy="102412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103120"/>
            <a:ext cx="12984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56627A"/>
                </a:solidFill>
                <a:latin typeface="Arial"/>
                <a:ea typeface="Meiryo"/>
              </a:rPr>
              <a:t>× 17倍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59689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6627A"/>
                </a:solidFill>
                <a:latin typeface="Arial"/>
                <a:ea typeface="Meiryo"/>
              </a:rPr>
              <a:t>EV/Sales（保守15–18）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599" y="1975104"/>
            <a:ext cx="25603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7C8AA3"/>
                </a:solidFill>
                <a:latin typeface="Arial"/>
                <a:ea typeface="Meiryo"/>
              </a:rPr>
              <a:t>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1975104"/>
            <a:ext cx="1481328" cy="102412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2103120"/>
            <a:ext cx="12984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C77D11"/>
                </a:solidFill>
                <a:latin typeface="Arial"/>
                <a:ea typeface="Meiryo"/>
              </a:rPr>
              <a:t>¥1,717億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59689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6627A"/>
                </a:solidFill>
                <a:latin typeface="Arial"/>
                <a:ea typeface="Meiryo"/>
              </a:rPr>
              <a:t>Exit企業価値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1975104"/>
            <a:ext cx="25603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7C8AA3"/>
                </a:solidFill>
                <a:latin typeface="Arial"/>
                <a:ea typeface="Meiryo"/>
              </a:rPr>
              <a:t>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1975104"/>
            <a:ext cx="1481328" cy="102412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103120"/>
            <a:ext cx="12984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56627A"/>
                </a:solidFill>
                <a:latin typeface="Arial"/>
                <a:ea typeface="Meiryo"/>
              </a:rPr>
              <a:t>× 12%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59689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6627A"/>
                </a:solidFill>
                <a:latin typeface="Arial"/>
                <a:ea typeface="Meiryo"/>
              </a:rPr>
              <a:t>Exit持分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1975104"/>
            <a:ext cx="25603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7C8AA3"/>
                </a:solidFill>
                <a:latin typeface="Arial"/>
                <a:ea typeface="Meiryo"/>
              </a:rP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0" y="1975104"/>
            <a:ext cx="1481328" cy="102412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59" y="2103120"/>
            <a:ext cx="12984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6E5AD9"/>
                </a:solidFill>
                <a:latin typeface="Arial"/>
                <a:ea typeface="Meiryo"/>
              </a:rPr>
              <a:t>¥206億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259689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6627A"/>
                </a:solidFill>
                <a:latin typeface="Arial"/>
                <a:ea typeface="Meiryo"/>
              </a:rPr>
              <a:t>ポジション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200400"/>
            <a:ext cx="5074920" cy="141732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3284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88C2"/>
                </a:solidFill>
                <a:latin typeface="Arial"/>
                <a:ea typeface="Meiryo"/>
              </a:rPr>
              <a:t>EV/Sales 17倍の統計的導出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65760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1488C2"/>
                </a:solidFill>
                <a:latin typeface="Arial"/>
                <a:ea typeface="Meiryo"/>
              </a:rPr>
              <a:t>“国しか客になれない国産インフラ”＝普通のソフトの約1.7倍の値札</a:t>
            </a:r>
          </a:p>
          <a:p>
            <a:pPr algn="l">
              <a:lnSpc>
                <a:spcPct val="118000"/>
              </a:lnSpc>
            </a:pP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comps中央値10倍 ＋ ソフト+3／粗利+2／主権+2 ＝ </a:t>
            </a:r>
            <a:r>
              <a:rPr sz="1050" b="1">
                <a:solidFill>
                  <a:srgbClr val="C77D11"/>
                </a:solidFill>
                <a:latin typeface="Arial"/>
                <a:ea typeface="Meiryo"/>
              </a:rPr>
              <a:t>17倍</a:t>
            </a:r>
          </a:p>
          <a:p>
            <a:pPr algn="l">
              <a:lnSpc>
                <a:spcPct val="118000"/>
              </a:lnSpc>
            </a:pPr>
            <a:r>
              <a:rPr sz="1000" b="0">
                <a:solidFill>
                  <a:srgbClr val="7C8AA3"/>
                </a:solidFill>
                <a:latin typeface="Arial"/>
                <a:ea typeface="Meiryo"/>
              </a:rPr>
              <a:t>Palantirプレ20・現況60.7倍はバブルとして除外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6440" y="3200400"/>
            <a:ext cx="2788920" cy="1417320"/>
          </a:xfrm>
          <a:prstGeom prst="roundRect">
            <a:avLst>
              <a:gd name="adj" fmla="val 7000"/>
            </a:avLst>
          </a:prstGeom>
          <a:solidFill>
            <a:srgbClr val="EEF0F4"/>
          </a:solidFill>
          <a:ln w="12700">
            <a:solidFill>
              <a:srgbClr val="C77D11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16752" y="334670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77D11"/>
                </a:solidFill>
                <a:latin typeface="Arial"/>
                <a:ea typeface="Meiryo"/>
              </a:rPr>
              <a:t>ファンドリターナー成立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6752" y="3675887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6263F"/>
                </a:solidFill>
                <a:latin typeface="Arial"/>
                <a:ea typeface="Meiryo"/>
              </a:rPr>
              <a:t>¥206億</a:t>
            </a:r>
            <a:r>
              <a:rPr sz="1200" b="0">
                <a:solidFill>
                  <a:srgbClr val="56627A"/>
                </a:solidFill>
                <a:latin typeface="Arial"/>
                <a:ea typeface="Meiryo"/>
              </a:rPr>
              <a:t> ÷ ¥150億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6752" y="4169663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＝ 対ファンド </a:t>
            </a:r>
            <a:r>
              <a:rPr sz="1300" b="1">
                <a:solidFill>
                  <a:srgbClr val="1488C2"/>
                </a:solidFill>
                <a:latin typeface="Arial"/>
                <a:ea typeface="Meiryo"/>
              </a:rPr>
              <a:t>1.37X</a:t>
            </a: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／総コミMOIC </a:t>
            </a:r>
            <a:r>
              <a:rPr sz="1300" b="1">
                <a:solidFill>
                  <a:srgbClr val="C77D11"/>
                </a:solidFill>
                <a:latin typeface="Arial"/>
                <a:ea typeface="Meiryo"/>
              </a:rPr>
              <a:t>12.5X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出典：01 §5・02 ／ →詳細：AP1（採用群5社の倍率・統計・要因分解+3/+2/+2・バブル除外根拠）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6263F"/>
                </a:solidFill>
                <a:latin typeface="Arial"/>
                <a:ea typeface="Meiryo"/>
              </a:rPr>
              <a:t>「EV/Sales 17倍って、あなたの感想ですよね？」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8046720" cy="603504"/>
          </a:xfrm>
          <a:prstGeom prst="roundRect">
            <a:avLst>
              <a:gd name="adj" fmla="val 12000"/>
            </a:avLst>
          </a:prstGeom>
          <a:solidFill>
            <a:srgbClr val="FCE9ED"/>
          </a:solidFill>
          <a:ln w="15875">
            <a:solidFill>
              <a:srgbClr val="DC3B52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188720"/>
            <a:ext cx="76809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DC3B52"/>
                </a:solidFill>
                <a:latin typeface="Arial"/>
                <a:ea typeface="Meiryo"/>
              </a:rPr>
              <a:t>ボス：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その17倍、なんかそういうデータあるんですか？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01952"/>
            <a:ext cx="8046720" cy="548640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64008" cy="54864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7635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感想じゃなく統計です。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comps中央値10倍＋要因分解(+7)、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Palantirバブルは除外済み。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96896"/>
            <a:ext cx="8046720" cy="162763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743200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56627A"/>
                </a:solidFill>
                <a:latin typeface="Arial"/>
                <a:ea typeface="Meiryo"/>
              </a:rPr>
              <a:t>● 採用群 {Planet6・Synspective7・BlackSky10・Anduril14・Palantirプレ20} → 中央値10倍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127248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56627A"/>
                </a:solidFill>
                <a:latin typeface="Arial"/>
                <a:ea typeface="Meiryo"/>
              </a:rPr>
              <a:t>● 上乗せ+7倍＝ソフト比率+3／粗利優位+2／主権的信認+2 ＝ </a:t>
            </a:r>
            <a:r>
              <a:rPr sz="1150" b="1">
                <a:solidFill>
                  <a:srgbClr val="C77D11"/>
                </a:solidFill>
                <a:latin typeface="Arial"/>
                <a:ea typeface="Meiryo"/>
              </a:rPr>
              <a:t>17倍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511296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56627A"/>
                </a:solidFill>
                <a:latin typeface="Arial"/>
                <a:ea typeface="Meiryo"/>
              </a:rPr>
              <a:t>● Palantir現況60.7倍はバブル局面として明示除外（だから保守でも15〜18倍）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895344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7C8AA3"/>
                </a:solidFill>
                <a:latin typeface="Arial"/>
                <a:ea typeface="Meiryo"/>
              </a:rPr>
              <a:t>● 中央値10倍まで縮んでも、1社で元本の約8割を回収＝壊れない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88C2"/>
                </a:solidFill>
                <a:latin typeface="Arial"/>
                <a:ea typeface="Meiryo"/>
              </a:rPr>
              <a:t>論破返し成功 ▶ </a:t>
            </a:r>
            <a:r>
              <a:rPr sz="1200" b="1">
                <a:solidFill>
                  <a:srgbClr val="16263F"/>
                </a:solidFill>
                <a:latin typeface="Arial"/>
                <a:ea typeface="Meiryo"/>
              </a:rPr>
              <a:t>ボスHP −1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431596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7C8AA3"/>
                </a:solidFill>
                <a:latin typeface="Arial"/>
                <a:ea typeface="Meiryo"/>
              </a:rPr>
              <a:t>BOSS HP </a:t>
            </a:r>
            <a:r>
              <a:rPr sz="1100" b="1">
                <a:solidFill>
                  <a:srgbClr val="DC3B52"/>
                </a:solidFill>
                <a:latin typeface="Arial"/>
                <a:ea typeface="Meiryo"/>
              </a:rPr>
              <a:t>3/4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59" y="4334256"/>
            <a:ext cx="310896" cy="164592"/>
          </a:xfrm>
          <a:prstGeom prst="rect">
            <a:avLst/>
          </a:prstGeom>
          <a:solidFill>
            <a:srgbClr val="C7D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6096" y="4334256"/>
            <a:ext cx="310896" cy="164592"/>
          </a:xfrm>
          <a:prstGeom prst="rect">
            <a:avLst/>
          </a:prstGeom>
          <a:solidFill>
            <a:srgbClr val="D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4334256"/>
            <a:ext cx="310896" cy="164592"/>
          </a:xfrm>
          <a:prstGeom prst="rect">
            <a:avLst/>
          </a:prstGeom>
          <a:solidFill>
            <a:srgbClr val="D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30767" y="4334256"/>
            <a:ext cx="310896" cy="164592"/>
          </a:xfrm>
          <a:prstGeom prst="rect">
            <a:avLst/>
          </a:prstGeom>
          <a:solidFill>
            <a:srgbClr val="D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→詳細：AP1（採用群5社・要因分解+3/+2/+2・感度12〜20倍）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6263F"/>
                </a:solidFill>
                <a:latin typeface="Arial"/>
                <a:ea typeface="Meiryo"/>
              </a:rPr>
              <a:t>逆算が閉じる ― Solafune206億で回収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ESの逆算がここで閉じる ＝ 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3.0X←206億←1,717億←17倍←売上101億≒SOM←seed15%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（飛躍ゼロ）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2788920" cy="1783080"/>
          </a:xfrm>
          <a:prstGeom prst="roundRect">
            <a:avLst>
              <a:gd name="adj" fmla="val 7000"/>
            </a:avLst>
          </a:prstGeom>
          <a:solidFill>
            <a:srgbClr val="EEF0F4"/>
          </a:solidFill>
          <a:ln w="12700">
            <a:solidFill>
              <a:srgbClr val="C77D11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49424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6263F"/>
                </a:solidFill>
                <a:latin typeface="Arial"/>
                <a:ea typeface="Meiryo"/>
              </a:rPr>
              <a:t>¥206億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5409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総コミット16.5億→</a:t>
            </a:r>
            <a:r>
              <a:rPr sz="1100" b="1">
                <a:solidFill>
                  <a:srgbClr val="C77D11"/>
                </a:solidFill>
                <a:latin typeface="Arial"/>
                <a:ea typeface="Meiryo"/>
              </a:rPr>
              <a:t>MOIC 12.5X</a:t>
            </a:r>
            <a:r>
              <a:rPr sz="1050" b="0">
                <a:solidFill>
                  <a:srgbClr val="56627A"/>
                </a:solidFill>
                <a:latin typeface="Arial"/>
                <a:ea typeface="Meiryo"/>
              </a:rPr>
              <a:t>／対ファンド </a:t>
            </a: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1.37X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993392"/>
            <a:ext cx="5074920" cy="45720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993392"/>
            <a:ext cx="64008" cy="457200"/>
          </a:xfrm>
          <a:prstGeom prst="rect">
            <a:avLst/>
          </a:prstGeom>
          <a:solidFill>
            <a:srgbClr val="C77D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19933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63F"/>
                </a:solidFill>
                <a:latin typeface="Arial"/>
                <a:ea typeface="Meiryo"/>
              </a:rPr>
              <a:t>Solafune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1993392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6627A"/>
                </a:solidFill>
                <a:latin typeface="Arial"/>
                <a:ea typeface="Meiryo"/>
              </a:rPr>
              <a:t>★唯一のFR（突出1本）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993392"/>
            <a:ext cx="868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¥206億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2505456"/>
            <a:ext cx="5074920" cy="45720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20440" y="2505456"/>
            <a:ext cx="64008" cy="457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250545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63F"/>
                </a:solidFill>
                <a:latin typeface="Arial"/>
                <a:ea typeface="Meiryo"/>
              </a:rPr>
              <a:t>Humanity Brain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505456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6627A"/>
                </a:solidFill>
                <a:latin typeface="Arial"/>
                <a:ea typeface="Meiryo"/>
              </a:rPr>
              <a:t>勝ち馬B：実在候補8X（→論破③）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505456"/>
            <a:ext cx="868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50" b="1">
                <a:solidFill>
                  <a:srgbClr val="1488C2"/>
                </a:solidFill>
                <a:latin typeface="Arial"/>
                <a:ea typeface="Meiryo"/>
              </a:rPr>
              <a:t>¥136億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3017520"/>
            <a:ext cx="5074920" cy="45720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20440" y="3017520"/>
            <a:ext cx="64008" cy="457200"/>
          </a:xfrm>
          <a:prstGeom prst="rect">
            <a:avLst/>
          </a:prstGeom>
          <a:solidFill>
            <a:srgbClr val="566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30175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63F"/>
                </a:solidFill>
                <a:latin typeface="Arial"/>
                <a:ea typeface="Meiryo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30175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6627A"/>
                </a:solidFill>
                <a:latin typeface="Arial"/>
                <a:ea typeface="Meiryo"/>
              </a:rPr>
              <a:t>中堅勝ち4.9X → ここで崖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017520"/>
            <a:ext cx="868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50" b="1">
                <a:solidFill>
                  <a:srgbClr val="56627A"/>
                </a:solidFill>
                <a:latin typeface="Arial"/>
                <a:ea typeface="Meiryo"/>
              </a:rPr>
              <a:t>¥84億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40" y="3529584"/>
            <a:ext cx="5074920" cy="45720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20440" y="3529584"/>
            <a:ext cx="64008" cy="457200"/>
          </a:xfrm>
          <a:prstGeom prst="rect">
            <a:avLst/>
          </a:prstGeom>
          <a:solidFill>
            <a:srgbClr val="7C8A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3320" y="35295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63F"/>
                </a:solidFill>
                <a:latin typeface="Arial"/>
                <a:ea typeface="Meiryo"/>
              </a:rPr>
              <a:t>D–J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3529584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6627A"/>
                </a:solidFill>
                <a:latin typeface="Arial"/>
                <a:ea typeface="Meiryo"/>
              </a:rPr>
              <a:t>2X以下に急減・大半0-1Xの薄い裾7社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529584"/>
            <a:ext cx="868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50" b="1">
                <a:solidFill>
                  <a:srgbClr val="7C8AA3"/>
                </a:solidFill>
                <a:latin typeface="Arial"/>
                <a:ea typeface="Meiryo"/>
              </a:rPr>
              <a:t>¥98億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078224"/>
            <a:ext cx="2633472" cy="64008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114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88C2"/>
                </a:solidFill>
                <a:latin typeface="Arial"/>
                <a:ea typeface="Meiryo"/>
              </a:rPr>
              <a:t>¥123億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446227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投下資本（10社）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27832" y="4078224"/>
            <a:ext cx="2633472" cy="64008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92424" y="4114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77D11"/>
                </a:solidFill>
                <a:latin typeface="Arial"/>
                <a:ea typeface="Meiryo"/>
              </a:rPr>
              <a:t>¥524億 / 4.3X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92424" y="446227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グロス回収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07024" y="4078224"/>
            <a:ext cx="2633472" cy="640080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71616" y="4114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6E5AD9"/>
                </a:solidFill>
                <a:latin typeface="Arial"/>
                <a:ea typeface="Meiryo"/>
              </a:rPr>
              <a:t>3.0X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71616" y="446227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ネットDPI（検算一致）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出典：02「ポートフォリオ」(net DPI≈3.0X) ／ →詳細：AP3（10社分布の崖・各社MOIC・感度4ケース）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6263F"/>
                </a:solidFill>
                <a:latin typeface="Arial"/>
                <a:ea typeface="Meiryo"/>
              </a:rPr>
              <a:t>「1.37Xで“ファンドリターナー”は盛りすぎでは？」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8046720" cy="603504"/>
          </a:xfrm>
          <a:prstGeom prst="roundRect">
            <a:avLst>
              <a:gd name="adj" fmla="val 12000"/>
            </a:avLst>
          </a:prstGeom>
          <a:solidFill>
            <a:srgbClr val="FCE9ED"/>
          </a:solidFill>
          <a:ln w="15875">
            <a:solidFill>
              <a:srgbClr val="DC3B52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188720"/>
            <a:ext cx="76809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DC3B52"/>
                </a:solidFill>
                <a:latin typeface="Arial"/>
                <a:ea typeface="Meiryo"/>
              </a:rPr>
              <a:t>ボス：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1.37Xって全然3.0Xに足りてないですよね？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01952"/>
            <a:ext cx="8046720" cy="548640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64008" cy="54864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7635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別レイヤー＋鎖で返す。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1.37Xは対ファンド比・MOIC12.5X、S12の逆算に飛躍ゼロ。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どこが飛躍か挙げて。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96896"/>
            <a:ext cx="8046720" cy="162763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743200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56627A"/>
                </a:solidFill>
                <a:latin typeface="Arial"/>
                <a:ea typeface="Meiryo"/>
              </a:rPr>
              <a:t>● ファンドリターナー＝1社で元手150億をほぼ1本ぶん回収＝206億／150億＝1.37X（対ファンド比）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127248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56627A"/>
                </a:solidFill>
                <a:latin typeface="Arial"/>
                <a:ea typeface="Meiryo"/>
              </a:rPr>
              <a:t>● 投じた額で見れば：206億 ÷ 総コミット16.5億 ＝ </a:t>
            </a:r>
            <a:r>
              <a:rPr sz="1150" b="1">
                <a:solidFill>
                  <a:srgbClr val="C77D11"/>
                </a:solidFill>
                <a:latin typeface="Arial"/>
                <a:ea typeface="Meiryo"/>
              </a:rPr>
              <a:t>MOIC 12.5X</a:t>
            </a:r>
            <a:r>
              <a:rPr sz="1150" b="0">
                <a:solidFill>
                  <a:srgbClr val="56627A"/>
                </a:solidFill>
                <a:latin typeface="Arial"/>
                <a:ea typeface="Meiryo"/>
              </a:rPr>
              <a:t>／全体3.0Xは10社分布で別途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511296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56627A"/>
                </a:solidFill>
                <a:latin typeface="Arial"/>
                <a:ea typeface="Meiryo"/>
              </a:rPr>
              <a:t>● “全体が盛り”なら、S12で閉じた逆算の鎖のどこかが切れる＝DPI3.0X←206億←1,717億←17倍←101億は飛躍ゼロ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895344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7C8AA3"/>
                </a:solidFill>
                <a:latin typeface="Arial"/>
                <a:ea typeface="Meiryo"/>
              </a:rPr>
              <a:t>● だから問い返す：</a:t>
            </a:r>
            <a:r>
              <a:rPr sz="1150" b="1">
                <a:solidFill>
                  <a:srgbClr val="16263F"/>
                </a:solidFill>
                <a:latin typeface="Arial"/>
                <a:ea typeface="Meiryo"/>
              </a:rPr>
              <a:t>「どこが飛躍か、1つ挙げてください」</a:t>
            </a:r>
            <a:r>
              <a:rPr sz="1100" b="0">
                <a:solidFill>
                  <a:srgbClr val="7C8AA3"/>
                </a:solidFill>
                <a:latin typeface="Arial"/>
                <a:ea typeface="Meiryo"/>
              </a:rPr>
              <a:t>──挙がらなければ、盛りではなく定義です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88C2"/>
                </a:solidFill>
                <a:latin typeface="Arial"/>
                <a:ea typeface="Meiryo"/>
              </a:rPr>
              <a:t>論破返し成功 ▶ </a:t>
            </a:r>
            <a:r>
              <a:rPr sz="1200" b="1">
                <a:solidFill>
                  <a:srgbClr val="16263F"/>
                </a:solidFill>
                <a:latin typeface="Arial"/>
                <a:ea typeface="Meiryo"/>
              </a:rPr>
              <a:t>ボスHP −1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431596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7C8AA3"/>
                </a:solidFill>
                <a:latin typeface="Arial"/>
                <a:ea typeface="Meiryo"/>
              </a:rPr>
              <a:t>BOSS HP </a:t>
            </a:r>
            <a:r>
              <a:rPr sz="1100" b="1">
                <a:solidFill>
                  <a:srgbClr val="DC3B52"/>
                </a:solidFill>
                <a:latin typeface="Arial"/>
                <a:ea typeface="Meiryo"/>
              </a:rPr>
              <a:t>2/4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59" y="4334256"/>
            <a:ext cx="310896" cy="164592"/>
          </a:xfrm>
          <a:prstGeom prst="rect">
            <a:avLst/>
          </a:prstGeom>
          <a:solidFill>
            <a:srgbClr val="C7D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6096" y="4334256"/>
            <a:ext cx="310896" cy="164592"/>
          </a:xfrm>
          <a:prstGeom prst="rect">
            <a:avLst/>
          </a:prstGeom>
          <a:solidFill>
            <a:srgbClr val="C7D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4334256"/>
            <a:ext cx="310896" cy="164592"/>
          </a:xfrm>
          <a:prstGeom prst="rect">
            <a:avLst/>
          </a:prstGeom>
          <a:solidFill>
            <a:srgbClr val="D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30767" y="4334256"/>
            <a:ext cx="310896" cy="164592"/>
          </a:xfrm>
          <a:prstGeom prst="rect">
            <a:avLst/>
          </a:prstGeom>
          <a:solidFill>
            <a:srgbClr val="D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→詳細：AP3（対ファンド1.37X／対投資額MOIC12.5X／全体ネット3.0Xの3層＋逆算カスケード）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6263F"/>
                </a:solidFill>
                <a:latin typeface="Arial"/>
                <a:ea typeface="Meiryo"/>
              </a:rPr>
              <a:t>「Humanity Brainって“世論操作”の会社では？」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8046720" cy="603504"/>
          </a:xfrm>
          <a:prstGeom prst="roundRect">
            <a:avLst>
              <a:gd name="adj" fmla="val 12000"/>
            </a:avLst>
          </a:prstGeom>
          <a:solidFill>
            <a:srgbClr val="FCE9ED"/>
          </a:solidFill>
          <a:ln w="15875">
            <a:solidFill>
              <a:srgbClr val="DC3B52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188720"/>
            <a:ext cx="76809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DC3B52"/>
                </a:solidFill>
                <a:latin typeface="Arial"/>
                <a:ea typeface="Meiryo"/>
              </a:rPr>
              <a:t>ボス：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認知戦AIって、世論を操作する危ない会社じゃないですか？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01952"/>
            <a:ext cx="8046720" cy="548640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64008" cy="54864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7635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逆です。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用途は“認知防衛（誤情報耐性）”に限定、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攻撃的な利用は投資契約で禁止。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96896"/>
            <a:ext cx="8046720" cy="1627632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743200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56627A"/>
                </a:solidFill>
                <a:latin typeface="Arial"/>
                <a:ea typeface="Meiryo"/>
              </a:rPr>
              <a:t>● Humanity Brain＝認知戦対策AI・世論分布予測（防衛装備庁「社会シミュレーション」採択）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127248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56627A"/>
                </a:solidFill>
                <a:latin typeface="Arial"/>
                <a:ea typeface="Meiryo"/>
              </a:rPr>
              <a:t>● 線引き：対象国の認知“操作”ではなく、自国の認知“防衛”＝誤情報への耐性に用途限定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511296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56627A"/>
                </a:solidFill>
                <a:latin typeface="Arial"/>
                <a:ea typeface="Meiryo"/>
              </a:rPr>
              <a:t>● 投資契約に influence-ops の攻撃的利用禁止コベナンツ＋第三国移転制限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895344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7C8AA3"/>
                </a:solidFill>
                <a:latin typeface="Arial"/>
                <a:ea typeface="Meiryo"/>
              </a:rPr>
              <a:t>● Solafune（物理GEOINT）の隣＝認知ドメインの解析層。守る側です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88C2"/>
                </a:solidFill>
                <a:latin typeface="Arial"/>
                <a:ea typeface="Meiryo"/>
              </a:rPr>
              <a:t>論破返し成功 ▶ </a:t>
            </a:r>
            <a:r>
              <a:rPr sz="1200" b="1">
                <a:solidFill>
                  <a:srgbClr val="16263F"/>
                </a:solidFill>
                <a:latin typeface="Arial"/>
                <a:ea typeface="Meiryo"/>
              </a:rPr>
              <a:t>ボスHP −1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431596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7C8AA3"/>
                </a:solidFill>
                <a:latin typeface="Arial"/>
                <a:ea typeface="Meiryo"/>
              </a:rPr>
              <a:t>BOSS HP </a:t>
            </a:r>
            <a:r>
              <a:rPr sz="1100" b="1">
                <a:solidFill>
                  <a:srgbClr val="DC3B52"/>
                </a:solidFill>
                <a:latin typeface="Arial"/>
                <a:ea typeface="Meiryo"/>
              </a:rPr>
              <a:t>1/4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59" y="4334256"/>
            <a:ext cx="310896" cy="164592"/>
          </a:xfrm>
          <a:prstGeom prst="rect">
            <a:avLst/>
          </a:prstGeom>
          <a:solidFill>
            <a:srgbClr val="C7D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6096" y="4334256"/>
            <a:ext cx="310896" cy="164592"/>
          </a:xfrm>
          <a:prstGeom prst="rect">
            <a:avLst/>
          </a:prstGeom>
          <a:solidFill>
            <a:srgbClr val="C7D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4334256"/>
            <a:ext cx="310896" cy="164592"/>
          </a:xfrm>
          <a:prstGeom prst="rect">
            <a:avLst/>
          </a:prstGeom>
          <a:solidFill>
            <a:srgbClr val="C7D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30767" y="4334256"/>
            <a:ext cx="310896" cy="164592"/>
          </a:xfrm>
          <a:prstGeom prst="rect">
            <a:avLst/>
          </a:prstGeom>
          <a:solidFill>
            <a:srgbClr val="D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※前回唯一刺さったESGを塞ぐ ／ →詳細：AP7（用途限定・契約コベナンツ）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6263F"/>
                </a:solidFill>
                <a:latin typeface="Arial"/>
                <a:ea typeface="Meiryo"/>
              </a:rPr>
              <a:t>残る弱点を、契約と設計で潰す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0996"/>
            <a:ext cx="8046720" cy="16459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25296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EEF0F4"/>
          </a:solidFill>
          <a:ln w="9525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25296"/>
            <a:ext cx="64008" cy="566928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22529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政府依存・チケット不整合・出口持続性に、</a:t>
            </a:r>
            <a:r>
              <a:rPr sz="1350" b="1">
                <a:solidFill>
                  <a:srgbClr val="C77D11"/>
                </a:solidFill>
                <a:latin typeface="Arial"/>
                <a:ea typeface="Meiryo"/>
              </a:rPr>
              <a:t>契約・設計レベルの具体策を当てる</a:t>
            </a:r>
            <a:r>
              <a:rPr sz="1350" b="1">
                <a:solidFill>
                  <a:srgbClr val="56627A"/>
                </a:solidFill>
                <a:latin typeface="Arial"/>
                <a:ea typeface="Meiryo"/>
              </a:rPr>
              <a:t>（倫理は論破③で対応済）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3931920" cy="1225296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139696"/>
            <a:ext cx="3566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11"/>
                </a:solidFill>
                <a:latin typeface="Arial"/>
                <a:ea typeface="Meiryo"/>
              </a:rPr>
              <a:t>⚠ 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政府依存・調達変動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560320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マイルストン連動トランシェ＋同志国・民間へ需要分散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993392"/>
            <a:ext cx="3931920" cy="1225296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82896" y="2139696"/>
            <a:ext cx="3566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11"/>
                </a:solidFill>
                <a:latin typeface="Arial"/>
                <a:ea typeface="Meiryo"/>
              </a:rPr>
              <a:t>⚠ 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実シード2億 vs 想定5.5億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2896" y="2560320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シード〜プレA単独リード拡大で再設計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10128"/>
            <a:ext cx="3931920" cy="1225296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456432"/>
            <a:ext cx="3566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11"/>
                </a:solidFill>
                <a:latin typeface="Arial"/>
                <a:ea typeface="Meiryo"/>
              </a:rPr>
              <a:t>⚠ 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出口倍率の持続性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877056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Exit後ろ倒し＋国内M&amp;A併行で備える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310128"/>
            <a:ext cx="3931920" cy="1225296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  <a:effectLst>
            <a:outerShdw blurRad="90000" dist="30000" dir="5400000" rotWithShape="0" algn="tl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82896" y="3456432"/>
            <a:ext cx="3566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11"/>
                </a:solidFill>
                <a:latin typeface="Arial"/>
                <a:ea typeface="Meiryo"/>
              </a:rPr>
              <a:t>⚠ </a:t>
            </a:r>
            <a:r>
              <a:rPr sz="1350" b="1">
                <a:solidFill>
                  <a:srgbClr val="16263F"/>
                </a:solidFill>
                <a:latin typeface="Arial"/>
                <a:ea typeface="Meiryo"/>
              </a:rPr>
              <a:t>倫理・ESG（SIGINT/LAWS）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3877056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6627A"/>
                </a:solidFill>
                <a:latin typeface="Arial"/>
                <a:ea typeface="Meiryo"/>
              </a:rPr>
              <a:t>→ 論破③で用途限定＋コベナンツとして対応済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→詳細：AP8（リスク×緩和の全表・既知の弱点a〜e）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5C6C"/>
                </a:solidFill>
                <a:latin typeface="Arial"/>
                <a:ea typeface="Meiryo"/>
              </a:rPr>
              <a:t>FINISH ・ 決着（論破④：なぜ今・あなた達）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2296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EAF1FF"/>
                </a:solidFill>
                <a:latin typeface="Arial"/>
                <a:ea typeface="Meiryo"/>
              </a:rPr>
              <a:t>論破ポイント、全部塞ぎました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8046720" cy="530352"/>
          </a:xfrm>
          <a:prstGeom prst="roundRect">
            <a:avLst>
              <a:gd name="adj" fmla="val 6000"/>
            </a:avLst>
          </a:prstGeom>
          <a:solidFill>
            <a:srgbClr val="13234D"/>
          </a:solidFill>
          <a:ln w="9525">
            <a:solidFill>
              <a:srgbClr val="2A3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17904"/>
            <a:ext cx="64008" cy="53035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517904"/>
            <a:ext cx="7635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>
                <a:solidFill>
                  <a:srgbClr val="EAF1FF"/>
                </a:solidFill>
                <a:latin typeface="Arial"/>
                <a:ea typeface="Meiryo"/>
              </a:rPr>
              <a:t>なぜ私たち × なぜ今 × なぜSolafune </a:t>
            </a:r>
            <a:r>
              <a:rPr sz="1350" b="1">
                <a:solidFill>
                  <a:srgbClr val="F5B454"/>
                </a:solidFill>
                <a:latin typeface="Arial"/>
                <a:ea typeface="Meiryo"/>
              </a:rPr>
              <a:t>― 3つ、全部揃ってます。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311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7FA6"/>
                </a:solidFill>
                <a:latin typeface="Arial"/>
                <a:ea typeface="Meiryo"/>
              </a:rPr>
              <a:t>BOSS HP </a:t>
            </a:r>
            <a:r>
              <a:rPr sz="1300" b="1">
                <a:solidFill>
                  <a:srgbClr val="5BC8FF"/>
                </a:solidFill>
                <a:latin typeface="Arial"/>
                <a:ea typeface="Meiryo"/>
              </a:rPr>
              <a:t>0/4 </a:t>
            </a:r>
            <a:r>
              <a:rPr sz="1200" b="1">
                <a:solidFill>
                  <a:srgbClr val="5BC8FF"/>
                </a:solidFill>
                <a:latin typeface="Arial"/>
                <a:ea typeface="Meiryo"/>
              </a:rPr>
              <a:t>撃破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2267712"/>
            <a:ext cx="310896" cy="164592"/>
          </a:xfrm>
          <a:prstGeom prst="rect">
            <a:avLst/>
          </a:prstGeom>
          <a:solidFill>
            <a:srgbClr val="24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2267712"/>
            <a:ext cx="310896" cy="164592"/>
          </a:xfrm>
          <a:prstGeom prst="rect">
            <a:avLst/>
          </a:prstGeom>
          <a:solidFill>
            <a:srgbClr val="24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82112" y="2267712"/>
            <a:ext cx="310896" cy="164592"/>
          </a:xfrm>
          <a:prstGeom prst="rect">
            <a:avLst/>
          </a:prstGeom>
          <a:solidFill>
            <a:srgbClr val="24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267712"/>
            <a:ext cx="310896" cy="164592"/>
          </a:xfrm>
          <a:prstGeom prst="rect">
            <a:avLst/>
          </a:prstGeom>
          <a:solidFill>
            <a:srgbClr val="24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2128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DB0D0"/>
                </a:solidFill>
                <a:latin typeface="Arial"/>
                <a:ea typeface="Meiryo"/>
              </a:rPr>
              <a:t>誇大→定義／感想→統計／倫理→契約／なぜ今→3点回収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51760"/>
            <a:ext cx="8046720" cy="1225296"/>
          </a:xfrm>
          <a:prstGeom prst="roundRect">
            <a:avLst>
              <a:gd name="adj" fmla="val 10000"/>
            </a:avLst>
          </a:prstGeom>
          <a:solidFill>
            <a:srgbClr val="13234D"/>
          </a:solidFill>
          <a:ln w="12700">
            <a:solidFill>
              <a:srgbClr val="F5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761488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B454"/>
                </a:solidFill>
                <a:latin typeface="Arial"/>
                <a:ea typeface="Meiryo"/>
              </a:rPr>
              <a:t>投資判断：</a:t>
            </a:r>
            <a:r>
              <a:rPr sz="1250" b="1">
                <a:solidFill>
                  <a:srgbClr val="EAF1FF"/>
                </a:solidFill>
                <a:latin typeface="Arial"/>
                <a:ea typeface="Meiryo"/>
              </a:rPr>
              <a:t>初回5.5億・持分約15%でリード、リザーブ厚めでフォローオン＝ファンドリターナー候補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163824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ポジション約206億／対ファンド </a:t>
            </a:r>
            <a:r>
              <a:rPr sz="1300" b="1">
                <a:solidFill>
                  <a:srgbClr val="5BC8FF"/>
                </a:solidFill>
                <a:latin typeface="Arial"/>
                <a:ea typeface="Meiryo"/>
              </a:rPr>
              <a:t>1.37X</a:t>
            </a: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／ネットDPI </a:t>
            </a:r>
            <a:r>
              <a:rPr sz="1300" b="1">
                <a:solidFill>
                  <a:srgbClr val="F5B454"/>
                </a:solidFill>
                <a:latin typeface="Arial"/>
                <a:ea typeface="Meiryo"/>
              </a:rPr>
              <a:t>3.0X</a:t>
            </a:r>
            <a:r>
              <a:rPr sz="1150" b="0">
                <a:solidFill>
                  <a:srgbClr val="9DB0D0"/>
                </a:solidFill>
                <a:latin typeface="Arial"/>
                <a:ea typeface="Meiryo"/>
              </a:rPr>
              <a:t>／Exit </a:t>
            </a:r>
            <a:r>
              <a:rPr sz="1250" b="1">
                <a:solidFill>
                  <a:srgbClr val="EAF1FF"/>
                </a:solidFill>
                <a:latin typeface="Arial"/>
                <a:ea typeface="Meiryo"/>
              </a:rPr>
              <a:t>1,717億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547872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次アクション：</a:t>
            </a:r>
            <a:r>
              <a:rPr sz="1100" b="0">
                <a:solidFill>
                  <a:srgbClr val="9DB0D0"/>
                </a:solidFill>
                <a:latin typeface="Arial"/>
                <a:ea typeface="Meiryo"/>
              </a:rPr>
              <a:t>シード〜プレA単独リード組成の条件交渉、KPI連動トランシェ設計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5C6C"/>
                </a:solidFill>
                <a:latin typeface="Arial"/>
                <a:ea typeface="Meiryo"/>
              </a:rPr>
              <a:t>「……で、論破できました？」　</a:t>
            </a:r>
            <a:r>
              <a:rPr sz="1400" b="1">
                <a:solidFill>
                  <a:srgbClr val="5BC8FF"/>
                </a:solidFill>
                <a:latin typeface="Arial"/>
                <a:ea typeface="Meiryo"/>
              </a:rPr>
              <a:t>地球を読む者が、次の安全保障を制する。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626864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7FA6"/>
                </a:solidFill>
                <a:latin typeface="Arial"/>
                <a:ea typeface="Meiryo"/>
              </a:rPr>
              <a:t>ご清聴ありがとうございました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55464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E7FA6"/>
                </a:solidFill>
                <a:latin typeface="Arial"/>
                <a:ea typeface="Meiry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8554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E7FA6"/>
                </a:solidFill>
                <a:latin typeface="Arial"/>
                <a:ea typeface="Meiry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77D11"/>
                </a:solidFill>
                <a:latin typeface="Arial"/>
                <a:ea typeface="Meiryo"/>
              </a:rPr>
              <a:t>APPENDIX ・ 補足（本編では飛ばす｜QA用）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6263F"/>
                </a:solidFill>
                <a:latin typeface="Arial"/>
                <a:ea typeface="Meiryo"/>
              </a:rPr>
              <a:t>AP1　comps・EV/Sales 17倍の導出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65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C8AA3"/>
                </a:solidFill>
                <a:latin typeface="Arial"/>
                <a:ea typeface="Meiryo"/>
              </a:rPr>
              <a:t>0秒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01852"/>
            <a:ext cx="8046720" cy="14630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225296"/>
            <a:ext cx="8046720" cy="349300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399032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採用comps群（バブル除外・フォワード基準）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655064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Palantirプレ局面20倍／Anduril14倍（$61B÷2026予想$4.3B）／BlackSky10倍／Synspective7倍／Planet6倍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167128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1">
                <a:solidFill>
                  <a:srgbClr val="1488C2"/>
                </a:solidFill>
                <a:latin typeface="Arial"/>
                <a:ea typeface="Meiryo"/>
              </a:rPr>
              <a:t>→ </a:t>
            </a:r>
            <a:r>
              <a:rPr sz="950" b="1">
                <a:solidFill>
                  <a:srgbClr val="16263F"/>
                </a:solidFill>
                <a:latin typeface="Arial"/>
                <a:ea typeface="Meiryo"/>
              </a:rPr>
              <a:t>中央値10倍・平均11.4倍・レンジ6〜20倍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64308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採用17倍の導出（中央値10→17＝+7）と除外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20340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要因分解＝ソフト比率+3／粗利優位+2／主権的信認+2（主権だけで1.7倍ではない）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90088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バブル除外：Palantir現況60.7倍（歴史的中央値25倍を143%超）・Planet現況29倍（宇宙ラリー）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259836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剥落リスク：トレーリングPSR7.1倍→フォワード約2.7倍（Synspective例）／持続性は感度12〜20倍で吸収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799332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comps評価額一覧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055363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Palantir約3,060〜3,080億$・60.7倍／Anduril$61B／Helsing$18B／Shield AI$12.7B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325112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国内：Synspective約1,700億（1社1,500億Exit実証）／iQPS約1,216億／Axelspace2025/8上場／防衛テックVC2025＝491億$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73752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出典：01前提パック §4・§5（S8・S10・S11の裏付け）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87375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AP1 / 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77D11"/>
                </a:solidFill>
                <a:latin typeface="Arial"/>
                <a:ea typeface="Meiryo"/>
              </a:rPr>
              <a:t>APPENDIX ・ 補足（本編では飛ばす｜QA用）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6263F"/>
                </a:solidFill>
                <a:latin typeface="Arial"/>
                <a:ea typeface="Meiryo"/>
              </a:rPr>
              <a:t>AP2　市場ボトムアップ（TAM／SAM／SOM内訳）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65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C8AA3"/>
                </a:solidFill>
                <a:latin typeface="Arial"/>
                <a:ea typeface="Meiryo"/>
              </a:rPr>
              <a:t>0秒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01852"/>
            <a:ext cx="8046720" cy="14630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225296"/>
            <a:ext cx="8046720" cy="349300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399032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TAM（レイヤー別）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655064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GeoAI 371→629億$（CAGR11.1%）／防衛地理空間1,503→2,821億$／地理空間アナリティクス1,143→2,265億$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94560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SAM＝年約170億（公的予算×解析ソフト充当率8〜15%［想定］）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450592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PFI(405×8%)≈32＋宇宙基金(200×15%)≈30＋防衛AI(500×10%)≈50＋経済安保(300×10%)≈30＋その他官庁(200×15%)≈30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990088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SOM 5セグメント（誰に・いくらで・何件｜2030→2032）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46120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A 日本政府 2.5億/件 → 12件30億 → 14件35億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15868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B 宇宙基金 3億/件 → 5件15億 → 6件18億　／　C 同志国MoU 1.5億/件 → 4件6億 → 6件9億（2026/4輸出緩和が追い風）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027932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D 経済安保 2億/件 → 7件14億 → 9件18億　／　E 民間 2億/件 → 10件20億 → 11件21億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297680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計＝</a:t>
            </a:r>
            <a:r>
              <a:rPr sz="950" b="1">
                <a:solidFill>
                  <a:srgbClr val="C77D11"/>
                </a:solidFill>
                <a:latin typeface="Arial"/>
                <a:ea typeface="Meiryo"/>
              </a:rPr>
              <a:t>38件85億（2030）→ 46件101億（2032）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。確度 A＞B/D＞C（有償実績ゼロ＝最優先で実証）／感度 81〜121億（中心101）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73752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出典：01前提パック §2・§6（S7・S9の裏付け）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87375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AP2 / 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77D11"/>
                </a:solidFill>
                <a:latin typeface="Arial"/>
                <a:ea typeface="Meiryo"/>
              </a:rPr>
              <a:t>APPENDIX ・ 補足（本編では飛ばす｜QA用）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6263F"/>
                </a:solidFill>
                <a:latin typeface="Arial"/>
                <a:ea typeface="Meiryo"/>
              </a:rPr>
              <a:t>AP3　リターン分布（power-law 10社）＆感度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65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C8AA3"/>
                </a:solidFill>
                <a:latin typeface="Arial"/>
                <a:ea typeface="Meiryo"/>
              </a:rPr>
              <a:t>0秒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01852"/>
            <a:ext cx="8046720" cy="14630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225296"/>
            <a:ext cx="8046720" cy="349300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399032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10社のべき乗則分布（リザーブは勝ち馬に集中・下位3社は初回チケットのみ）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655064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Solafune206億(12.5X)＋HB136億(8X)＋中堅C84億(4.9X) →【明確な崖】→ 44億(2.8X)＋26億(1.7X)＋16億(1.2X)＋0-1X〜全損4社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167128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→ 投下約123億 → グロス回収約524億 → グロス4.3X → </a:t>
            </a:r>
            <a:r>
              <a:rPr sz="950" b="1">
                <a:solidFill>
                  <a:srgbClr val="C77D11"/>
                </a:solidFill>
                <a:latin typeface="Arial"/>
                <a:ea typeface="Meiryo"/>
              </a:rPr>
              <a:t>ネットDPI約3.0X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（上位2社で回収の約65%）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64308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3つの倍率（混同が誤読の正体）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20340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対ファンド1.37X（206/150）／対投資額MOIC12.5X（206/16.5）／全体ネット3.0X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17520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感度4ケース（保守域 ≥15倍 &amp; ≥10% で安定して○）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273552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①17×12%=206億○(+37%)　②15×11%=167億○(+11%)　③15×10%=151億○(+1%)　④12×8%=97億×(−35%)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543300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×は④同時悪化のみ＝Exit後ろ倒し(2034)で吸収／勝ち馬B＝Humanity Brain＝防衛装備庁「社会シミュレーション」採択［要検証］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73752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出典：02財務モデル（ポートフォリオ/リターン）・01 §1（S12・S13の裏付け）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87375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AP3 / 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77D11"/>
                </a:solidFill>
                <a:latin typeface="Arial"/>
                <a:ea typeface="Meiryo"/>
              </a:rPr>
              <a:t>APPENDIX ・ 補足（本編では飛ばす｜QA用）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6263F"/>
                </a:solidFill>
                <a:latin typeface="Arial"/>
                <a:ea typeface="Meiryo"/>
              </a:rPr>
              <a:t>AP4　ファンド設計詳細（LP構成・件数算術）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65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C8AA3"/>
                </a:solidFill>
                <a:latin typeface="Arial"/>
                <a:ea typeface="Meiryo"/>
              </a:rPr>
              <a:t>0秒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01852"/>
            <a:ext cx="8046720" cy="14630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225296"/>
            <a:ext cx="8046720" cy="349300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399032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LP構成 40/30/30 の合意ロジック［設計値］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655064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事業会社40%（事業理解）→集中13%を許容／年金・大学30%（超長期）→運用10年+2・Exit後ろ倒しを許容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167128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金融機関30%（規律）→13%を上限にキャップ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436876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1">
                <a:solidFill>
                  <a:srgbClr val="1488C2"/>
                </a:solidFill>
                <a:latin typeface="Arial"/>
                <a:ea typeface="Meiryo"/>
              </a:rPr>
              <a:t>→ </a:t>
            </a:r>
            <a:r>
              <a:rPr sz="950" b="1">
                <a:solidFill>
                  <a:srgbClr val="16263F"/>
                </a:solidFill>
                <a:latin typeface="Arial"/>
                <a:ea typeface="Meiryo"/>
              </a:rPr>
              <a:t>集中度・期間はGP願望でなくLP合意済みの制約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734056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件数算術・Pre逆算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90088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GP1人が深く関与できるのは5社未満＝GP2で約10社／投資可能125億÷(チケット5.5＋リザーブ厚め)≒10〜11社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02152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Pre31＋初回5.5＝Post36.5、5.5/36.5＝15.1%（pre/postは非開示ゆえファンド想定からの逆算）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73752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出典：01前提パック §0・§0-1・§8（S4の裏付け）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87375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AP4 / 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77D11"/>
                </a:solidFill>
                <a:latin typeface="Arial"/>
                <a:ea typeface="Meiryo"/>
              </a:rPr>
              <a:t>APPENDIX ・ 補足（本編では飛ばす｜QA用）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6263F"/>
                </a:solidFill>
                <a:latin typeface="Arial"/>
                <a:ea typeface="Meiryo"/>
              </a:rPr>
              <a:t>AP5　Solafune moat反証＆受注実績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65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C8AA3"/>
                </a:solidFill>
                <a:latin typeface="Arial"/>
                <a:ea typeface="Meiryo"/>
              </a:rPr>
              <a:t>0秒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01852"/>
            <a:ext cx="8046720" cy="14630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225296"/>
            <a:ext cx="8046720" cy="349300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399032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moat4点＋反証条件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655064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①センサー非依存のマルチソース解析（反証：ハード内製化／Palantir日本参入）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24812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②120カ国コミュニティ（反証：収益化せず）／③政府・国際機関リレーション（反証：スポット止まり）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94560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④自然言語UI Shigenbot（反証：汎用LLM+GISで模倣可能になれば薄れる）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91739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受注・MoU実績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747772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防衛省（2024/9＋2026/1 AI2件）・内閣府・警察庁受注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UNIDO $5.34M（コンゴ民SGN-C MoU）・セネガル/エジプト/ガーナ展開／UNDP掲載のSHIGEN AI・ShigenBot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73752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出典：01前提パック §3・§8、inputs/Solafune調査.md（S6の裏付け）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87375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AP5 / 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77D11"/>
                </a:solidFill>
                <a:latin typeface="Arial"/>
                <a:ea typeface="Meiryo"/>
              </a:rPr>
              <a:t>APPENDIX ・ 補足（本編では飛ばす｜QA用）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6263F"/>
                </a:solidFill>
                <a:latin typeface="Arial"/>
                <a:ea typeface="Meiryo"/>
              </a:rPr>
              <a:t>AP6　公的需要プール（金額）と制度改革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65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C8AA3"/>
                </a:solidFill>
                <a:latin typeface="Arial"/>
                <a:ea typeface="Meiryo"/>
              </a:rPr>
              <a:t>0秒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01852"/>
            <a:ext cx="8046720" cy="14630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225296"/>
            <a:ext cx="8046720" cy="349300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399032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公的需要プール（金額）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655064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防衛費2025年度8.7兆円（2026案8.8兆＝再編込み9兆353億）／衛星コンステPFI約2,831億（2026-2031・7社落札）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167128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宇宙戦略基金10年総額1兆円／経済安保SC強靱化（令和4＝1兆358億・令和5＝9,172億・令和6＝2,300億）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679192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日米重要鉱物アクションプラン（2026/3発出）／安保技術研究推進制度 3億(2015)→約110億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976372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制度改革3点（2026）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32404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①輸出緩和（2026/4/21・協定国へ移転可・戦闘中の国は除外）②ファストパス調達（約3.5か月）③前払い・部分払い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73752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出典：01前提パック §6・§8（S5の裏付け）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87375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AP6 / 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77D11"/>
                </a:solidFill>
                <a:latin typeface="Arial"/>
                <a:ea typeface="Meiryo"/>
              </a:rPr>
              <a:t>APPENDIX ・ 補足（本編では飛ばす｜QA用）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6263F"/>
                </a:solidFill>
                <a:latin typeface="Arial"/>
                <a:ea typeface="Meiryo"/>
              </a:rPr>
              <a:t>AP7　ESG・契約コベナンツ詳細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65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C8AA3"/>
                </a:solidFill>
                <a:latin typeface="Arial"/>
                <a:ea typeface="Meiryo"/>
              </a:rPr>
              <a:t>0秒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01852"/>
            <a:ext cx="8046720" cy="14630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225296"/>
            <a:ext cx="8046720" cy="349300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399032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用途限定（Humanity Brain）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655064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認知「防衛」（誤情報耐性）に限定＝対象国の認知「操作」ではない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24812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位置づけ＝Solafune（物理GEOINT）隣の認知ドメイン解析層＝べき乗則の勝ち馬B（7-8X級）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221991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投資契約コベナンツ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78024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influence-ops攻撃的利用禁止＋第三国移転制限＋LAWS非関与・輸出管理遵守・データ主権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747772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年金・大学基金LPのガバナンス要件とも整合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73752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出典：01前提パック §3・§7・§0-1（S14・S15の裏付け）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87375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AP7 / 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77D11"/>
                </a:solidFill>
                <a:latin typeface="Arial"/>
                <a:ea typeface="Meiryo"/>
              </a:rPr>
              <a:t>APPENDIX ・ 補足（本編では飛ばす｜QA用）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6263F"/>
                </a:solidFill>
                <a:latin typeface="Arial"/>
                <a:ea typeface="Meiryo"/>
              </a:rPr>
              <a:t>AP8　リスク×緩和の全表＆既知の弱点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65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C8AA3"/>
                </a:solidFill>
                <a:latin typeface="Arial"/>
                <a:ea typeface="Meiryo"/>
              </a:rPr>
              <a:t>0秒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01852"/>
            <a:ext cx="8046720" cy="14630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225296"/>
            <a:ext cx="8046720" cy="349300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399032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リスク×緩和策（全リスト）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655064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①政府依存・調達サイクル → マイルストン連動トランシェ＋同志国・民間へ需要分散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24812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②チケット不整合（実シード2億 vs 想定5.5億）→ シード〜プレA単独リード拡大で再設計（post36.5/15%）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436876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③出口不確実性（バブル持続性＝Rheinmetall CEO警告）→ Exit後ろ倒し(2034)＋国内プライム/商社M&amp;A併行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948940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④競争・人材 → マルチソース解析＋主権的信認＋120カ国コミュニティの採用ファネル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46120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既知の弱点（QA頻出）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02152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a 実シード2億vs5.5億／b 倍率持続性／c Post-Val交渉の蓋然性／d 政府依存／e 1社集中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73752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出典：01前提パック §7、STATUS §5（S15の裏付け）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87375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AP8 / 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77D11"/>
                </a:solidFill>
                <a:latin typeface="Arial"/>
                <a:ea typeface="Meiryo"/>
              </a:rPr>
              <a:t>APPENDIX ・ 補足（本編では飛ばす｜QA用）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6263F"/>
                </a:solidFill>
                <a:latin typeface="Arial"/>
                <a:ea typeface="Meiryo"/>
              </a:rPr>
              <a:t>AP9　チーム・付加価値・deal access詳細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65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C8AA3"/>
                </a:solidFill>
                <a:latin typeface="Arial"/>
                <a:ea typeface="Meiryo"/>
              </a:rPr>
              <a:t>0秒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01852"/>
            <a:ext cx="8046720" cy="14630"/>
          </a:xfrm>
          <a:prstGeom prst="rect">
            <a:avLst/>
          </a:prstGeom>
          <a:solidFill>
            <a:srgbClr val="9FA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225296"/>
            <a:ext cx="8046720" cy="3493008"/>
          </a:xfrm>
          <a:prstGeom prst="roundRect">
            <a:avLst>
              <a:gd name="adj" fmla="val 7000"/>
            </a:avLst>
          </a:prstGeom>
          <a:solidFill>
            <a:srgbClr val="EEF3FB"/>
          </a:solidFill>
          <a:ln w="12700">
            <a:solidFill>
              <a:srgbClr val="D5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399032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チーム（「宇宙×防衛×資源」の当事者）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655064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宇宙VC1号（裾野・部品/データ）2.0X／2号（宇宙データ・解析）1.5X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24812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安保クリアランス保持・防衛装備庁・国際機関（UNIDO/UNDP）・資源商社OBのオペレーティングパートナー（設計値）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64308"/>
            <a:ext cx="7680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88C2"/>
                </a:solidFill>
                <a:latin typeface="Arial"/>
                <a:ea typeface="Meiryo"/>
              </a:rPr>
              <a:t>付加価値4点（勝たせる）／deal access4点（入れてもらえる）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20340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付加価値：①取締役就任②120カ国コミュニティ接続③防衛装備庁・国際機関で政府アンカー受注④リザーブ55%フォローオン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32404"/>
            <a:ext cx="7699248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0">
                <a:solidFill>
                  <a:srgbClr val="56627A"/>
                </a:solidFill>
                <a:latin typeface="Arial"/>
                <a:ea typeface="Meiryo"/>
              </a:rPr>
              <a:t>deal access：①クリアランス取締役＋防衛装備庁で政府アンカー後押し②国産GP＝主権調達適格（外資不可）③商社OBで販路・M&amp;A買い手④フォローオンで資本確実性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744468"/>
            <a:ext cx="7699248" cy="242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C77D11"/>
                </a:solidFill>
                <a:latin typeface="Arial"/>
                <a:ea typeface="Meiryo"/>
              </a:rPr>
              <a:t>▸ </a:t>
            </a:r>
            <a:r>
              <a:rPr sz="950" b="1">
                <a:solidFill>
                  <a:srgbClr val="DC3B52"/>
                </a:solidFill>
                <a:latin typeface="Arial"/>
                <a:ea typeface="Meiryo"/>
              </a:rPr>
              <a:t>load-bearing：</a:t>
            </a:r>
            <a:r>
              <a:rPr sz="950" b="1">
                <a:solidFill>
                  <a:srgbClr val="16263F"/>
                </a:solidFill>
                <a:latin typeface="Arial"/>
                <a:ea typeface="Meiryo"/>
              </a:rPr>
              <a:t>崩れるとS4持分15%・S12の206億/1.37Xが崩れる＝リターン論の前提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73752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C8AA3"/>
                </a:solidFill>
                <a:latin typeface="Arial"/>
                <a:ea typeface="Meiryo"/>
              </a:rPr>
              <a:t>出典：01前提パック §0・§1（S1・S2・S3の裏付け）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87375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C8AA3"/>
                </a:solidFill>
                <a:latin typeface="Arial"/>
                <a:ea typeface="Meiryo"/>
              </a:rPr>
              <a:t>AP9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