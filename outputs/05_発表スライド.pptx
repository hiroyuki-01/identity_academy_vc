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C8FF"/>
                </a:solidFill>
                <a:latin typeface="Arial"/>
                <a:ea typeface="Meiryo"/>
              </a:rPr>
              <a:t>VC FUND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AF1FF"/>
                </a:solidFill>
                <a:latin typeface="Arial"/>
                <a:ea typeface="Meiryo"/>
              </a:rPr>
              <a:t>SENTINEL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93392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BC8FF"/>
                </a:solidFill>
                <a:latin typeface="Arial"/>
                <a:ea typeface="Meiryo"/>
              </a:rPr>
              <a:t>PARTNERS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44368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EAF1FF"/>
                </a:solidFill>
                <a:latin typeface="Arial"/>
                <a:ea typeface="Meiryo"/>
              </a:rPr>
              <a:t>宇宙から地球を読み、経済安全保障に張る。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7FA6"/>
                </a:solidFill>
                <a:latin typeface="Arial"/>
                <a:ea typeface="Meiryo"/>
              </a:rPr>
              <a:t>Securing the critical frontier — from orbit.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7FA6"/>
                </a:solidFill>
                <a:latin typeface="Arial"/>
                <a:ea typeface="Meiryo"/>
              </a:rPr>
              <a:t>投資対象  </a:t>
            </a:r>
            <a:r>
              <a:rPr sz="1300" b="1">
                <a:solidFill>
                  <a:srgbClr val="EAF1FF"/>
                </a:solidFill>
                <a:latin typeface="Arial"/>
                <a:ea typeface="Meiryo"/>
              </a:rPr>
              <a:t>Solafune</a:t>
            </a:r>
            <a:r>
              <a:rPr sz="1300" b="0">
                <a:solidFill>
                  <a:srgbClr val="6E7FA6"/>
                </a:solidFill>
                <a:latin typeface="Arial"/>
                <a:ea typeface="Meiryo"/>
              </a:rPr>
              <a:t>       3号ファンド  </a:t>
            </a:r>
            <a:r>
              <a:rPr sz="1300" b="1">
                <a:solidFill>
                  <a:srgbClr val="F5B454"/>
                </a:solidFill>
                <a:latin typeface="Arial"/>
                <a:ea typeface="Meiryo"/>
              </a:rPr>
              <a:t>¥150億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120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E7FA6"/>
                </a:solidFill>
                <a:latin typeface="Arial"/>
                <a:ea typeface="Meiryo"/>
              </a:rPr>
              <a:t>Sentinel Capital Partners｜センチネル・キャピタル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OUR EDGE ・ 勝ち筋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私たちは、どう勝つか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衛星を持たない解析レイヤーの1社に、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ファンドの元手1本ぶんを集中して張る</a:t>
            </a: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——狭く深く。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2542032" cy="237744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2542032" cy="82296"/>
          </a:xfrm>
          <a:prstGeom prst="rect">
            <a:avLst/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04288"/>
            <a:ext cx="21396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AF1FF"/>
                </a:solidFill>
                <a:latin typeface="Arial"/>
                <a:ea typeface="Meiryo"/>
              </a:rPr>
              <a:t>主権  </a:t>
            </a: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SOVEREIGNTY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26080"/>
            <a:ext cx="213969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DB0D0"/>
                </a:solidFill>
                <a:latin typeface="Arial"/>
                <a:ea typeface="Meiryo"/>
              </a:rPr>
              <a:t>国産・データ主権が不可欠な領域に、政府アンカーで張る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2011680"/>
            <a:ext cx="2542032" cy="237744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7832" y="2011680"/>
            <a:ext cx="2542032" cy="82296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304288"/>
            <a:ext cx="21396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AF1FF"/>
                </a:solidFill>
                <a:latin typeface="Arial"/>
                <a:ea typeface="Meiryo"/>
              </a:rPr>
              <a:t>集中  </a:t>
            </a:r>
            <a:r>
              <a:rPr sz="1100" b="1">
                <a:solidFill>
                  <a:srgbClr val="F5B454"/>
                </a:solidFill>
                <a:latin typeface="Arial"/>
                <a:ea typeface="Meiryo"/>
              </a:rPr>
              <a:t>CONCENTRATION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926080"/>
            <a:ext cx="213969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DB0D0"/>
                </a:solidFill>
                <a:latin typeface="Arial"/>
                <a:ea typeface="Meiryo"/>
              </a:rPr>
              <a:t>10〜12社に絞り、1社でファンドを返す設計に徹する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011680"/>
            <a:ext cx="2542032" cy="237744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07024" y="2011680"/>
            <a:ext cx="2542032" cy="82296"/>
          </a:xfrm>
          <a:prstGeom prst="rect">
            <a:avLst/>
          </a:prstGeom>
          <a:solidFill>
            <a:srgbClr val="9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8192" y="2304288"/>
            <a:ext cx="21396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AF1FF"/>
                </a:solidFill>
                <a:latin typeface="Arial"/>
                <a:ea typeface="Meiryo"/>
              </a:rPr>
              <a:t>宇宙×AI  </a:t>
            </a:r>
            <a:r>
              <a:rPr sz="1100" b="1">
                <a:solidFill>
                  <a:srgbClr val="9C8CFF"/>
                </a:solidFill>
                <a:latin typeface="Arial"/>
                <a:ea typeface="Meiryo"/>
              </a:rPr>
              <a:t>ORBIT ×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2926080"/>
            <a:ext cx="213969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DB0D0"/>
                </a:solidFill>
                <a:latin typeface="Arial"/>
                <a:ea typeface="Meiryo"/>
              </a:rPr>
              <a:t>衛星×AIで地球を解析するソフト層に投資する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FUND DESIGN ・ ファンド設計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数字で語るファンドの骨格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150億・集中10社・初回5.5億で持分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約15%</a:t>
            </a: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、狙うはネット</a:t>
            </a:r>
            <a:r>
              <a:rPr sz="1350" b="1">
                <a:solidFill>
                  <a:srgbClr val="5BC8FF"/>
                </a:solidFill>
                <a:latin typeface="Arial"/>
                <a:ea typeface="Meiryo"/>
              </a:rPr>
              <a:t>DPI 3.0X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3969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BC8FF"/>
                </a:solidFill>
                <a:latin typeface="Arial"/>
                <a:ea typeface="Meiryo"/>
              </a:rPr>
              <a:t>¥150億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68833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ファンド総額（3号）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7832" y="199339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2424" y="213969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B454"/>
                </a:solidFill>
                <a:latin typeface="Arial"/>
                <a:ea typeface="Meiryo"/>
              </a:rPr>
              <a:t>3.0X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268833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目標ネットDPI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07024" y="199339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13969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BC8FF"/>
                </a:solidFill>
                <a:latin typeface="Arial"/>
                <a:ea typeface="Meiryo"/>
              </a:rPr>
              <a:t>10–12社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68833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集中ポートフォリオ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8211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32841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B454"/>
                </a:solidFill>
                <a:latin typeface="Arial"/>
                <a:ea typeface="Meiryo"/>
              </a:rPr>
              <a:t>約15%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87705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エントリー持分（リード）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27832" y="318211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2424" y="332841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BC8FF"/>
                </a:solidFill>
                <a:latin typeface="Arial"/>
                <a:ea typeface="Meiryo"/>
              </a:rPr>
              <a:t>2 / 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2424" y="387705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管理報酬 / 成功報酬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07024" y="318211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71616" y="332841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B454"/>
                </a:solidFill>
                <a:latin typeface="Arial"/>
                <a:ea typeface="Meiryo"/>
              </a:rPr>
              <a:t>10年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87705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運用期間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07408"/>
            <a:ext cx="8046720" cy="475488"/>
          </a:xfrm>
          <a:prstGeom prst="roundRect">
            <a:avLst>
              <a:gd name="adj" fmla="val 12000"/>
            </a:avLst>
          </a:prstGeom>
          <a:solidFill>
            <a:srgbClr val="132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407408"/>
            <a:ext cx="75895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DB0D0"/>
                </a:solidFill>
                <a:latin typeface="Arial"/>
                <a:ea typeface="Meiryo"/>
              </a:rPr>
              <a:t>算数：初回5.5億 ÷ 投資後36.5億（Pre 31＋5.5）＝ </a:t>
            </a:r>
            <a:r>
              <a:rPr sz="1250" b="1">
                <a:solidFill>
                  <a:srgbClr val="F5B454"/>
                </a:solidFill>
                <a:latin typeface="Arial"/>
                <a:ea typeface="Meiryo"/>
              </a:rPr>
              <a:t>約15%</a:t>
            </a:r>
            <a:r>
              <a:rPr sz="1250" b="0">
                <a:solidFill>
                  <a:srgbClr val="9DB0D0"/>
                </a:solidFill>
                <a:latin typeface="Arial"/>
                <a:ea typeface="Meiryo"/>
              </a:rPr>
              <a:t>。チームは </a:t>
            </a:r>
            <a:r>
              <a:rPr sz="1250" b="1">
                <a:solidFill>
                  <a:srgbClr val="EAF1FF"/>
                </a:solidFill>
                <a:latin typeface="Arial"/>
                <a:ea typeface="Meiryo"/>
              </a:rPr>
              <a:t>GP2＋アソシ2＋クリアランス保持</a:t>
            </a:r>
            <a:r>
              <a:rPr sz="1250" b="0">
                <a:solidFill>
                  <a:srgbClr val="9DB0D0"/>
                </a:solidFill>
                <a:latin typeface="Arial"/>
                <a:ea typeface="Meiryo"/>
              </a:rPr>
              <a:t>＝深く回せる件数の天井10〜12社。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HOW VC WINS ・ べき乗則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1社で元手を返す“ファンドリターナー”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ネット3.0Xは“全社そこそこ”では作れない——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少数のアウトライヤーを必ず1社仕込む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4160520" cy="2395728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39696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5BC8FF"/>
                </a:solidFill>
                <a:latin typeface="Arial"/>
                <a:ea typeface="Meiryo"/>
              </a:rPr>
              <a:t>10社のリターン分布（イメージ）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743200"/>
            <a:ext cx="274320" cy="1417320"/>
          </a:xfrm>
          <a:prstGeom prst="roundRect">
            <a:avLst>
              <a:gd name="adj" fmla="val 18000"/>
            </a:avLst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523744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5B454"/>
                </a:solidFill>
                <a:latin typeface="Arial"/>
                <a:ea typeface="Meiryo"/>
              </a:rPr>
              <a:t>FR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3200400"/>
            <a:ext cx="274320" cy="960120"/>
          </a:xfrm>
          <a:prstGeom prst="roundRect">
            <a:avLst>
              <a:gd name="adj" fmla="val 18000"/>
            </a:avLst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2980944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5BC8FF"/>
                </a:solidFill>
                <a:latin typeface="Arial"/>
                <a:ea typeface="Meiryo"/>
              </a:rPr>
              <a:t>7-8X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3520439"/>
            <a:ext cx="274320" cy="640080"/>
          </a:xfrm>
          <a:prstGeom prst="roundRect">
            <a:avLst>
              <a:gd name="adj" fmla="val 18000"/>
            </a:avLst>
          </a:prstGeom>
          <a:solidFill>
            <a:srgbClr val="9D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65960" y="3593591"/>
            <a:ext cx="274320" cy="566928"/>
          </a:xfrm>
          <a:prstGeom prst="roundRect">
            <a:avLst>
              <a:gd name="adj" fmla="val 18000"/>
            </a:avLst>
          </a:prstGeom>
          <a:solidFill>
            <a:srgbClr val="9D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31720" y="3794759"/>
            <a:ext cx="274320" cy="365760"/>
          </a:xfrm>
          <a:prstGeom prst="roundRect">
            <a:avLst>
              <a:gd name="adj" fmla="val 18000"/>
            </a:avLst>
          </a:prstGeom>
          <a:solidFill>
            <a:srgbClr val="6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79" y="3867911"/>
            <a:ext cx="274320" cy="292608"/>
          </a:xfrm>
          <a:prstGeom prst="roundRect">
            <a:avLst>
              <a:gd name="adj" fmla="val 18000"/>
            </a:avLst>
          </a:prstGeom>
          <a:solidFill>
            <a:srgbClr val="6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63239" y="3941063"/>
            <a:ext cx="274320" cy="219456"/>
          </a:xfrm>
          <a:prstGeom prst="roundRect">
            <a:avLst>
              <a:gd name="adj" fmla="val 18000"/>
            </a:avLst>
          </a:prstGeom>
          <a:solidFill>
            <a:srgbClr val="6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28999" y="4014215"/>
            <a:ext cx="274320" cy="146304"/>
          </a:xfrm>
          <a:prstGeom prst="roundRect">
            <a:avLst>
              <a:gd name="adj" fmla="val 18000"/>
            </a:avLst>
          </a:prstGeom>
          <a:solidFill>
            <a:srgbClr val="6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94759" y="4050791"/>
            <a:ext cx="274320" cy="109728"/>
          </a:xfrm>
          <a:prstGeom prst="roundRect">
            <a:avLst>
              <a:gd name="adj" fmla="val 18000"/>
            </a:avLst>
          </a:prstGeom>
          <a:solidFill>
            <a:srgbClr val="6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60520" y="4087368"/>
            <a:ext cx="274320" cy="73152"/>
          </a:xfrm>
          <a:prstGeom prst="roundRect">
            <a:avLst>
              <a:gd name="adj" fmla="val 18000"/>
            </a:avLst>
          </a:prstGeom>
          <a:solidFill>
            <a:srgbClr val="6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87952"/>
            <a:ext cx="3703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DB0D0"/>
                </a:solidFill>
                <a:latin typeface="Arial"/>
                <a:ea typeface="Meiryo"/>
              </a:rPr>
              <a:t>1〜2社の大当たりが回収の大半を作る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1993392"/>
            <a:ext cx="3703320" cy="2395728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21396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5BC8FF"/>
                </a:solidFill>
                <a:latin typeface="Arial"/>
                <a:ea typeface="Meiryo"/>
              </a:rPr>
              <a:t>ファンドリターナーの4条件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2468880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2468880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1社で150億超のポジションが射程（高い天井）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2889504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2889504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シード〜Aでリードしエグジット持分10〜12%確保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2352" y="3310128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310128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日本のIPOか国内プライム・商社M&amp;Aで回収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2352" y="3730752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3730752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センサー非依存の解析レイヤーという自社エッジ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02352" y="415137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Solafune＝</a:t>
            </a:r>
            <a:r>
              <a:rPr sz="1150" b="1">
                <a:solidFill>
                  <a:srgbClr val="EAF1FF"/>
                </a:solidFill>
                <a:latin typeface="Arial"/>
                <a:ea typeface="Meiryo"/>
              </a:rPr>
              <a:t>4条件すべてに高適合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WHY NOW ・ なぜ今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経済安全保障 × 宇宙の時代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重要鉱物をめぐる主権争いが、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国産インテリジェンス需要を構造的に押し上げる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4160520" cy="2395728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57984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AF1FF"/>
                </a:solidFill>
                <a:latin typeface="Arial"/>
                <a:ea typeface="Meiryo"/>
              </a:rPr>
              <a:t>重要鉱物をめぐる主権争い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15184"/>
            <a:ext cx="3703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DB0D0"/>
                </a:solidFill>
                <a:latin typeface="Arial"/>
                <a:ea typeface="Meiryo"/>
              </a:rPr>
              <a:t>● 中国がレアアース輸出管理を強化、アフリカ等で鉱床を囲い込み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9DB0D0"/>
                </a:solidFill>
                <a:latin typeface="Arial"/>
                <a:ea typeface="Meiryo"/>
              </a:rPr>
              <a:t>● サプライチェーン途絶リスクが現実化（磁石・半導体）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5BC8FF"/>
                </a:solidFill>
                <a:latin typeface="Arial"/>
                <a:ea typeface="Meiryo"/>
              </a:rPr>
              <a:t>→ 国産の資源モニタリング／解析需要が構造拡大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19933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AF1FF"/>
                </a:solidFill>
                <a:latin typeface="Arial"/>
                <a:ea typeface="Meiryo"/>
              </a:rPr>
              <a:t>追い風となる公的需要プール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2395728"/>
            <a:ext cx="3520440" cy="603504"/>
          </a:xfrm>
          <a:prstGeom prst="roundRect">
            <a:avLst>
              <a:gd name="adj" fmla="val 16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2" y="2395728"/>
            <a:ext cx="16002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BC8FF"/>
                </a:solidFill>
                <a:latin typeface="Arial"/>
                <a:ea typeface="Meiryo"/>
              </a:rPr>
              <a:t>¥8.8兆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395728"/>
            <a:ext cx="1737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防衛関係費（2026年度）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3090672"/>
            <a:ext cx="3520440" cy="603504"/>
          </a:xfrm>
          <a:prstGeom prst="roundRect">
            <a:avLst>
              <a:gd name="adj" fmla="val 16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85232" y="3090672"/>
            <a:ext cx="16002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B454"/>
                </a:solidFill>
                <a:latin typeface="Arial"/>
                <a:ea typeface="Meiryo"/>
              </a:rPr>
              <a:t>¥1兆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090672"/>
            <a:ext cx="1737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宇宙戦略基金（10年）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3785615"/>
            <a:ext cx="3520440" cy="603504"/>
          </a:xfrm>
          <a:prstGeom prst="roundRect">
            <a:avLst>
              <a:gd name="adj" fmla="val 16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3785615"/>
            <a:ext cx="16002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9C8CFF"/>
                </a:solidFill>
                <a:latin typeface="Arial"/>
                <a:ea typeface="Meiryo"/>
              </a:rPr>
              <a:t>数千億円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785615"/>
            <a:ext cx="1737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経済安保 強靱化予算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25696"/>
            <a:ext cx="8046720" cy="338328"/>
          </a:xfrm>
          <a:prstGeom prst="roundRect">
            <a:avLst>
              <a:gd name="adj" fmla="val 16000"/>
            </a:avLst>
          </a:prstGeom>
          <a:solidFill>
            <a:srgbClr val="132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425696"/>
            <a:ext cx="7726679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B454"/>
                </a:solidFill>
                <a:latin typeface="Arial"/>
                <a:ea typeface="Meiryo"/>
              </a:rPr>
              <a:t>2026年の制度変化　</a:t>
            </a:r>
            <a:r>
              <a:rPr sz="1000" b="0">
                <a:solidFill>
                  <a:srgbClr val="EAF1FF"/>
                </a:solidFill>
                <a:latin typeface="Arial"/>
                <a:ea typeface="Meiryo"/>
              </a:rPr>
              <a:t>① 輸出緩和（同志国市場へ）　② ファストパス調達 約3.5か月　③ 前払い導入＝死の谷を浅く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>出典：防衛省・宇宙戦略基金／Morning Pitch（01前提パック §4・§6）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THE TARGET ・ 投資対象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Solafune ― 地球を読むOS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衛星画像・公開情報・通信という様々な“目”を束ねるAI＝</a:t>
            </a:r>
            <a:r>
              <a:rPr sz="1350" b="1">
                <a:solidFill>
                  <a:srgbClr val="5BC8FF"/>
                </a:solidFill>
                <a:latin typeface="Arial"/>
                <a:ea typeface="Meiryo"/>
              </a:rPr>
              <a:t>Planetary Intelligence 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2011680" cy="658368"/>
          </a:xfrm>
          <a:prstGeom prst="roundRect">
            <a:avLst>
              <a:gd name="adj" fmla="val 14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5798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AF1FF"/>
                </a:solidFill>
                <a:latin typeface="Arial"/>
                <a:ea typeface="Meiryo"/>
              </a:rPr>
              <a:t>GEOINT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79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D0"/>
                </a:solidFill>
                <a:latin typeface="Arial"/>
                <a:ea typeface="Meiryo"/>
              </a:rPr>
              <a:t>衛星・地理空間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62072"/>
            <a:ext cx="2011680" cy="658368"/>
          </a:xfrm>
          <a:prstGeom prst="roundRect">
            <a:avLst>
              <a:gd name="adj" fmla="val 14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1693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AF1FF"/>
                </a:solidFill>
                <a:latin typeface="Arial"/>
                <a:ea typeface="Meiryo"/>
              </a:rPr>
              <a:t>OSINT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27832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D0"/>
                </a:solidFill>
                <a:latin typeface="Arial"/>
                <a:ea typeface="Meiryo"/>
              </a:rPr>
              <a:t>公開情報・Web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21024"/>
            <a:ext cx="2011680" cy="658368"/>
          </a:xfrm>
          <a:prstGeom prst="roundRect">
            <a:avLst>
              <a:gd name="adj" fmla="val 14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75887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AF1FF"/>
                </a:solidFill>
                <a:latin typeface="Arial"/>
                <a:ea typeface="Meiryo"/>
              </a:rPr>
              <a:t>SIGINT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8678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DB0D0"/>
                </a:solidFill>
                <a:latin typeface="Arial"/>
                <a:ea typeface="Meiryo"/>
              </a:rPr>
              <a:t>通信・電波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2240280"/>
            <a:ext cx="1783080" cy="1783080"/>
          </a:xfrm>
          <a:prstGeom prst="roundRect">
            <a:avLst>
              <a:gd name="adj" fmla="val 50000"/>
            </a:avLst>
          </a:prstGeom>
          <a:solidFill>
            <a:srgbClr val="0E2A52"/>
          </a:solidFill>
          <a:ln w="12700">
            <a:solidFill>
              <a:srgbClr val="5BC8FF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246888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AF1FF"/>
                </a:solidFill>
                <a:latin typeface="Arial"/>
                <a:ea typeface="Meiryo"/>
              </a:rPr>
              <a:t>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83464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5BC8FF"/>
                </a:solidFill>
                <a:latin typeface="Arial"/>
                <a:ea typeface="Meiryo"/>
              </a:rPr>
              <a:t>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2103120"/>
            <a:ext cx="3611880" cy="658368"/>
          </a:xfrm>
          <a:prstGeom prst="roundRect">
            <a:avLst>
              <a:gd name="adj" fmla="val 14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93792" y="2103120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5BC8FF"/>
                </a:solidFill>
                <a:latin typeface="Arial"/>
                <a:ea typeface="Meiryo"/>
              </a:rPr>
              <a:t>▸ </a:t>
            </a: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重要鉱物の探査・違法採掘モニタリング（SHIGEN AI）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2862072"/>
            <a:ext cx="3611880" cy="658368"/>
          </a:xfrm>
          <a:prstGeom prst="roundRect">
            <a:avLst>
              <a:gd name="adj" fmla="val 14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2862072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5BC8FF"/>
                </a:solidFill>
                <a:latin typeface="Arial"/>
                <a:ea typeface="Meiryo"/>
              </a:rPr>
              <a:t>▸ </a:t>
            </a: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防衛省・警察庁・内閣府 ＋ アフリカ諸国・国連機関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3621024"/>
            <a:ext cx="3611880" cy="658368"/>
          </a:xfrm>
          <a:prstGeom prst="roundRect">
            <a:avLst>
              <a:gd name="adj" fmla="val 14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621024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5BC8FF"/>
                </a:solidFill>
                <a:latin typeface="Arial"/>
                <a:ea typeface="Meiryo"/>
              </a:rPr>
              <a:t>▸ </a:t>
            </a: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120カ国超の開発者コミュニティが解析を供給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MOAT ・ 競争優位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なぜ Solafune が勝てるか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各社と競合せず“その上”の解析レイヤーに乗る——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資本効率・ネットワーク効果・主権的信認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75104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84831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DB0D0"/>
                </a:solidFill>
                <a:latin typeface="Arial"/>
                <a:ea typeface="Meiryo"/>
              </a:rPr>
              <a:t>上流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DB0D0"/>
                </a:solidFill>
                <a:latin typeface="Arial"/>
                <a:ea typeface="Meiryo"/>
              </a:rPr>
              <a:t>衛星を作る・飛ばす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066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AF1FF"/>
                </a:solidFill>
                <a:latin typeface="Arial"/>
                <a:ea typeface="Meiryo"/>
              </a:rPr>
              <a:t>三菱電機 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975104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2084831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DB0D0"/>
                </a:solidFill>
                <a:latin typeface="Arial"/>
                <a:ea typeface="Meiryo"/>
              </a:rPr>
              <a:t>中流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24140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DB0D0"/>
                </a:solidFill>
                <a:latin typeface="Arial"/>
                <a:ea typeface="Meiryo"/>
              </a:rPr>
              <a:t>データを撮る・売る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7066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AF1FF"/>
                </a:solidFill>
                <a:latin typeface="Arial"/>
                <a:ea typeface="Meiryo"/>
              </a:rPr>
              <a:t>Synspective / ICEYE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1975104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2084831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B454"/>
                </a:solidFill>
                <a:latin typeface="Arial"/>
                <a:ea typeface="Meiryo"/>
              </a:rPr>
              <a:t>下流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4140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DB0D0"/>
                </a:solidFill>
                <a:latin typeface="Arial"/>
                <a:ea typeface="Meiryo"/>
              </a:rPr>
              <a:t>解析 → インテリジェンス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9904" y="27066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5B454"/>
                </a:solidFill>
                <a:latin typeface="Arial"/>
                <a:ea typeface="Meiryo"/>
              </a:rPr>
              <a:t>★ Solafune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200400"/>
            <a:ext cx="2542032" cy="14173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3467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C8FF"/>
                </a:solidFill>
                <a:latin typeface="Arial"/>
                <a:ea typeface="Meiryo"/>
              </a:rPr>
              <a:t>◆ </a:t>
            </a:r>
            <a:r>
              <a:rPr sz="1300" b="1">
                <a:solidFill>
                  <a:srgbClr val="EAF1FF"/>
                </a:solidFill>
                <a:latin typeface="Arial"/>
                <a:ea typeface="Meiryo"/>
              </a:rPr>
              <a:t>センサー非依存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749039"/>
            <a:ext cx="221284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DB0D0"/>
                </a:solidFill>
                <a:latin typeface="Arial"/>
                <a:ea typeface="Meiryo"/>
              </a:rPr>
              <a:t>衛星を持たず複数ソースを統合する解析層＝高い資本効率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27832" y="3200400"/>
            <a:ext cx="2542032" cy="14173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10712" y="33467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C8FF"/>
                </a:solidFill>
                <a:latin typeface="Arial"/>
                <a:ea typeface="Meiryo"/>
              </a:rPr>
              <a:t>◆ </a:t>
            </a:r>
            <a:r>
              <a:rPr sz="1300" b="1">
                <a:solidFill>
                  <a:srgbClr val="EAF1FF"/>
                </a:solidFill>
                <a:latin typeface="Arial"/>
                <a:ea typeface="Meiryo"/>
              </a:rPr>
              <a:t>ネットワーク効果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0712" y="3749039"/>
            <a:ext cx="221284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DB0D0"/>
                </a:solidFill>
                <a:latin typeface="Arial"/>
                <a:ea typeface="Meiryo"/>
              </a:rPr>
              <a:t>120カ国の開発者がデータ・人材・アルゴリズムを循環供給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07024" y="3200400"/>
            <a:ext cx="2542032" cy="14173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9904" y="33467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C8FF"/>
                </a:solidFill>
                <a:latin typeface="Arial"/>
                <a:ea typeface="Meiryo"/>
              </a:rPr>
              <a:t>◆ </a:t>
            </a:r>
            <a:r>
              <a:rPr sz="1300" b="1">
                <a:solidFill>
                  <a:srgbClr val="EAF1FF"/>
                </a:solidFill>
                <a:latin typeface="Arial"/>
                <a:ea typeface="Meiryo"/>
              </a:rPr>
              <a:t>主権的信認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9904" y="3749039"/>
            <a:ext cx="221284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DB0D0"/>
                </a:solidFill>
                <a:latin typeface="Arial"/>
                <a:ea typeface="Meiryo"/>
              </a:rPr>
              <a:t>政府・国際機関の実績が参入障壁の高い領域での堀になる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MARKET ・ 市場規模（SOM）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“誰に・いくらで・何件”で積む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2032年SOM 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約101億円</a:t>
            </a: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 は、Exit逆算の必要売上 約88億と一致＝市場と財務が一本の線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7510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5BC8FF"/>
                </a:solidFill>
                <a:latin typeface="Arial"/>
                <a:ea typeface="Meiryo"/>
              </a:rPr>
              <a:t>2030年 SOM 積み上げ ＝ 85億円 / 38件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803442" cy="420624"/>
          </a:xfrm>
          <a:prstGeom prst="roundRect">
            <a:avLst>
              <a:gd name="adj" fmla="val 10000"/>
            </a:avLst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80344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8658" y="2286000"/>
            <a:ext cx="1383433" cy="420624"/>
          </a:xfrm>
          <a:prstGeom prst="roundRect">
            <a:avLst>
              <a:gd name="adj" fmla="val 10000"/>
            </a:avLst>
          </a:prstGeom>
          <a:solidFill>
            <a:srgbClr val="9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8658" y="2286000"/>
            <a:ext cx="138343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8668" y="2286000"/>
            <a:ext cx="531427" cy="420624"/>
          </a:xfrm>
          <a:prstGeom prst="roundRect">
            <a:avLst>
              <a:gd name="adj" fmla="val 10000"/>
            </a:avLst>
          </a:prstGeom>
          <a:solidFill>
            <a:srgbClr val="9D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8668" y="2286000"/>
            <a:ext cx="53142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76672" y="2286000"/>
            <a:ext cx="1288766" cy="420624"/>
          </a:xfrm>
          <a:prstGeom prst="roundRect">
            <a:avLst>
              <a:gd name="adj" fmla="val 10000"/>
            </a:avLst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2" y="2286000"/>
            <a:ext cx="128876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014" y="2286000"/>
            <a:ext cx="1856769" cy="420624"/>
          </a:xfrm>
          <a:prstGeom prst="roundRect">
            <a:avLst>
              <a:gd name="adj" fmla="val 10000"/>
            </a:avLst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2014" y="2286000"/>
            <a:ext cx="185676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907792"/>
            <a:ext cx="1499616" cy="64008"/>
          </a:xfrm>
          <a:prstGeom prst="rect">
            <a:avLst/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AF1FF"/>
                </a:solidFill>
                <a:latin typeface="Arial"/>
                <a:ea typeface="Meiryo"/>
              </a:rPr>
              <a:t>A 日本政府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12件×2.5億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BC8FF"/>
                </a:solidFill>
                <a:latin typeface="Arial"/>
                <a:ea typeface="Meiryo"/>
              </a:rPr>
              <a:t>¥30億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0312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03120" y="2907792"/>
            <a:ext cx="1499616" cy="64008"/>
          </a:xfrm>
          <a:prstGeom prst="rect">
            <a:avLst/>
          </a:prstGeom>
          <a:solidFill>
            <a:srgbClr val="9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1284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AF1FF"/>
                </a:solidFill>
                <a:latin typeface="Arial"/>
                <a:ea typeface="Meiryo"/>
              </a:rPr>
              <a:t>B 宇宙基金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1284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5件×3億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C8CFF"/>
                </a:solidFill>
                <a:latin typeface="Arial"/>
                <a:ea typeface="Meiryo"/>
              </a:rPr>
              <a:t>¥15億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0" y="2907792"/>
            <a:ext cx="1499616" cy="64008"/>
          </a:xfrm>
          <a:prstGeom prst="rect">
            <a:avLst/>
          </a:prstGeom>
          <a:solidFill>
            <a:srgbClr val="9D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6732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AF1FF"/>
                </a:solidFill>
                <a:latin typeface="Arial"/>
                <a:ea typeface="Meiryo"/>
              </a:rPr>
              <a:t>C 同志国MoU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732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8×50%×1.5億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DB0D0"/>
                </a:solidFill>
                <a:latin typeface="Arial"/>
                <a:ea typeface="Meiryo"/>
              </a:rPr>
              <a:t>¥6億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1208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12080" y="2907792"/>
            <a:ext cx="1499616" cy="6400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2180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AF1FF"/>
                </a:solidFill>
                <a:latin typeface="Arial"/>
                <a:ea typeface="Meiryo"/>
              </a:rPr>
              <a:t>D 経済安保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80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SHIGEN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2180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B454"/>
                </a:solidFill>
                <a:latin typeface="Arial"/>
                <a:ea typeface="Meiryo"/>
              </a:rPr>
              <a:t>¥14億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6656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66560" y="2907792"/>
            <a:ext cx="1499616" cy="64008"/>
          </a:xfrm>
          <a:prstGeom prst="rect">
            <a:avLst/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7628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AF1FF"/>
                </a:solidFill>
                <a:latin typeface="Arial"/>
                <a:ea typeface="Meiryo"/>
              </a:rPr>
              <a:t>E 民間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資源・インフラ監視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BC8FF"/>
                </a:solidFill>
                <a:latin typeface="Arial"/>
                <a:ea typeface="Meiryo"/>
              </a:rPr>
              <a:t>¥20億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023360"/>
            <a:ext cx="8046720" cy="566928"/>
          </a:xfrm>
          <a:prstGeom prst="roundRect">
            <a:avLst>
              <a:gd name="adj" fmla="val 12000"/>
            </a:avLst>
          </a:prstGeom>
          <a:solidFill>
            <a:srgbClr val="132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" y="4023360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DB0D0"/>
                </a:solidFill>
                <a:latin typeface="Arial"/>
                <a:ea typeface="Meiryo"/>
              </a:rPr>
              <a:t>2030年 </a:t>
            </a:r>
            <a:r>
              <a:rPr sz="1200" b="1">
                <a:solidFill>
                  <a:srgbClr val="EAF1FF"/>
                </a:solidFill>
                <a:latin typeface="Arial"/>
                <a:ea typeface="Meiryo"/>
              </a:rPr>
              <a:t>85億/38件</a:t>
            </a:r>
            <a:r>
              <a:rPr sz="1200" b="0">
                <a:solidFill>
                  <a:srgbClr val="9DB0D0"/>
                </a:solidFill>
                <a:latin typeface="Arial"/>
                <a:ea typeface="Meiryo"/>
              </a:rPr>
              <a:t> → 2032年 </a:t>
            </a:r>
            <a:r>
              <a:rPr sz="1200" b="1">
                <a:solidFill>
                  <a:srgbClr val="F5B454"/>
                </a:solidFill>
                <a:latin typeface="Arial"/>
                <a:ea typeface="Meiryo"/>
              </a:rPr>
              <a:t>101億/46件</a:t>
            </a: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。シェア仮定なし、単価×件数の積み上げ［仮・要検証／C転換率が最も要実証］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>出典：01前提パック §2-3（ボトムアップ積算）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QUANT ・ 定量モデル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5年で描く成長（仮・要検証）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売上 4億→85億（CAGR約113%）×粗利 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60→72%</a:t>
            </a: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。KPI閾値クリアで段階投資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75104"/>
            <a:ext cx="5212080" cy="2633472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5BC8FF"/>
                </a:solidFill>
                <a:latin typeface="Arial"/>
                <a:ea typeface="Meiryo"/>
              </a:rPr>
              <a:t>売上高の推移（億円）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4142769"/>
            <a:ext cx="658368" cy="81758"/>
          </a:xfrm>
          <a:prstGeom prst="roundRect">
            <a:avLst>
              <a:gd name="adj" fmla="val 18000"/>
            </a:avLst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23313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EAF1FF"/>
                </a:solidFill>
                <a:latin typeface="Arial"/>
                <a:ea typeface="Meiry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9DB0D0"/>
                </a:solidFill>
                <a:latin typeface="Arial"/>
                <a:ea typeface="Meiryo"/>
              </a:rPr>
              <a:t>'26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11095" y="3979253"/>
            <a:ext cx="658368" cy="245274"/>
          </a:xfrm>
          <a:prstGeom prst="roundRect">
            <a:avLst>
              <a:gd name="adj" fmla="val 18000"/>
            </a:avLst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19655" y="3759797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EAF1FF"/>
                </a:solidFill>
                <a:latin typeface="Arial"/>
                <a:ea typeface="Meiryo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9655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9DB0D0"/>
                </a:solidFill>
                <a:latin typeface="Arial"/>
                <a:ea typeface="Meiryo"/>
              </a:rPr>
              <a:t>'27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62072" y="3611342"/>
            <a:ext cx="658368" cy="613185"/>
          </a:xfrm>
          <a:prstGeom prst="roundRect">
            <a:avLst>
              <a:gd name="adj" fmla="val 18000"/>
            </a:avLst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0632" y="3391886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EAF1FF"/>
                </a:solidFill>
                <a:latin typeface="Arial"/>
                <a:ea typeface="Meiryo"/>
              </a:rPr>
              <a:t>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9DB0D0"/>
                </a:solidFill>
                <a:latin typeface="Arial"/>
                <a:ea typeface="Meiryo"/>
              </a:rPr>
              <a:t>'28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13048" y="3100353"/>
            <a:ext cx="658368" cy="1124174"/>
          </a:xfrm>
          <a:prstGeom prst="roundRect">
            <a:avLst>
              <a:gd name="adj" fmla="val 18000"/>
            </a:avLst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880897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EAF1FF"/>
                </a:solidFill>
                <a:latin typeface="Arial"/>
                <a:ea typeface="Meiryo"/>
              </a:rPr>
              <a:t>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9DB0D0"/>
                </a:solidFill>
                <a:latin typeface="Arial"/>
                <a:ea typeface="Meiryo"/>
              </a:rPr>
              <a:t>'29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64024" y="2487168"/>
            <a:ext cx="658368" cy="1737360"/>
          </a:xfrm>
          <a:prstGeom prst="roundRect">
            <a:avLst>
              <a:gd name="adj" fmla="val 18000"/>
            </a:avLst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72584" y="2267712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EAF1FF"/>
                </a:solidFill>
                <a:latin typeface="Arial"/>
                <a:ea typeface="Meiryo"/>
              </a:rPr>
              <a:t>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2584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9DB0D0"/>
                </a:solidFill>
                <a:latin typeface="Arial"/>
                <a:ea typeface="Meiryo"/>
              </a:rPr>
              <a:t>'30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33425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DB0D0"/>
                </a:solidFill>
                <a:latin typeface="Arial"/>
                <a:ea typeface="Meiryo"/>
              </a:rPr>
              <a:t>日本政府 → 同志国 → 民間（グローバルサウス）の段階展開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89320" y="1975104"/>
            <a:ext cx="2606040" cy="82296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2048256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5B454"/>
                </a:solidFill>
                <a:latin typeface="Arial"/>
                <a:ea typeface="Meiryo"/>
              </a:rPr>
              <a:t>60% → 72%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2468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9DB0D0"/>
                </a:solidFill>
                <a:latin typeface="Arial"/>
                <a:ea typeface="Meiryo"/>
              </a:rPr>
              <a:t>グロスマージン（ソフト/解析）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2880360"/>
            <a:ext cx="2606040" cy="82296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2953512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5BC8FF"/>
                </a:solidFill>
                <a:latin typeface="Arial"/>
                <a:ea typeface="Meiryo"/>
              </a:rPr>
              <a:t>¥31→36.5億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0488" y="33741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9DB0D0"/>
                </a:solidFill>
                <a:latin typeface="Arial"/>
                <a:ea typeface="Meiryo"/>
              </a:rPr>
              <a:t>投資前Pre→投資後Post-Val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3785616"/>
            <a:ext cx="2606040" cy="82296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3858768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9C8CFF"/>
                </a:solidFill>
                <a:latin typeface="Arial"/>
                <a:ea typeface="Meiryo"/>
              </a:rPr>
              <a:t>年率 約2倍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279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9DB0D0"/>
                </a:solidFill>
                <a:latin typeface="Arial"/>
                <a:ea typeface="Meiryo"/>
              </a:rPr>
              <a:t>政府リカーリングのフォローKPI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>出典：02財務モデル.xlsx（PL/前提シート）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EXIT ・ バリュエーション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1社でファンドを返す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Exit売上101億 × </a:t>
            </a:r>
            <a:r>
              <a:rPr sz="1350" b="1">
                <a:solidFill>
                  <a:srgbClr val="5BC8FF"/>
                </a:solidFill>
                <a:latin typeface="Arial"/>
                <a:ea typeface="Meiryo"/>
              </a:rPr>
              <a:t>EV/Sales 17倍</a:t>
            </a: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 → 企業価値 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約1,717億円</a:t>
            </a: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（持分12%で206億）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BC8FF"/>
                </a:solidFill>
                <a:latin typeface="Arial"/>
                <a:ea typeface="Meiryo"/>
              </a:rPr>
              <a:t>売上 ¥101億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9DB0D0"/>
                </a:solidFill>
                <a:latin typeface="Arial"/>
                <a:ea typeface="Meiryo"/>
              </a:rPr>
              <a:t>2032E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975104"/>
            <a:ext cx="25603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E7FA6"/>
                </a:solidFill>
                <a:latin typeface="Arial"/>
                <a:ea typeface="Meiryo"/>
              </a:rPr>
              <a:t>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9DB0D0"/>
                </a:solidFill>
                <a:latin typeface="Arial"/>
                <a:ea typeface="Meiryo"/>
              </a:rPr>
              <a:t>× 17倍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9DB0D0"/>
                </a:solidFill>
                <a:latin typeface="Arial"/>
                <a:ea typeface="Meiryo"/>
              </a:rPr>
              <a:t>EV/Sales（保守15–18）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599" y="1975104"/>
            <a:ext cx="25603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E7FA6"/>
                </a:solidFill>
                <a:latin typeface="Arial"/>
                <a:ea typeface="Meiryo"/>
              </a:rPr>
              <a:t>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0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5B454"/>
                </a:solidFill>
                <a:latin typeface="Arial"/>
                <a:ea typeface="Meiryo"/>
              </a:rPr>
              <a:t>¥1,717億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9DB0D0"/>
                </a:solidFill>
                <a:latin typeface="Arial"/>
                <a:ea typeface="Meiryo"/>
              </a:rPr>
              <a:t>Exit企業価値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975104"/>
            <a:ext cx="25603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E7FA6"/>
                </a:solidFill>
                <a:latin typeface="Arial"/>
                <a:ea typeface="Meiryo"/>
              </a:rPr>
              <a:t>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9DB0D0"/>
                </a:solidFill>
                <a:latin typeface="Arial"/>
                <a:ea typeface="Meiryo"/>
              </a:rPr>
              <a:t>× 12%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9DB0D0"/>
                </a:solidFill>
                <a:latin typeface="Arial"/>
                <a:ea typeface="Meiryo"/>
              </a:rPr>
              <a:t>Exit持分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75104"/>
            <a:ext cx="25603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E7FA6"/>
                </a:solidFill>
                <a:latin typeface="Arial"/>
                <a:ea typeface="Meiryo"/>
              </a:rPr>
              <a:t>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59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9C8CFF"/>
                </a:solidFill>
                <a:latin typeface="Arial"/>
                <a:ea typeface="Meiryo"/>
              </a:rPr>
              <a:t>¥206億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59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9DB0D0"/>
                </a:solidFill>
                <a:latin typeface="Arial"/>
                <a:ea typeface="Meiryo"/>
              </a:rPr>
              <a:t>ポジション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00400"/>
            <a:ext cx="5074920" cy="14173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3284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5BC8FF"/>
                </a:solidFill>
                <a:latin typeface="Arial"/>
                <a:ea typeface="Meiryo"/>
              </a:rPr>
              <a:t>EV/Sales 17倍の統計的導出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C8FF"/>
                </a:solidFill>
                <a:latin typeface="Arial"/>
                <a:ea typeface="Meiryo"/>
              </a:rPr>
              <a:t>“国しか客になれない国産インフラ”＝普通のソフトの約1.7倍の値札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9DB0D0"/>
                </a:solidFill>
                <a:latin typeface="Arial"/>
                <a:ea typeface="Meiryo"/>
              </a:rPr>
              <a:t>comps中央値10倍 ＋ ソフト+3／粗利+2／主権+2 ＝ </a:t>
            </a:r>
            <a:r>
              <a:rPr sz="1050" b="1">
                <a:solidFill>
                  <a:srgbClr val="F5B454"/>
                </a:solidFill>
                <a:latin typeface="Arial"/>
                <a:ea typeface="Meiryo"/>
              </a:rPr>
              <a:t>17倍</a:t>
            </a:r>
          </a:p>
          <a:p>
            <a:pPr algn="l">
              <a:lnSpc>
                <a:spcPct val="118000"/>
              </a:lnSpc>
            </a:pPr>
            <a:r>
              <a:rPr sz="1000" b="0">
                <a:solidFill>
                  <a:srgbClr val="6E7FA6"/>
                </a:solidFill>
                <a:latin typeface="Arial"/>
                <a:ea typeface="Meiryo"/>
              </a:rPr>
              <a:t>Palantirプレ20・現況60.7倍はバブルとして除外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3200400"/>
            <a:ext cx="2788920" cy="1417320"/>
          </a:xfrm>
          <a:prstGeom prst="roundRect">
            <a:avLst>
              <a:gd name="adj" fmla="val 7000"/>
            </a:avLst>
          </a:prstGeom>
          <a:solidFill>
            <a:srgbClr val="13234D"/>
          </a:solidFill>
          <a:ln w="12700">
            <a:solidFill>
              <a:srgbClr val="F5B454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16752" y="334670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5B454"/>
                </a:solidFill>
                <a:latin typeface="Arial"/>
                <a:ea typeface="Meiryo"/>
              </a:rPr>
              <a:t>ファンドリターナー成立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6752" y="3675887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AF1FF"/>
                </a:solidFill>
                <a:latin typeface="Arial"/>
                <a:ea typeface="Meiryo"/>
              </a:rPr>
              <a:t>¥206億</a:t>
            </a:r>
            <a:r>
              <a:rPr sz="1200" b="0">
                <a:solidFill>
                  <a:srgbClr val="9DB0D0"/>
                </a:solidFill>
                <a:latin typeface="Arial"/>
                <a:ea typeface="Meiryo"/>
              </a:rPr>
              <a:t> ÷ ¥150億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16752" y="4169663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＝ 対ファンド </a:t>
            </a:r>
            <a:r>
              <a:rPr sz="1300" b="1">
                <a:solidFill>
                  <a:srgbClr val="5BC8FF"/>
                </a:solidFill>
                <a:latin typeface="Arial"/>
                <a:ea typeface="Meiryo"/>
              </a:rPr>
              <a:t>1.37X</a:t>
            </a: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／総コミMOIC </a:t>
            </a:r>
            <a:r>
              <a:rPr sz="1300" b="1">
                <a:solidFill>
                  <a:srgbClr val="F5B454"/>
                </a:solidFill>
                <a:latin typeface="Arial"/>
                <a:ea typeface="Meiryo"/>
              </a:rPr>
              <a:t>12.5X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>出典：01前提パック §5・02財務モデル Exit/リターン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PORTFOLIO ・ ポートフォリオ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ネット3.0Xは分布で作る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実在2本（Solafune＋Humanity Brain）に厚く張り → 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グロス4.3X → ネットDPI 3.0X</a:t>
            </a: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（上位2社で回収の約65%）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75104"/>
            <a:ext cx="1499616" cy="11887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1499616" cy="6400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AF1FF"/>
                </a:solidFill>
                <a:latin typeface="Arial"/>
                <a:ea typeface="Meiryo"/>
              </a:rPr>
              <a:t>Solafune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395728"/>
            <a:ext cx="1316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★ FR（本命）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670048"/>
            <a:ext cx="13167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B454"/>
                </a:solidFill>
                <a:latin typeface="Arial"/>
                <a:ea typeface="Meiryo"/>
              </a:rPr>
              <a:t>¥206億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1975104"/>
            <a:ext cx="1499616" cy="11887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03120" y="1975104"/>
            <a:ext cx="1499616" cy="64008"/>
          </a:xfrm>
          <a:prstGeom prst="rect">
            <a:avLst/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2848" y="2103120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AF1FF"/>
                </a:solidFill>
                <a:latin typeface="Arial"/>
                <a:ea typeface="Meiryo"/>
              </a:rPr>
              <a:t>Humanity Brain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395728"/>
            <a:ext cx="1316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ニセ情報耐性AI・7-8X｜実在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2670048"/>
            <a:ext cx="13167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BC8FF"/>
                </a:solidFill>
                <a:latin typeface="Arial"/>
                <a:ea typeface="Meiryo"/>
              </a:rPr>
              <a:t>¥136億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1975104"/>
            <a:ext cx="1499616" cy="11887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1975104"/>
            <a:ext cx="1499616" cy="64008"/>
          </a:xfrm>
          <a:prstGeom prst="rect">
            <a:avLst/>
          </a:prstGeom>
          <a:solidFill>
            <a:srgbClr val="9D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67328" y="2103120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AF1FF"/>
                </a:solidFill>
                <a:latin typeface="Arial"/>
                <a:ea typeface="Meiryo"/>
              </a:rPr>
              <a:t>C・D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395728"/>
            <a:ext cx="1316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3-5X級2社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2670048"/>
            <a:ext cx="13167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DB0D0"/>
                </a:solidFill>
                <a:latin typeface="Arial"/>
                <a:ea typeface="Meiryo"/>
              </a:rPr>
              <a:t>¥119億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80" y="1975104"/>
            <a:ext cx="1499616" cy="11887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12080" y="1975104"/>
            <a:ext cx="1499616" cy="64008"/>
          </a:xfrm>
          <a:prstGeom prst="rect">
            <a:avLst/>
          </a:prstGeom>
          <a:solidFill>
            <a:srgbClr val="6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21808" y="2103120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AF1FF"/>
                </a:solidFill>
                <a:latin typeface="Arial"/>
                <a:ea typeface="Meiryo"/>
              </a:rPr>
              <a:t>E-G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808" y="2395728"/>
            <a:ext cx="1316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1-2X級3社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8" y="2670048"/>
            <a:ext cx="13167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6E7FA6"/>
                </a:solidFill>
                <a:latin typeface="Arial"/>
                <a:ea typeface="Meiryo"/>
              </a:rPr>
              <a:t>¥43億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0" y="1975104"/>
            <a:ext cx="1499616" cy="118872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1975104"/>
            <a:ext cx="1499616" cy="64008"/>
          </a:xfrm>
          <a:prstGeom prst="rect">
            <a:avLst/>
          </a:prstGeom>
          <a:solidFill>
            <a:srgbClr val="6E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6288" y="2103120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AF1FF"/>
                </a:solidFill>
                <a:latin typeface="Arial"/>
                <a:ea typeface="Meiryo"/>
              </a:rPr>
              <a:t>H-J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2395728"/>
            <a:ext cx="13167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9DB0D0"/>
                </a:solidFill>
                <a:latin typeface="Arial"/>
                <a:ea typeface="Meiryo"/>
              </a:rPr>
              <a:t>0-1X級3社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2670048"/>
            <a:ext cx="13167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6E7FA6"/>
                </a:solidFill>
                <a:latin typeface="Arial"/>
                <a:ea typeface="Meiryo"/>
              </a:rPr>
              <a:t>¥20億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346704"/>
            <a:ext cx="2633472" cy="82296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419856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5BC8FF"/>
                </a:solidFill>
                <a:latin typeface="Arial"/>
                <a:ea typeface="Meiryo"/>
              </a:rPr>
              <a:t>¥123億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DB0D0"/>
                </a:solidFill>
                <a:latin typeface="Arial"/>
                <a:ea typeface="Meiryo"/>
              </a:rPr>
              <a:t>投下資本（10社）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27832" y="3346704"/>
            <a:ext cx="2633472" cy="82296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2424" y="3419856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B454"/>
                </a:solidFill>
                <a:latin typeface="Arial"/>
                <a:ea typeface="Meiryo"/>
              </a:rPr>
              <a:t>¥524億 / 4.3X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92424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DB0D0"/>
                </a:solidFill>
                <a:latin typeface="Arial"/>
                <a:ea typeface="Meiryo"/>
              </a:rPr>
              <a:t>グロス回収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07024" y="3346704"/>
            <a:ext cx="2633472" cy="82296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71616" y="3419856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9C8CFF"/>
                </a:solidFill>
                <a:latin typeface="Arial"/>
                <a:ea typeface="Meiryo"/>
              </a:rPr>
              <a:t>3.0X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71616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DB0D0"/>
                </a:solidFill>
                <a:latin typeface="Arial"/>
                <a:ea typeface="Meiryo"/>
              </a:rPr>
              <a:t>ネットDPI（検算一致）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261104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DPI＝財布全体が何倍／MOIC＝この1社が何倍。</a:t>
            </a:r>
            <a:r>
              <a:rPr sz="1100" b="1">
                <a:solidFill>
                  <a:srgbClr val="EAF1FF"/>
                </a:solidFill>
                <a:latin typeface="Arial"/>
                <a:ea typeface="Meiryo"/>
              </a:rPr>
              <a:t>理想の薄い裾より、検証可能な実弾2本に厚く張る集中設計。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>出典：02財務モデル「ポートフォリオ」シート（net DPI 2.995≈3.0X）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1089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RISK ・ リスクと備え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AF1FF"/>
                </a:solidFill>
                <a:latin typeface="Arial"/>
                <a:ea typeface="Meiryo"/>
              </a:rPr>
              <a:t>弱点を、先に潰す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2C4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F5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出口・政府依存・評価・バブルの4論点に、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契約と設計レベルの具体策を当てる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3931920" cy="1225296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139696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B454"/>
                </a:solidFill>
                <a:latin typeface="Arial"/>
                <a:ea typeface="Meiryo"/>
              </a:rPr>
              <a:t>⚠ </a:t>
            </a:r>
            <a:r>
              <a:rPr sz="1400" b="1">
                <a:solidFill>
                  <a:srgbClr val="EAF1FF"/>
                </a:solidFill>
                <a:latin typeface="Arial"/>
                <a:ea typeface="Meiryo"/>
              </a:rPr>
              <a:t>出口が未実証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560320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上場済み宇宙SU（Synspective等）が実証。日本IPO波に乗る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993392"/>
            <a:ext cx="3931920" cy="1225296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82896" y="2139696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B454"/>
                </a:solidFill>
                <a:latin typeface="Arial"/>
                <a:ea typeface="Meiryo"/>
              </a:rPr>
              <a:t>⚠ </a:t>
            </a:r>
            <a:r>
              <a:rPr sz="1400" b="1">
                <a:solidFill>
                  <a:srgbClr val="EAF1FF"/>
                </a:solidFill>
                <a:latin typeface="Arial"/>
                <a:ea typeface="Meiryo"/>
              </a:rPr>
              <a:t>政府依存・調達変動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96" y="2560320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マイルストン連動＋同志国横展開でリカーリング化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8"/>
            <a:ext cx="3931920" cy="1225296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456432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B454"/>
                </a:solidFill>
                <a:latin typeface="Arial"/>
                <a:ea typeface="Meiryo"/>
              </a:rPr>
              <a:t>⚠ </a:t>
            </a:r>
            <a:r>
              <a:rPr sz="1400" b="1">
                <a:solidFill>
                  <a:srgbClr val="EAF1FF"/>
                </a:solidFill>
                <a:latin typeface="Arial"/>
                <a:ea typeface="Meiryo"/>
              </a:rPr>
              <a:t>バリュエーション非開示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877056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トランシェ払込・希薄化防止・取締役指名権を確保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3310128"/>
            <a:ext cx="3931920" cy="1225296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3456432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B454"/>
                </a:solidFill>
                <a:latin typeface="Arial"/>
                <a:ea typeface="Meiryo"/>
              </a:rPr>
              <a:t>⚠ </a:t>
            </a:r>
            <a:r>
              <a:rPr sz="1400" b="1">
                <a:solidFill>
                  <a:srgbClr val="EAF1FF"/>
                </a:solidFill>
                <a:latin typeface="Arial"/>
                <a:ea typeface="Meiryo"/>
              </a:rPr>
              <a:t>防衛AIバブル懸念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2896" y="3877056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保守的マルチプル(15–18倍)とExit時期の柔軟化で吸収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55464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40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BC8FF"/>
                </a:solidFill>
                <a:latin typeface="Arial"/>
                <a:ea typeface="Meiryo"/>
              </a:rPr>
              <a:t>SENTINEL CAPITAL PARTNERS  ×  Solafune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AF1FF"/>
                </a:solidFill>
                <a:latin typeface="Arial"/>
                <a:ea typeface="Meiryo"/>
              </a:rPr>
              <a:t>地球を読む者が、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5BC8FF"/>
                </a:solidFill>
                <a:latin typeface="Arial"/>
                <a:ea typeface="Meiryo"/>
              </a:rPr>
              <a:t>次の安全保障を制する。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DB0D0"/>
                </a:solidFill>
                <a:latin typeface="Arial"/>
                <a:ea typeface="Meiryo"/>
              </a:rPr>
              <a:t>経済安全保障 × 宇宙 × AI に、狭く深く張る。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75887"/>
            <a:ext cx="8046720" cy="676656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F5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75887"/>
            <a:ext cx="75895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B454"/>
                </a:solidFill>
                <a:latin typeface="Arial"/>
                <a:ea typeface="Meiryo"/>
              </a:rPr>
              <a:t>投資判断：</a:t>
            </a:r>
            <a:r>
              <a:rPr sz="1250" b="1">
                <a:solidFill>
                  <a:srgbClr val="EAF1FF"/>
                </a:solidFill>
                <a:latin typeface="Arial"/>
                <a:ea typeface="Meiryo"/>
              </a:rPr>
              <a:t>初回5.5億・持分約15%でリード</a:t>
            </a: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／Exit 206億・対ファンド1.37X・ネットDPI 3.0X ＝ </a:t>
            </a:r>
            <a:r>
              <a:rPr sz="1250" b="1">
                <a:solidFill>
                  <a:srgbClr val="5BC8FF"/>
                </a:solidFill>
                <a:latin typeface="Arial"/>
                <a:ea typeface="Meiryo"/>
              </a:rPr>
              <a:t>ファンドリターナー候補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E7FA6"/>
                </a:solidFill>
                <a:latin typeface="Arial"/>
                <a:ea typeface="Meiryo"/>
              </a:rPr>
              <a:t>ご清聴ありがとうございました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