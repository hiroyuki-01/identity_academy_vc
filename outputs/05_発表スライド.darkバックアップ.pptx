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65760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BOSS BATTLE ・ 本日の投資委員会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F1FF"/>
                </a:solidFill>
                <a:latin typeface="Arial"/>
                <a:ea typeface="Meiryo"/>
              </a:rPr>
              <a:t>ボスは「論破王」FM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64008" cy="548640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17904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論破を全部しのげたら、承認。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感想は要らない、ぜんぶ数字で殴り返す。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31720"/>
            <a:ext cx="960120" cy="960120"/>
          </a:xfrm>
          <a:prstGeom prst="ellipse">
            <a:avLst/>
          </a:prstGeom>
          <a:solidFill>
            <a:srgbClr val="2A1530"/>
          </a:solidFill>
          <a:ln w="254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9601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1FF"/>
                </a:solidFill>
                <a:latin typeface="Arial"/>
                <a:ea typeface="Meiryo"/>
              </a:rP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9232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5C6C"/>
                </a:solidFill>
                <a:latin typeface="Arial"/>
                <a:ea typeface="Meiryo"/>
              </a:rPr>
              <a:t>論破王 FM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2331720"/>
            <a:ext cx="3657600" cy="1691640"/>
          </a:xfrm>
          <a:prstGeom prst="roundRect">
            <a:avLst>
              <a:gd name="adj" fmla="val 10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4688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必殺技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98064"/>
            <a:ext cx="32461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「それってあなたの感想ですよね？」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「なんかそういうデータあるんですか？」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5C6C"/>
                </a:solidFill>
                <a:latin typeface="Arial"/>
                <a:ea typeface="Meiryo"/>
              </a:rPr>
              <a:t>「……で、論破」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331720"/>
            <a:ext cx="2788920" cy="169164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2468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挑戦者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798064"/>
            <a:ext cx="24231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新人アナリスト（私）</a:t>
            </a:r>
          </a:p>
          <a:p>
            <a:pPr algn="l">
              <a:lnSpc>
                <a:spcPct val="12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議題＝3号ファンドから</a:t>
            </a:r>
          </a:p>
          <a:p>
            <a:pPr algn="l">
              <a:lnSpc>
                <a:spcPct val="120000"/>
              </a:lnSpc>
            </a:pP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Solafuneにリード投資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全[仮]に数字と出典を用意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勝利条件＝論破4連打（誇大／感想／倫理／なぜ今あなた達）を</a:t>
            </a: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全て数字で返す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424281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4/4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59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26096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30767" y="4261104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VC FUND PITCH ・ 投資テーゼ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EAF1FF"/>
                </a:solidFill>
                <a:latin typeface="Arial"/>
                <a:ea typeface="Meiryo"/>
              </a:rPr>
              <a:t>SENTINEL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276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PARTNERS  ×  Solafune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230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32304"/>
            <a:ext cx="64008" cy="54864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432304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3号150億から初回5.5億・エントリー持分約15%で、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Solafuneにリード投資する。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8138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DB0D0"/>
                </a:solidFill>
                <a:latin typeface="Arial"/>
                <a:ea typeface="Meiryo"/>
              </a:rPr>
              <a:t>テーゼ：衛星を持たない</a:t>
            </a: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「Planetary Intelligence OS」＝解析・意思決定レイヤー特化</a:t>
            </a:r>
            <a:r>
              <a:rPr sz="1300" b="0">
                <a:solidFill>
                  <a:srgbClr val="9DB0D0"/>
                </a:solidFill>
                <a:latin typeface="Arial"/>
                <a:ea typeface="Meiryo"/>
              </a:rPr>
              <a:t>の希少な日本のデュアルユース・ソフト企業。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5072"/>
            <a:ext cx="2331720" cy="566928"/>
          </a:xfrm>
          <a:prstGeom prst="roundRect">
            <a:avLst>
              <a:gd name="adj" fmla="val 16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005072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5BC8FF"/>
                </a:solidFill>
                <a:latin typeface="Arial"/>
                <a:ea typeface="Meiryo"/>
              </a:rPr>
              <a:t>3号 ¥150億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4952" y="4005072"/>
            <a:ext cx="2331720" cy="566928"/>
          </a:xfrm>
          <a:prstGeom prst="roundRect">
            <a:avLst>
              <a:gd name="adj" fmla="val 16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4005072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B454"/>
                </a:solidFill>
                <a:latin typeface="Arial"/>
                <a:ea typeface="Meiryo"/>
              </a:rPr>
              <a:t>集中 10–12社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41264" y="4005072"/>
            <a:ext cx="2331720" cy="566928"/>
          </a:xfrm>
          <a:prstGeom prst="roundRect">
            <a:avLst>
              <a:gd name="adj" fmla="val 16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4005072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C8CFF"/>
                </a:solidFill>
                <a:latin typeface="Arial"/>
                <a:ea typeface="Meiryo"/>
              </a:rPr>
              <a:t>ネットDPI 3.0X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WHY US ・ なぜ私たち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なぜ私たちなのか ― 宇宙で2度、結果を出した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1号 2.0X → 2号 1.5X。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倍率が下がった“痛み”こそ、3号「集中」の根拠。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1FF"/>
                </a:solidFill>
                <a:latin typeface="Arial"/>
                <a:ea typeface="Meiryo"/>
              </a:rPr>
              <a:t>1号  </a:t>
            </a:r>
            <a:r>
              <a:rPr sz="1500" b="1">
                <a:solidFill>
                  <a:srgbClr val="5BC8FF"/>
                </a:solidFill>
                <a:latin typeface="Arial"/>
                <a:ea typeface="Meiryo"/>
              </a:rPr>
              <a:t>¥30億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237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宇宙の裾野・部品/データ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BC8FF"/>
                </a:solidFill>
                <a:latin typeface="Arial"/>
                <a:ea typeface="Meiryo"/>
              </a:rPr>
              <a:t>DPI 2.0X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1993392"/>
            <a:ext cx="164592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2403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5284" y="21214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1FF"/>
                </a:solidFill>
                <a:latin typeface="Arial"/>
                <a:ea typeface="Meiryo"/>
              </a:rPr>
              <a:t>2号  </a:t>
            </a:r>
            <a:r>
              <a:rPr sz="1500" b="1">
                <a:solidFill>
                  <a:srgbClr val="9C8CFF"/>
                </a:solidFill>
                <a:latin typeface="Arial"/>
                <a:ea typeface="Meiryo"/>
              </a:rPr>
              <a:t>¥80億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5284" y="25237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宇宙データ・解析の成長期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5284" y="31089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9C8CFF"/>
                </a:solidFill>
                <a:latin typeface="Arial"/>
                <a:ea typeface="Meiryo"/>
              </a:rPr>
              <a:t>DPI 1.5X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56148" y="1993392"/>
            <a:ext cx="164592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7" y="1993392"/>
            <a:ext cx="2542032" cy="157276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7" y="2121408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AF1FF"/>
                </a:solidFill>
                <a:latin typeface="Arial"/>
                <a:ea typeface="Meiryo"/>
              </a:rPr>
              <a:t>3号  </a:t>
            </a:r>
            <a:r>
              <a:rPr sz="1500" b="1">
                <a:solidFill>
                  <a:srgbClr val="F5B454"/>
                </a:solidFill>
                <a:latin typeface="Arial"/>
                <a:ea typeface="Meiryo"/>
              </a:rPr>
              <a:t>¥150億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7" y="2523744"/>
            <a:ext cx="2176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経済安保×宇宙×AIに集中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7" y="310896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B454"/>
                </a:solidFill>
                <a:latin typeface="Arial"/>
                <a:ea typeface="Meiryo"/>
              </a:rPr>
              <a:t>ネット3.0X 狙い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12463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宇宙を2度回したからこそのソーシング：</a:t>
            </a: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120カ国コミュニティ／防衛装備庁・国際機関リレーション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78224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2A1530"/>
          </a:solidFill>
          <a:ln w="127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4078224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ボス：「2号で下がってるじゃないですか」　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→ はい。だから分散をやめ、集中に振り切った。痛みを戦略に変えました。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HOW VC WINS ・ 勝ち筋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1社で元手を返す“ファンドリターナー”に張る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ネット3.0Xは“全社そこそこ”では作れない——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少数のアウトライヤーを必ず1社仕込む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4160520" cy="221284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10社のリターン分布（イメージ）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51759"/>
            <a:ext cx="274320" cy="1325880"/>
          </a:xfrm>
          <a:prstGeom prst="roundRect">
            <a:avLst>
              <a:gd name="adj" fmla="val 18000"/>
            </a:avLst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45059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5B454"/>
                </a:solidFill>
                <a:latin typeface="Arial"/>
                <a:ea typeface="Meiryo"/>
              </a:rPr>
              <a:t>FR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081527"/>
            <a:ext cx="274320" cy="896112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88035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C8FF"/>
                </a:solidFill>
                <a:latin typeface="Arial"/>
                <a:ea typeface="Meiryo"/>
              </a:rPr>
              <a:t>7-8X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3374135"/>
            <a:ext cx="274320" cy="603504"/>
          </a:xfrm>
          <a:prstGeom prst="roundRect">
            <a:avLst>
              <a:gd name="adj" fmla="val 18000"/>
            </a:avLst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3447287"/>
            <a:ext cx="274320" cy="530352"/>
          </a:xfrm>
          <a:prstGeom prst="roundRect">
            <a:avLst>
              <a:gd name="adj" fmla="val 18000"/>
            </a:avLst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630168"/>
            <a:ext cx="274320" cy="347472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79" y="370332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63239" y="3776472"/>
            <a:ext cx="274320" cy="201168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8999" y="3831335"/>
            <a:ext cx="274320" cy="146304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94759" y="3867911"/>
            <a:ext cx="274320" cy="109728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60520" y="3904487"/>
            <a:ext cx="274320" cy="73152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突出1本（Solafune＝FR）が回収の大半を作る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1993392"/>
            <a:ext cx="3703320" cy="221284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21214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ファンドリターナーの4条件（Solafune＝全○）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245059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450592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1社で150億超のポジションが射程（高い天井）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85292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852928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シード〜Aでリードしエグジット持分10〜12%確保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25526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255264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日本のIPOか国内プライム・商社M&amp;Aで回収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365760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657600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センサー非依存の解析レイヤーという自社エッジ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334256"/>
            <a:ext cx="8046720" cy="457200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334256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5B454"/>
                </a:solidFill>
                <a:latin typeface="Arial"/>
                <a:ea typeface="Meiryo"/>
              </a:rPr>
              <a:t>我々の付加価値（＝当たり馬を勝たせる）：</a:t>
            </a:r>
            <a:r>
              <a:rPr sz="1050" b="1">
                <a:solidFill>
                  <a:srgbClr val="EAF1FF"/>
                </a:solidFill>
                <a:latin typeface="Arial"/>
                <a:ea typeface="Meiryo"/>
              </a:rPr>
              <a:t>取締役就任／120カ国コミュニティ／政府リレーション／フォローオン　＝</a:t>
            </a:r>
            <a:r>
              <a:rPr sz="1050" b="1">
                <a:solidFill>
                  <a:srgbClr val="5BC8FF"/>
                </a:solidFill>
                <a:latin typeface="Arial"/>
                <a:ea typeface="Meiryo"/>
              </a:rPr>
              <a:t>起業家&gt;投資家で伴走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FUND DESIGN ・ ファンド設計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数字で語るファンドの骨格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150億・集中10社・初回5.5億で持分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約15%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、狙うはネット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DPI 3.0X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3969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¥150億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8833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ファンド総額（3号）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99339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213969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B454"/>
                </a:solidFill>
                <a:latin typeface="Arial"/>
                <a:ea typeface="Meiryo"/>
              </a:rPr>
              <a:t>3.0X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268833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目標ネットDPI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7024" y="199339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13969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10–12社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68833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集中ポートフォリオ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8211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2841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B454"/>
                </a:solidFill>
                <a:latin typeface="Arial"/>
                <a:ea typeface="Meiryo"/>
              </a:rPr>
              <a:t>約15%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7705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エントリー持分（リード）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7832" y="318211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332841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2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87705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管理報酬 / 成功報酬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7024" y="318211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332841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B454"/>
                </a:solidFill>
                <a:latin typeface="Arial"/>
                <a:ea typeface="Meiryo"/>
              </a:rPr>
              <a:t>10年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87705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運用期間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07408"/>
            <a:ext cx="8046720" cy="475488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407408"/>
            <a:ext cx="7589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算数：初回5.5億 ÷ 投資後36.5億（Pre 31＋5.5）＝ </a:t>
            </a:r>
            <a:r>
              <a:rPr sz="1200" b="1">
                <a:solidFill>
                  <a:srgbClr val="F5B454"/>
                </a:solidFill>
                <a:latin typeface="Arial"/>
                <a:ea typeface="Meiryo"/>
              </a:rPr>
              <a:t>約15%</a:t>
            </a: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。持分はチケット増でなくPre交渉で確保。チーム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GP2＋アソシ2＋クリアランス保持</a:t>
            </a: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＝件数の天井10〜12社。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WHY NOW ・ なぜ今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なぜ今なのか ― 2026年、制度が動いた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追い風は気分じゃない。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輸出緩和・ファストパス・前払い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で、市場と参入条件が構造的に変わった。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2542032" cy="14813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2542032" cy="73152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① 輸出ルール緩和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21579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協定国へ防衛装備の移転可。同志国市場が開く＝数が出て単価が下がる（量産効果）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32403" y="1920240"/>
            <a:ext cx="2542032" cy="14813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32403" y="1920240"/>
            <a:ext cx="2542032" cy="73152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5284" y="21031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② ファストパス調達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5284" y="2542032"/>
            <a:ext cx="21579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公募〜契約が約3.5か月（従来は1年超）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7" y="1920240"/>
            <a:ext cx="2542032" cy="14813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7" y="1920240"/>
            <a:ext cx="2542032" cy="73152"/>
          </a:xfrm>
          <a:prstGeom prst="rect">
            <a:avLst/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7" y="210312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③ 前払い・部分払い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7" y="2542032"/>
            <a:ext cx="215798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ディープテックの「死の谷」を浅くする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84448"/>
            <a:ext cx="8046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帰結＝民→官のデュアルユースが成立しやすい構造に。公的需要も実在：</a:t>
            </a: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防衛費8.7兆／宇宙戦略基金10年1兆／衛星コンステPFI 2,832億。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78224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2A1530"/>
          </a:solidFill>
          <a:ln w="12700">
            <a:solidFill>
              <a:srgbClr val="FF5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078224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ボス：「日本は輸出できないでしょ」　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→ 2026年4月に変わりました。戦闘中の国は除外、歯止めとセットです。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出典：防衛省・宇宙戦略基金（01前提パック §4・§6）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THE TARGET ・ 投資対象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Solafune ― 地球を読むOS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衛星画像・公開情報・通信という様々な“目”を束ねるAI＝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Planetary Intelligence 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29968"/>
            <a:ext cx="2011680" cy="585216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66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GEOINT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591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衛星・地理空間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06624"/>
            <a:ext cx="2011680" cy="585216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OSINT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公開情報・Web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2011680" cy="585216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SIGINT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1246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通信・電波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139696"/>
            <a:ext cx="1783080" cy="1627632"/>
          </a:xfrm>
          <a:prstGeom prst="roundRect">
            <a:avLst>
              <a:gd name="adj" fmla="val 50000"/>
            </a:avLst>
          </a:prstGeom>
          <a:solidFill>
            <a:srgbClr val="0E2A52"/>
          </a:solidFill>
          <a:ln w="12700">
            <a:solidFill>
              <a:srgbClr val="5BC8FF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2340864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706624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5BC8FF"/>
                </a:solidFill>
                <a:latin typeface="Arial"/>
                <a:ea typeface="Meiryo"/>
              </a:rPr>
              <a:t>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029968"/>
            <a:ext cx="3611880" cy="585216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2029968"/>
            <a:ext cx="3246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▸ 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重要鉱物の探査・違法採掘モニタリング（SHIGEN AI）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2706624"/>
            <a:ext cx="3611880" cy="585216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2706624"/>
            <a:ext cx="3246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▸ 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防衛省・警察庁・内閣府 ＋ アフリカ諸国・国連機関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3383280"/>
            <a:ext cx="3611880" cy="585216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3383280"/>
            <a:ext cx="3246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▸ 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120カ国超の開発者コミュニティが解析を供給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8046720" cy="512064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114800"/>
            <a:ext cx="7589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BC8FF"/>
                </a:solidFill>
                <a:latin typeface="Arial"/>
                <a:ea typeface="Meiryo"/>
              </a:rPr>
              <a:t>moat：</a:t>
            </a:r>
            <a:r>
              <a:rPr sz="1050" b="0">
                <a:solidFill>
                  <a:srgbClr val="EAF1FF"/>
                </a:solidFill>
                <a:latin typeface="Arial"/>
                <a:ea typeface="Meiryo"/>
              </a:rPr>
              <a:t>①センサー非依存のマルチソース解析　②120カ国コミュニティ　③政府・国際機関リレーション　④自然言語UI</a:t>
            </a: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　→ 資本効率高く二桁持分を保ちやすい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MARKET ・ 市場規模（SOM）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“誰に・いくらで・何件”で積む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2032年SOM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約101億円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 は、Exit逆算の必要売上 約88億と一致＝市場と財務が一本の線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2030年 SOM 積み上げ ＝ 85億円 / 38件（TAM：GeoAI 2030年629億ドル）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803442" cy="420624"/>
          </a:xfrm>
          <a:prstGeom prst="roundRect">
            <a:avLst>
              <a:gd name="adj" fmla="val 10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80344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8658" y="2286000"/>
            <a:ext cx="1383433" cy="420624"/>
          </a:xfrm>
          <a:prstGeom prst="roundRect">
            <a:avLst>
              <a:gd name="adj" fmla="val 10000"/>
            </a:avLst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8658" y="2286000"/>
            <a:ext cx="138343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8668" y="2286000"/>
            <a:ext cx="531427" cy="420624"/>
          </a:xfrm>
          <a:prstGeom prst="roundRect">
            <a:avLst>
              <a:gd name="adj" fmla="val 10000"/>
            </a:avLst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8668" y="2286000"/>
            <a:ext cx="5314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286000"/>
            <a:ext cx="1288766" cy="420624"/>
          </a:xfrm>
          <a:prstGeom prst="roundRect">
            <a:avLst>
              <a:gd name="adj" fmla="val 10000"/>
            </a:avLst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286000"/>
            <a:ext cx="128876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014" y="2286000"/>
            <a:ext cx="1856769" cy="420624"/>
          </a:xfrm>
          <a:prstGeom prst="roundRect">
            <a:avLst>
              <a:gd name="adj" fmla="val 10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014" y="2286000"/>
            <a:ext cx="185676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07792"/>
            <a:ext cx="1499616" cy="64008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A 日本政府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12件×2.5億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¥30億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2907792"/>
            <a:ext cx="1499616" cy="64008"/>
          </a:xfrm>
          <a:prstGeom prst="rect">
            <a:avLst/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B 宇宙基金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5件×3億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C8CFF"/>
                </a:solidFill>
                <a:latin typeface="Arial"/>
                <a:ea typeface="Meiryo"/>
              </a:rPr>
              <a:t>¥15億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2907792"/>
            <a:ext cx="1499616" cy="64008"/>
          </a:xfrm>
          <a:prstGeom prst="rect">
            <a:avLst/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C 同志国MoU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8×50%×1.5億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DB0D0"/>
                </a:solidFill>
                <a:latin typeface="Arial"/>
                <a:ea typeface="Meiryo"/>
              </a:rPr>
              <a:t>¥6億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12080" y="2907792"/>
            <a:ext cx="1499616" cy="6400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D 経済安保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SHIGEN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180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B454"/>
                </a:solidFill>
                <a:latin typeface="Arial"/>
                <a:ea typeface="Meiryo"/>
              </a:rPr>
              <a:t>¥14億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2907792"/>
            <a:ext cx="1499616" cy="64008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E 民間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資源・インフラ監視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¥20億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023360"/>
            <a:ext cx="8046720" cy="566928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402336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2030年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85億/38件</a:t>
            </a: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 → 2032年 </a:t>
            </a:r>
            <a:r>
              <a:rPr sz="1200" b="1">
                <a:solidFill>
                  <a:srgbClr val="F5B454"/>
                </a:solidFill>
                <a:latin typeface="Arial"/>
                <a:ea typeface="Meiryo"/>
              </a:rPr>
              <a:t>101億/46件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。シェア仮定なし、単価×件数の積み上げ［C転換率が最も要実証］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出典：01前提パック §2-3（ボトムアップ積算）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COMPETITION ・ 競争構造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競合の真正面でなく“その上”に立つ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ハードは大企業・ソフト/解析はスタートアップ。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Solafuneはマルチソース解析レイヤーで独自ポジション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3931920" cy="2103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グローバル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3520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● 防衛/解析テック：Palantir・Anduril・Helsing・Shield AI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● 防衛テックVC投資は2025年に過去最高 491億ドル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→ 解析・統合レイヤーが主戦場化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993392"/>
            <a:ext cx="3931920" cy="2103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1214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B454"/>
                </a:solidFill>
                <a:latin typeface="Arial"/>
                <a:ea typeface="Meiryo"/>
              </a:rPr>
              <a:t>国内（＝買い手候補でもある）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487168"/>
            <a:ext cx="35204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● Synspective＝上場で1社1,500億Exitを実証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● Axelspace・iQPS・重工プライム＝M&amp;A出口の買い手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→ Solafuneは各社の“上”の解析層に乗る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87952"/>
            <a:ext cx="8046720" cy="438912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187952"/>
            <a:ext cx="7589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Anduril「生産そのものに価値はない」＝</a:t>
            </a: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Solafuneはその解析層に日本政府アンカーで先行（→論破④で回収）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QUANT ・ 定量モデル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5年で描く成長（仮・要検証）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売上 4億→85億（CAGR約113%）×粗利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60→72%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。KPI閾値クリアで段階投資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5212080" cy="263347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売上高の推移（億円）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142769"/>
            <a:ext cx="658368" cy="81758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23313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1095" y="3979253"/>
            <a:ext cx="658368" cy="245274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9655" y="3759797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5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3611342"/>
            <a:ext cx="658368" cy="613185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3391886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3100353"/>
            <a:ext cx="658368" cy="1124174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2880897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4024" y="2487168"/>
            <a:ext cx="658368" cy="1737360"/>
          </a:xfrm>
          <a:prstGeom prst="roundRect">
            <a:avLst>
              <a:gd name="adj" fmla="val 18000"/>
            </a:avLst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2267712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DB0D0"/>
                </a:solidFill>
                <a:latin typeface="Arial"/>
                <a:ea typeface="Meiryo"/>
              </a:rPr>
              <a:t>日本政府 → 同志国 → 民間（グローバルサウス）の段階展開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1975104"/>
            <a:ext cx="2606040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048256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B454"/>
                </a:solidFill>
                <a:latin typeface="Arial"/>
                <a:ea typeface="Meiryo"/>
              </a:rPr>
              <a:t>60% → 72%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9DB0D0"/>
                </a:solidFill>
                <a:latin typeface="Arial"/>
                <a:ea typeface="Meiryo"/>
              </a:rPr>
              <a:t>グロスマージン（ソフト/解析）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2880360"/>
            <a:ext cx="2606040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953512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BC8FF"/>
                </a:solidFill>
                <a:latin typeface="Arial"/>
                <a:ea typeface="Meiryo"/>
              </a:rPr>
              <a:t>¥31→36.5億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33741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9DB0D0"/>
                </a:solidFill>
                <a:latin typeface="Arial"/>
                <a:ea typeface="Meiryo"/>
              </a:rPr>
              <a:t>投資前Pre→投資後Post-Val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785616"/>
            <a:ext cx="2606040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85876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9C8CFF"/>
                </a:solidFill>
                <a:latin typeface="Arial"/>
                <a:ea typeface="Meiryo"/>
              </a:rPr>
              <a:t>年率 約2倍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279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9DB0D0"/>
                </a:solidFill>
                <a:latin typeface="Arial"/>
                <a:ea typeface="Meiryo"/>
              </a:rPr>
              <a:t>政府リカーリングのフォローKPI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出典：02財務モデル.xlsx（PL/前提シート）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EXIT ・ バリュエーション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1社でファンドを返す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Exit売上101億 × 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EV/Sales 17倍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 → 企業価値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約1,717億円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（持分12%で206億）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5BC8FF"/>
                </a:solidFill>
                <a:latin typeface="Arial"/>
                <a:ea typeface="Meiryo"/>
              </a:rPr>
              <a:t>売上 ¥101億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2032E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9DB0D0"/>
                </a:solidFill>
                <a:latin typeface="Arial"/>
                <a:ea typeface="Meiryo"/>
              </a:rPr>
              <a:t>× 17倍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EV/Sales（保守15–18）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B454"/>
                </a:solidFill>
                <a:latin typeface="Arial"/>
                <a:ea typeface="Meiryo"/>
              </a:rPr>
              <a:t>¥1,717億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Exit企業価値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9DB0D0"/>
                </a:solidFill>
                <a:latin typeface="Arial"/>
                <a:ea typeface="Meiryo"/>
              </a:rPr>
              <a:t>× 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Exit持分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59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C8CFF"/>
                </a:solidFill>
                <a:latin typeface="Arial"/>
                <a:ea typeface="Meiryo"/>
              </a:rPr>
              <a:t>¥206億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ポジション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5074920" cy="14173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284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EV/Sales 17倍の統計的導出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5760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BC8FF"/>
                </a:solidFill>
                <a:latin typeface="Arial"/>
                <a:ea typeface="Meiryo"/>
              </a:rPr>
              <a:t>“国しか客になれない国産インフラ”＝普通のソフトの約1.7倍の値札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comps中央値10倍 ＋ ソフト+3／粗利+2／主権+2 ＝ </a:t>
            </a:r>
            <a:r>
              <a:rPr sz="1050" b="1">
                <a:solidFill>
                  <a:srgbClr val="F5B454"/>
                </a:solidFill>
                <a:latin typeface="Arial"/>
                <a:ea typeface="Meiryo"/>
              </a:rPr>
              <a:t>17倍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E7FA6"/>
                </a:solidFill>
                <a:latin typeface="Arial"/>
                <a:ea typeface="Meiryo"/>
              </a:rPr>
              <a:t>Palantirプレ20・現況60.7倍はバブルとして除外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3200400"/>
            <a:ext cx="2788920" cy="1417320"/>
          </a:xfrm>
          <a:prstGeom prst="roundRect">
            <a:avLst>
              <a:gd name="adj" fmla="val 7000"/>
            </a:avLst>
          </a:prstGeom>
          <a:solidFill>
            <a:srgbClr val="13234D"/>
          </a:solidFill>
          <a:ln w="12700">
            <a:solidFill>
              <a:srgbClr val="F5B454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33467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ファンドリターナー成立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367588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F1FF"/>
                </a:solidFill>
                <a:latin typeface="Arial"/>
                <a:ea typeface="Meiryo"/>
              </a:rPr>
              <a:t>¥206億</a:t>
            </a: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 ÷ ¥150億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169663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＝ 対ファンド </a:t>
            </a: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1.37X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／総コミMOIC </a:t>
            </a: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12.5X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出典：01前提パック §5・02財務モデル Exit/リターン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論破② ・ DEBUNK ROUND 1（感想）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AF1FF"/>
                </a:solidFill>
                <a:latin typeface="Arial"/>
                <a:ea typeface="Meiryo"/>
              </a:rPr>
              <a:t>「EV/Sales 17倍って、あなたの感想ですよね？」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その17倍、なんかそういうデータあるんですか？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感想じゃなく統計です。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comps中央値10倍＋要因分解(+7)、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Palantirバブルは除外済み。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採用群 {Planet6・Synspective7・BlackSky10・Anduril14・Palantirプレ20} → 中央値10倍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上乗せ+7倍＝ソフト比率+3／粗利優位+2／主権的信認+2 ＝ </a:t>
            </a: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17倍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Palantir現況60.7倍はバブル局面として明示除外（だから保守でも15〜18倍）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中央値10倍まで縮んでも、1社で元本の約8割を回収＝壊れない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3/4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RETURN ・ リターン検算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Solafune206億 ＝ 元手のほぼ1本ぶん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Solafune1社で元手をほぼ回収（＝唯一のFR）。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ネット3.0Xは10社のべき乗則で積む（上位2社で約65%）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788920" cy="1783080"/>
          </a:xfrm>
          <a:prstGeom prst="roundRect">
            <a:avLst>
              <a:gd name="adj" fmla="val 7000"/>
            </a:avLst>
          </a:prstGeom>
          <a:solidFill>
            <a:srgbClr val="13234D"/>
          </a:solidFill>
          <a:ln w="12700">
            <a:solidFill>
              <a:srgbClr val="F5B454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9424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AF1FF"/>
                </a:solidFill>
                <a:latin typeface="Arial"/>
                <a:ea typeface="Meiryo"/>
              </a:rPr>
              <a:t>¥206億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54096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総コミット16.5億→</a:t>
            </a:r>
            <a:r>
              <a:rPr sz="1100" b="1">
                <a:solidFill>
                  <a:srgbClr val="F5B454"/>
                </a:solidFill>
                <a:latin typeface="Arial"/>
                <a:ea typeface="Meiryo"/>
              </a:rPr>
              <a:t>MOIC 12.5X</a:t>
            </a: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／対ファンド </a:t>
            </a: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1.37X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93392"/>
            <a:ext cx="5074920" cy="45720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40" y="1993392"/>
            <a:ext cx="64008" cy="457200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9933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Solafune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93392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★唯一のFR（突出1本）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93392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¥206億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505456"/>
            <a:ext cx="5074920" cy="45720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505456"/>
            <a:ext cx="64008" cy="45720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250545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Humanity Brain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505456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勝ち馬B：実在候補7-8X（→論破③）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505456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¥136億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017520"/>
            <a:ext cx="5074920" cy="45720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20440" y="3017520"/>
            <a:ext cx="64008" cy="457200"/>
          </a:xfrm>
          <a:prstGeom prst="rect">
            <a:avLst/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C・D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0175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3-5X級 2社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01752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>
                <a:solidFill>
                  <a:srgbClr val="9DB0D0"/>
                </a:solidFill>
                <a:latin typeface="Arial"/>
                <a:ea typeface="Meiryo"/>
              </a:rPr>
              <a:t>¥119億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3529584"/>
            <a:ext cx="5074920" cy="45720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20440" y="3529584"/>
            <a:ext cx="64008" cy="457200"/>
          </a:xfrm>
          <a:prstGeom prst="rect">
            <a:avLst/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5295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E-J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529584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1-2X〜0-1X級 6社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3529584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50" b="1">
                <a:solidFill>
                  <a:srgbClr val="6E7FA6"/>
                </a:solidFill>
                <a:latin typeface="Arial"/>
                <a:ea typeface="Meiryo"/>
              </a:rPr>
              <a:t>¥63億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078224"/>
            <a:ext cx="2633472" cy="64008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BC8FF"/>
                </a:solidFill>
                <a:latin typeface="Arial"/>
                <a:ea typeface="Meiryo"/>
              </a:rPr>
              <a:t>¥123億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44622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投下資本（10社）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27832" y="4078224"/>
            <a:ext cx="2633472" cy="64008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2424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B454"/>
                </a:solidFill>
                <a:latin typeface="Arial"/>
                <a:ea typeface="Meiryo"/>
              </a:rPr>
              <a:t>¥524億 / 4.3X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92424" y="44622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グロス回収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07024" y="4078224"/>
            <a:ext cx="2633472" cy="64008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1616" y="41148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9C8CFF"/>
                </a:solidFill>
                <a:latin typeface="Arial"/>
                <a:ea typeface="Meiryo"/>
              </a:rPr>
              <a:t>3.0X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71616" y="44622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ネットDPI（検算一致）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出典：02財務モデル「ポートフォリオ」シート（net DPI 2.995≈3.0X）／感度：持分10%↑×EV/Sales15倍↑で150億超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論破① ・ DEBUNK ROUND 2（誇大）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AF1FF"/>
                </a:solidFill>
                <a:latin typeface="Arial"/>
                <a:ea typeface="Meiryo"/>
              </a:rPr>
              <a:t>「1.37Xで“ファンドリターナー”は盛りすぎでは？」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1.37Xって全然3.0Xに足りてないですよね？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別レイヤーの話です。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1.37Xは“対ファンド比”、この1社のMOICは12.5X。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盛ってない、定義です。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ファンドリターナー＝1社で元手150億をほぼ1本ぶん回収＝ポジション206億／ファンド150億＝1.37X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同じ1社を“投じた額”で見れば：206億 ÷ 総コミット16.5億 ＝ </a:t>
            </a: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MOIC 12.5X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全体3.0Xは別物：10社のべき乗則（上位2社で回収の約65%）で積む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DPI＝財布全体が何倍／MOIC＝この1社が何倍。混ぜると誤読します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2/4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論破③ ・ DEBUNK ROUND 3（倫理）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AF1FF"/>
                </a:solidFill>
                <a:latin typeface="Arial"/>
                <a:ea typeface="Meiryo"/>
              </a:rPr>
              <a:t>「Humanity Brainって“世論操作”の会社では？」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000"/>
            </a:avLst>
          </a:prstGeom>
          <a:solidFill>
            <a:srgbClr val="2A1530"/>
          </a:solidFill>
          <a:ln w="15875">
            <a:solidFill>
              <a:srgbClr val="FF5C6C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88720"/>
            <a:ext cx="7680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ボス：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認知戦AIって、世論を操作する危ない会社じゃないですか？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01952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01952"/>
            <a:ext cx="64008" cy="548640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7635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逆です。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用途は“認知防衛（誤情報耐性）”に限定、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攻撃的な利用は投資契約で禁止。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96896"/>
            <a:ext cx="8046720" cy="162763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743200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Humanity Brain＝認知戦対策AI・世論分布予測（防衛装備庁「社会シミュレーション」採択）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127248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線引き：対象国の認知“操作”ではなく、自国の認知“防衛”＝誤情報への耐性に用途限定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● 投資契約に influence-ops の攻撃的利用禁止コベナンツ＋第三国移転制限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95344"/>
            <a:ext cx="74980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E7FA6"/>
                </a:solidFill>
                <a:latin typeface="Arial"/>
                <a:ea typeface="Meiryo"/>
              </a:rPr>
              <a:t>● Solafune（物理GEOINT）の隣＝認知ドメインの解析層。守る側です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論破返し成功 ▶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ボスHP 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43159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100" b="1">
                <a:solidFill>
                  <a:srgbClr val="FF5C6C"/>
                </a:solidFill>
                <a:latin typeface="Arial"/>
                <a:ea typeface="Meiryo"/>
              </a:rPr>
              <a:t>1/4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59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6096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1" y="4334256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30767" y="4334256"/>
            <a:ext cx="310896" cy="16459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※前回ボスが唯一刺したESGの穴を、ここで塞ぐ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RISK ・ リスクと備え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残る弱点を、契約と設計で潰す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政府依存・チケット不整合・出口持続性に、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契約・設計レベルの具体策を当てる</a:t>
            </a:r>
            <a:r>
              <a:rPr sz="1350" b="1">
                <a:solidFill>
                  <a:srgbClr val="9DB0D0"/>
                </a:solidFill>
                <a:latin typeface="Arial"/>
                <a:ea typeface="Meiryo"/>
              </a:rPr>
              <a:t>（倫理は論破③で対応済）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3969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政府依存・調達変動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60320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マイルストン連動トランシェ＋同志国・民間へ需要分散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993392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213969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実シード2億 vs 想定5.5億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560320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シード〜プレA単独リード拡大で再設計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8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5643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出口倍率の持続性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77056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Exit後ろ倒し＋国内M&amp;A併行で備える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310128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345643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倫理・ESG（SIGINT/LAWS）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3877056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→ 論破③で用途限定＋コベナンツとして対応済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5C6C"/>
                </a:solidFill>
                <a:latin typeface="Arial"/>
                <a:ea typeface="Meiryo"/>
              </a:rPr>
              <a:t>FINISH ・ 決着（論破④：なぜ今・あなた達）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EAF1FF"/>
                </a:solidFill>
                <a:latin typeface="Arial"/>
                <a:ea typeface="Meiryo"/>
              </a:rPr>
              <a:t>論破ポイント、全部塞ぎました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17904"/>
            <a:ext cx="8046720" cy="530352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17904"/>
            <a:ext cx="64008" cy="530352"/>
          </a:xfrm>
          <a:prstGeom prst="rect">
            <a:avLst/>
          </a:prstGeom>
          <a:solidFill>
            <a:srgbClr val="FF5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17904"/>
            <a:ext cx="7635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なぜ私たち × なぜ今 × なぜSolafune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― 3つ、全部揃ってます。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311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E7FA6"/>
                </a:solidFill>
                <a:latin typeface="Arial"/>
                <a:ea typeface="Meiryo"/>
              </a:rPr>
              <a:t>BOSS HP </a:t>
            </a: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0/4 </a:t>
            </a: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撃破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2267712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79776" y="2267712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82112" y="2267712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84448" y="2267712"/>
            <a:ext cx="310896" cy="164592"/>
          </a:xfrm>
          <a:prstGeom prst="rect">
            <a:avLst/>
          </a:prstGeom>
          <a:solidFill>
            <a:srgbClr val="24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2128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誇大→定義／感想→統計／倫理→契約／なぜ今→3点回収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8046720" cy="1225296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F5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761488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投資判断：</a:t>
            </a: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初回5.5億・持分約15%でリード、リザーブ厚めでフォローオン＝ファンドリターナー候補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163824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ポジション約206億／対ファンド </a:t>
            </a: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1.37X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／ネットDPI </a:t>
            </a: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3.0X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／Exit </a:t>
            </a: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1,717億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547872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次アクション：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シード〜プレA単独リード組成の条件交渉、KPI連動トランシェ設計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5C6C"/>
                </a:solidFill>
                <a:latin typeface="Arial"/>
                <a:ea typeface="Meiryo"/>
              </a:rPr>
              <a:t>「……で、論破できました？」　</a:t>
            </a:r>
            <a:r>
              <a:rPr sz="1400" b="1">
                <a:solidFill>
                  <a:srgbClr val="5BC8FF"/>
                </a:solidFill>
                <a:latin typeface="Arial"/>
                <a:ea typeface="Meiryo"/>
              </a:rPr>
              <a:t>地球を読む者が、次の安全保障を制する。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268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7FA6"/>
                </a:solidFill>
                <a:latin typeface="Arial"/>
                <a:ea typeface="Meiryo"/>
              </a:rPr>
              <a:t>ご清聴ありがとうございました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6583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