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BOSS BATTLE ・ 本日の関門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AF1FF"/>
                </a:solidFill>
                <a:latin typeface="Arial"/>
                <a:ea typeface="Meiryo"/>
              </a:rPr>
              <a:t>ボスは「論破王」FM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64008" cy="548640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17904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論破を全部しのげたら、承認。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感想は要らない、ぜんぶ数字で殴り返す。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31720"/>
            <a:ext cx="960120" cy="960120"/>
          </a:xfrm>
          <a:prstGeom prst="ellipse">
            <a:avLst/>
          </a:prstGeom>
          <a:solidFill>
            <a:srgbClr val="2A1530"/>
          </a:solidFill>
          <a:ln w="254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1FF"/>
                </a:solidFill>
                <a:latin typeface="Arial"/>
                <a:ea typeface="Meiryo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9232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5C6C"/>
                </a:solidFill>
                <a:latin typeface="Arial"/>
                <a:ea typeface="Meiryo"/>
              </a:rPr>
              <a:t>論破王 FM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331720"/>
            <a:ext cx="3657600" cy="1691640"/>
          </a:xfrm>
          <a:prstGeom prst="roundRect">
            <a:avLst>
              <a:gd name="adj" fmla="val 10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4688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必殺技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98064"/>
            <a:ext cx="3246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「それってあなたの感想ですよね？」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「なんかそういうデータあるんですか？」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5C6C"/>
                </a:solidFill>
                <a:latin typeface="Arial"/>
                <a:ea typeface="Meiryo"/>
              </a:rPr>
              <a:t>「……で、論破」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331720"/>
            <a:ext cx="2788920" cy="169164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2468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挑戦者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798064"/>
            <a:ext cx="24231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新人アナリスト（私）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議題＝3号ファンドから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5BC8FF"/>
                </a:solidFill>
                <a:latin typeface="Arial"/>
                <a:ea typeface="Meiryo"/>
              </a:rPr>
              <a:t>Solafuneにリード投資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全[仮]に数字と出典を用意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24528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勝利条件＝論破4連打（誇大／感想／倫理／なぜ今あなた達）を</a:t>
            </a: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全て数字で返す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24281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4/4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59" y="4261104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6096" y="4261104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4261104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30767" y="4261104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WHY US ・ なぜ私たち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なぜ私たちなのか ― 宇宙で2度、結果を出した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486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1号 2.0X → 2号 1.5X。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倍率が下がった“痛み”こそ、3号「集中」の根拠。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1FF"/>
                </a:solidFill>
                <a:latin typeface="Arial"/>
                <a:ea typeface="Meiryo"/>
              </a:rPr>
              <a:t>1号  </a:t>
            </a:r>
            <a:r>
              <a:rPr sz="1500" b="1">
                <a:solidFill>
                  <a:srgbClr val="5BC8FF"/>
                </a:solidFill>
                <a:latin typeface="Arial"/>
                <a:ea typeface="Meiryo"/>
              </a:rPr>
              <a:t>¥30億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237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宇宙の裾野・部品/データ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BC8FF"/>
                </a:solidFill>
                <a:latin typeface="Arial"/>
                <a:ea typeface="Meiryo"/>
              </a:rPr>
              <a:t>DPI 2.0X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1993392"/>
            <a:ext cx="164592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E7FA6"/>
                </a:solidFill>
                <a:latin typeface="Arial"/>
                <a:ea typeface="Meiryo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2403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5284" y="21214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1FF"/>
                </a:solidFill>
                <a:latin typeface="Arial"/>
                <a:ea typeface="Meiryo"/>
              </a:rPr>
              <a:t>2号  </a:t>
            </a:r>
            <a:r>
              <a:rPr sz="1500" b="1">
                <a:solidFill>
                  <a:srgbClr val="9C8CFF"/>
                </a:solidFill>
                <a:latin typeface="Arial"/>
                <a:ea typeface="Meiryo"/>
              </a:rPr>
              <a:t>¥80億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5284" y="25237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宇宙データ・解析の成長期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5284" y="31089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9C8CFF"/>
                </a:solidFill>
                <a:latin typeface="Arial"/>
                <a:ea typeface="Meiryo"/>
              </a:rPr>
              <a:t>DPI 1.5X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6148" y="1993392"/>
            <a:ext cx="164592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E7FA6"/>
                </a:solidFill>
                <a:latin typeface="Arial"/>
                <a:ea typeface="Meiryo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7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7" y="21214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1FF"/>
                </a:solidFill>
                <a:latin typeface="Arial"/>
                <a:ea typeface="Meiryo"/>
              </a:rPr>
              <a:t>3号  </a:t>
            </a:r>
            <a:r>
              <a:rPr sz="1500" b="1">
                <a:solidFill>
                  <a:srgbClr val="F5B454"/>
                </a:solidFill>
                <a:latin typeface="Arial"/>
                <a:ea typeface="Meiryo"/>
              </a:rPr>
              <a:t>¥150億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7" y="25237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経済安保×宇宙×AIに集中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7" y="31089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B454"/>
                </a:solidFill>
                <a:latin typeface="Arial"/>
                <a:ea typeface="Meiryo"/>
              </a:rPr>
              <a:t>ネット3.0X 狙い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12463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宇宙を2度回したからこそのソーシング：</a:t>
            </a: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120カ国コミュニティ／防衛装備庁・国際機関リレーション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78224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2A1530"/>
          </a:solidFill>
          <a:ln w="127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078224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ボス：「2号で下がってるじゃないですか」　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→ はい。だから分散をやめ、集中に振り切った。痛みを戦略に変えました。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WHY NOW ・ なぜ今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なぜ今なのか ― 2026年、制度が動いた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486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追い風は気分じゃない。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輸出緩和・ファストパス・前払い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で、市場と参入条件が構造的に変わった。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2542032" cy="73152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① 輸出ルール緩和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協定国へ防衛装備の移転可。同志国市場が開く＝数が出て単価が下がる（量産効果）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2403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32403" y="1993392"/>
            <a:ext cx="2542032" cy="73152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5284" y="21945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② ファストパス調達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5284" y="2651760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公募〜契約が約3.5か月（従来は1年超）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7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7" y="1993392"/>
            <a:ext cx="2542032" cy="73152"/>
          </a:xfrm>
          <a:prstGeom prst="rect">
            <a:avLst/>
          </a:prstGeom>
          <a:solidFill>
            <a:srgbClr val="9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7" y="21945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③ 前払い・部分払い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7" y="2651760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ディープテックの「死の谷」を浅くする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12463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帰結：</a:t>
            </a: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民→官のデュアルユース（防災を入口に有事へ）が成立しやすい構造に。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78224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2A1530"/>
          </a:solidFill>
          <a:ln w="127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78224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ボス：「日本は輸出できないでしょ」　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→ 2026年4月に変わりました。戦闘中の国は除外、歯止めとセットです。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論破① ・ DEBUNK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AF1FF"/>
                </a:solidFill>
                <a:latin typeface="Arial"/>
                <a:ea typeface="Meiryo"/>
              </a:rPr>
              <a:t>「1.37Xで“ファンドリターナー”は盛りすぎでは？」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88720"/>
            <a:ext cx="7680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1.37Xって全然3.0Xに足りてないですよね？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4008" cy="548640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別レイヤーの話です。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1.37Xは“対ファンド比”、この1社のMOICは12.5X。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盛ってない、定義です。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6896"/>
            <a:ext cx="8046720" cy="162763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43200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ファンドリターナー＝1社で元手150億をほぼ1本ぶん回収＝ポジション206億／ファンド150億＝1.37X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127248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同じ1社を“投じた額”で見れば：206億 ÷ 総コミット16.5億 ＝ </a:t>
            </a:r>
            <a:r>
              <a:rPr sz="1150" b="1">
                <a:solidFill>
                  <a:srgbClr val="F5B454"/>
                </a:solidFill>
                <a:latin typeface="Arial"/>
                <a:ea typeface="Meiryo"/>
              </a:rPr>
              <a:t>MOIC 12.5X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全体3.0Xは別物：10社のべき乗則（上位2社で回収の約65%）で積む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953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E7FA6"/>
                </a:solidFill>
                <a:latin typeface="Arial"/>
                <a:ea typeface="Meiryo"/>
              </a:rPr>
              <a:t>● DPI＝財布全体が何倍／MOIC＝この1社が何倍。混ぜると誤読します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論破返し成功 ▶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ボスHP 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3159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3/4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6096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7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論破② ・ DEBUNK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AF1FF"/>
                </a:solidFill>
                <a:latin typeface="Arial"/>
                <a:ea typeface="Meiryo"/>
              </a:rPr>
              <a:t>「EV/Sales 17倍って、あなたの感想ですよね？」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88720"/>
            <a:ext cx="7680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その17倍、なんかそういうデータあるんですか？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4008" cy="548640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感想じゃなく統計です。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comps中央値10倍＋要因分解(+7)、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Palantirバブルは除外済み。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6896"/>
            <a:ext cx="8046720" cy="162763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43200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採用群 {Planet6・Synspective7・BlackSky10・Anduril14・Palantirプレ20} → 中央値10倍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127248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上乗せ+7倍＝ソフト比率+3／粗利優位+2／主権的信認+2 ＝ </a:t>
            </a:r>
            <a:r>
              <a:rPr sz="1150" b="1">
                <a:solidFill>
                  <a:srgbClr val="F5B454"/>
                </a:solidFill>
                <a:latin typeface="Arial"/>
                <a:ea typeface="Meiryo"/>
              </a:rPr>
              <a:t>17倍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Palantir現況60.7倍はバブル局面として明示除外（だから保守でも15〜18倍）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953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E7FA6"/>
                </a:solidFill>
                <a:latin typeface="Arial"/>
                <a:ea typeface="Meiryo"/>
              </a:rPr>
              <a:t>● 中央値10倍まで縮んでも、1社で元本の約8割を回収＝壊れない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論破返し成功 ▶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ボスHP 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3159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2/4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6096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7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論破③ ・ DEBUNK ROUND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AF1FF"/>
                </a:solidFill>
                <a:latin typeface="Arial"/>
                <a:ea typeface="Meiryo"/>
              </a:rPr>
              <a:t>「Humanity Brainって“世論操作”の会社では？」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88720"/>
            <a:ext cx="7680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認知戦AIって、世論を操作する危ない会社じゃないですか？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4008" cy="548640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逆です。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用途は“認知防衛（誤情報耐性）”に限定、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攻撃的な利用は投資契約で禁止。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6896"/>
            <a:ext cx="8046720" cy="162763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43200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Humanity Brain＝認知戦対策AI・世論分布予測（防衛装備庁「社会シミュレーション」採択）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127248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線引き：対象国の認知“操作”ではなく、自国の認知“防衛”＝誤情報への耐性に用途限定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投資契約に influence-ops の攻撃的利用禁止コベナンツ＋第三国移転制限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953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E7FA6"/>
                </a:solidFill>
                <a:latin typeface="Arial"/>
                <a:ea typeface="Meiryo"/>
              </a:rPr>
              <a:t>● Solafune（物理GEOINT）の隣＝認知ドメインの解析層。守る側です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論破返し成功 ▶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ボスHP 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3159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1/4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6096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7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※前回ボスが唯一刺したESGの穴を、ここで塞ぐ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論破④ ・ DEBUNK ROUND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AF1FF"/>
                </a:solidFill>
                <a:latin typeface="Arial"/>
                <a:ea typeface="Meiryo"/>
              </a:rPr>
              <a:t>「で、なぜ“今”“あなた達”が勝てるの？」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88720"/>
            <a:ext cx="7680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別に誰でもよくないですか？なぜあなた達？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4008" cy="548640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なぜ私たち × なぜ今 × なぜSolafune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― 3つ揃ってます。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6896"/>
            <a:ext cx="8046720" cy="162763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43200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なぜ私たち：宇宙で1号2.0X・2号1.5Xの実績＝ソーシングとパターン認識を持つ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127248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なぜ今：2026年の輸出緩和・ファストパス・前払いで参入条件が構造的に好転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なぜSolafune：ハードは大企業・ソフト/解析はスタートアップ（Anduril「生産に価値はない」）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953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E7FA6"/>
                </a:solidFill>
                <a:latin typeface="Arial"/>
                <a:ea typeface="Meiryo"/>
              </a:rPr>
              <a:t>● その解析層に、二桁持分でリードできるのが我々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論破返し成功 ▶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ボスHP 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3159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0/4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6096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7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FINISH ・ 決着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AF1FF"/>
                </a:solidFill>
                <a:latin typeface="Arial"/>
                <a:ea typeface="Meiryo"/>
              </a:rPr>
              <a:t>論破ポイント、全部塞ぎました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051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64008" cy="5486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10512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感想ゼロ・全部数字。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初回5.5億・持分約15%でSolafuneにリード。</a:t>
            </a:r>
            <a:r>
              <a:rPr sz="1350" b="1">
                <a:solidFill>
                  <a:srgbClr val="5BC8FF"/>
                </a:solidFill>
                <a:latin typeface="Arial"/>
                <a:ea typeface="Meiryo"/>
              </a:rPr>
              <a:t>Exit 206億・1.37X・ネットDPI 3.0X。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420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300" b="1">
                <a:solidFill>
                  <a:srgbClr val="5BC8FF"/>
                </a:solidFill>
                <a:latin typeface="Arial"/>
                <a:ea typeface="Meiryo"/>
              </a:rPr>
              <a:t>0/4 </a:t>
            </a: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撃破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578608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71216" y="2578608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2578608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75888" y="2578608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2374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誇大→定義／感想→統計／倫理→契約／なぜ今→3点回収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8046720" cy="877824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F5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12724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投資判断：</a:t>
            </a: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初回5.5億・持分約15%でリード、リザーブ厚めでフォローオン＝ファンドリターナー候補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511296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次アクション：</a:t>
            </a: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シード〜プレA単独リード組成の条件交渉、KPI連動トランシェ設計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5C6C"/>
                </a:solidFill>
                <a:latin typeface="Arial"/>
                <a:ea typeface="Meiryo"/>
              </a:rPr>
              <a:t>「……で、論破できました？」　</a:t>
            </a:r>
            <a:r>
              <a:rPr sz="1300" b="1">
                <a:solidFill>
                  <a:srgbClr val="5BC8FF"/>
                </a:solidFill>
                <a:latin typeface="Arial"/>
                <a:ea typeface="Meiryo"/>
              </a:rPr>
              <a:t>地球を読む者が、次の安全保障を制する。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