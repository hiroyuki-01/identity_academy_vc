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68" r:id="rId17"/>
    <p:sldId id="267" r:id="rId16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2.xml"/><Relationship Id="rId17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28.png"/><Relationship Id="rId6" Type="http://schemas.openxmlformats.org/officeDocument/2006/relationships/image" Target="../media/image23.png"/><Relationship Id="rId7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BC8FF"/>
                </a:solidFill>
                <a:latin typeface="Arial"/>
                <a:ea typeface="Arial"/>
                <a:cs typeface="Arial"/>
                <a:sym typeface="Arial"/>
              </a:rPr>
              <a:t>VC FUND PITCH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48640" y="1234440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1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EAF1FF"/>
                </a:solidFill>
                <a:latin typeface="Arial"/>
                <a:ea typeface="Arial"/>
                <a:cs typeface="Arial"/>
                <a:sym typeface="Arial"/>
              </a:rPr>
              <a:t>ORBIT SENTINEL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20574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5BC8FF"/>
                </a:solidFill>
                <a:latin typeface="Arial"/>
                <a:ea typeface="Arial"/>
                <a:cs typeface="Arial"/>
                <a:sym typeface="Arial"/>
              </a:rPr>
              <a:t>CAPITAL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29718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1FF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AF1FF"/>
                </a:solidFill>
                <a:latin typeface="Arial"/>
                <a:ea typeface="Arial"/>
                <a:cs typeface="Arial"/>
                <a:sym typeface="Arial"/>
              </a:rPr>
              <a:t>宇宙から地球を読み、経済安全保障に張る。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0D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9DB0D0"/>
                </a:solidFill>
                <a:latin typeface="Arial"/>
                <a:ea typeface="Arial"/>
                <a:cs typeface="Arial"/>
                <a:sym typeface="Arial"/>
              </a:rPr>
              <a:t>Securing the critical frontier — from orbit.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A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E7FA6"/>
                </a:solidFill>
                <a:latin typeface="Arial"/>
                <a:ea typeface="Arial"/>
                <a:cs typeface="Arial"/>
                <a:sym typeface="Arial"/>
              </a:rPr>
              <a:t>投資対象  </a:t>
            </a:r>
            <a:r>
              <a:rPr b="1" i="0" lang="en-US" sz="1300" u="none" cap="none" strike="noStrike">
                <a:solidFill>
                  <a:srgbClr val="EAF1FF"/>
                </a:solidFill>
                <a:latin typeface="Arial"/>
                <a:ea typeface="Arial"/>
                <a:cs typeface="Arial"/>
                <a:sym typeface="Arial"/>
              </a:rPr>
              <a:t>Solafune</a:t>
            </a:r>
            <a:r>
              <a:rPr b="0" i="0" lang="en-US" sz="1300" u="none" cap="none" strike="noStrike">
                <a:solidFill>
                  <a:srgbClr val="6E7FA6"/>
                </a:solidFill>
                <a:latin typeface="Arial"/>
                <a:ea typeface="Arial"/>
                <a:cs typeface="Arial"/>
                <a:sym typeface="Arial"/>
              </a:rPr>
              <a:t>     3号ファンド  </a:t>
            </a:r>
            <a:r>
              <a:rPr b="1" i="0" lang="en-US" sz="1300" u="none" cap="none" strike="noStrike">
                <a:solidFill>
                  <a:srgbClr val="F5B454"/>
                </a:solidFill>
                <a:latin typeface="Arial"/>
                <a:ea typeface="Arial"/>
                <a:cs typeface="Arial"/>
                <a:sym typeface="Arial"/>
              </a:rPr>
              <a:t>¥150億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217920" y="5029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F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7FA6"/>
                </a:solidFill>
                <a:latin typeface="Arial"/>
                <a:ea typeface="Arial"/>
                <a:cs typeface="Arial"/>
                <a:sym typeface="Arial"/>
              </a:rPr>
              <a:t>〈ファンド名は仮。チームで最終決定〉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50" name="ExecTitle"/>
          <p:cNvSpPr/>
          <p:nvPr/>
        </p:nvSpPr>
        <p:spPr>
          <a:xfrm>
            <a:off x="548640" y="36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エグゼクティブサマリー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1" name="Rule1"/>
          <p:cNvCxnSpPr/>
          <p:nvPr/>
        </p:nvCxnSpPr>
        <p:spPr>
          <a:xfrm>
            <a:off x="548640" y="957600"/>
            <a:ext cx="8046720" cy="0"/>
          </a:xfrm>
          <a:prstGeom prst="line">
            <a:avLst/>
          </a:prstGeom>
          <a:ln w="19050">
            <a:solidFill>
              <a:srgbClr val="9FA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ExecThesis"/>
          <p:cNvSpPr/>
          <p:nvPr/>
        </p:nvSpPr>
        <p:spPr>
          <a:xfrm>
            <a:off x="548640" y="1029600"/>
            <a:ext cx="8046720" cy="468000"/>
          </a:xfrm>
          <a:prstGeom prst="rect">
            <a:avLst/>
          </a:prstGeom>
          <a:solidFill>
            <a:srgbClr val="EEF0F4"/>
          </a:solidFill>
          <a:ln w="9525">
            <a:solidFill>
              <a:srgbClr val="D7DCE5"/>
            </a:solidFill>
          </a:ln>
          <a:effectLst/>
        </p:spPr>
        <p:txBody>
          <a:bodyPr rtlCol="0" anchor="ctr" wrap="square" lIns="216000" rIns="108000" tIns="21600" bIns="21600"/>
          <a:lstStyle/>
          <a:p>
            <a:pPr algn="l"/>
            <a:r>
              <a:rPr sz="1300" b="1">
                <a:solidFill>
                  <a:srgbClr val="16263F"/>
                </a:solidFill>
                <a:latin typeface="Arial"/>
              </a:rPr>
              <a:t>経済安全保障 × 宇宙 × AI に「狭く深く」張る集中型ファンドで、Solafune にリードで投資する。</a:t>
            </a:r>
          </a:p>
        </p:txBody>
      </p:sp>
      <p:sp>
        <p:nvSpPr>
          <p:cNvPr id="953" name="ExecThesisBar"/>
          <p:cNvSpPr/>
          <p:nvPr/>
        </p:nvSpPr>
        <p:spPr>
          <a:xfrm>
            <a:off x="548640" y="1029600"/>
            <a:ext cx="54000" cy="468000"/>
          </a:xfrm>
          <a:prstGeom prst="rect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4" name="ExecRow0"/>
          <p:cNvSpPr/>
          <p:nvPr/>
        </p:nvSpPr>
        <p:spPr>
          <a:xfrm>
            <a:off x="548640" y="1655999"/>
            <a:ext cx="8046720" cy="51120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5" name="ExecRowBar0"/>
          <p:cNvSpPr/>
          <p:nvPr/>
        </p:nvSpPr>
        <p:spPr>
          <a:xfrm>
            <a:off x="548640" y="1655999"/>
            <a:ext cx="54000" cy="511200"/>
          </a:xfrm>
          <a:prstGeom prst="rect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6" name="TextBox 955"/>
          <p:cNvSpPr txBox="1"/>
          <p:nvPr/>
        </p:nvSpPr>
        <p:spPr>
          <a:xfrm>
            <a:off x="692640" y="1655999"/>
            <a:ext cx="1044000" cy="511200"/>
          </a:xfrm>
          <a:prstGeom prst="rect">
            <a:avLst/>
          </a:prstGeom>
          <a:noFill/>
        </p:spPr>
        <p:txBody>
          <a:bodyPr wrap="square" anchor="ctr" lIns="54000" rIns="0" tIns="0" bIns="0">
            <a:spAutoFit/>
          </a:bodyPr>
          <a:lstStyle/>
          <a:p>
            <a:pPr algn="l"/>
            <a:r>
              <a:rPr sz="1300" b="1">
                <a:solidFill>
                  <a:srgbClr val="1488C2"/>
                </a:solidFill>
                <a:latin typeface="Arial"/>
              </a:rPr>
              <a:t>ファンド</a:t>
            </a:r>
          </a:p>
        </p:txBody>
      </p:sp>
      <p:sp>
        <p:nvSpPr>
          <p:cNvPr id="957" name="TextBox 956"/>
          <p:cNvSpPr txBox="1"/>
          <p:nvPr/>
        </p:nvSpPr>
        <p:spPr>
          <a:xfrm>
            <a:off x="1682640" y="1655999"/>
            <a:ext cx="6912720" cy="511200"/>
          </a:xfrm>
          <a:prstGeom prst="rect">
            <a:avLst/>
          </a:prstGeom>
          <a:noFill/>
        </p:spPr>
        <p:txBody>
          <a:bodyPr wrap="square" anchor="ctr" lIns="0" rIns="72000" tIns="0" bIns="0">
            <a:spAutoFit/>
          </a:bodyPr>
          <a:lstStyle/>
          <a:p>
            <a:pPr algn="l"/>
            <a:r>
              <a:rPr sz="1150">
                <a:solidFill>
                  <a:srgbClr val="16263F"/>
                </a:solidFill>
                <a:latin typeface="Arial"/>
              </a:rPr>
              <a:t>総額150億円・集中10〜12社・運用10年の日本登記3号。目標ネットDPI 3.0X（グロス約4.3X）。</a:t>
            </a:r>
          </a:p>
        </p:txBody>
      </p:sp>
      <p:sp>
        <p:nvSpPr>
          <p:cNvPr id="958" name="ExecRow1"/>
          <p:cNvSpPr/>
          <p:nvPr/>
        </p:nvSpPr>
        <p:spPr>
          <a:xfrm>
            <a:off x="548640" y="2239199"/>
            <a:ext cx="8046720" cy="51120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9" name="ExecRowBar1"/>
          <p:cNvSpPr/>
          <p:nvPr/>
        </p:nvSpPr>
        <p:spPr>
          <a:xfrm>
            <a:off x="548640" y="2239199"/>
            <a:ext cx="54000" cy="511200"/>
          </a:xfrm>
          <a:prstGeom prst="rect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692640" y="2239199"/>
            <a:ext cx="1044000" cy="511200"/>
          </a:xfrm>
          <a:prstGeom prst="rect">
            <a:avLst/>
          </a:prstGeom>
          <a:noFill/>
        </p:spPr>
        <p:txBody>
          <a:bodyPr wrap="square" anchor="ctr" lIns="54000" rIns="0" tIns="0" bIns="0">
            <a:spAutoFit/>
          </a:bodyPr>
          <a:lstStyle/>
          <a:p>
            <a:pPr algn="l"/>
            <a:r>
              <a:rPr sz="1300" b="1">
                <a:solidFill>
                  <a:srgbClr val="1488C2"/>
                </a:solidFill>
                <a:latin typeface="Arial"/>
              </a:rPr>
              <a:t>なぜ今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1682640" y="2239199"/>
            <a:ext cx="6912720" cy="511200"/>
          </a:xfrm>
          <a:prstGeom prst="rect">
            <a:avLst/>
          </a:prstGeom>
          <a:noFill/>
        </p:spPr>
        <p:txBody>
          <a:bodyPr wrap="square" anchor="ctr" lIns="0" rIns="72000" tIns="0" bIns="0">
            <a:spAutoFit/>
          </a:bodyPr>
          <a:lstStyle/>
          <a:p>
            <a:pPr algn="l"/>
            <a:r>
              <a:rPr sz="1150">
                <a:solidFill>
                  <a:srgbClr val="16263F"/>
                </a:solidFill>
                <a:latin typeface="Arial"/>
              </a:rPr>
              <a:t>重要鉱物の主権争いで、防衛・宇宙の公的需要が構造的に拡大（防衛8.8兆円・宇宙戦略基金1兆円）。</a:t>
            </a:r>
          </a:p>
        </p:txBody>
      </p:sp>
      <p:sp>
        <p:nvSpPr>
          <p:cNvPr id="962" name="ExecRow2"/>
          <p:cNvSpPr/>
          <p:nvPr/>
        </p:nvSpPr>
        <p:spPr>
          <a:xfrm>
            <a:off x="548640" y="2822399"/>
            <a:ext cx="8046720" cy="51120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3" name="ExecRowBar2"/>
          <p:cNvSpPr/>
          <p:nvPr/>
        </p:nvSpPr>
        <p:spPr>
          <a:xfrm>
            <a:off x="548640" y="2822399"/>
            <a:ext cx="54000" cy="511200"/>
          </a:xfrm>
          <a:prstGeom prst="rect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4" name="TextBox 963"/>
          <p:cNvSpPr txBox="1"/>
          <p:nvPr/>
        </p:nvSpPr>
        <p:spPr>
          <a:xfrm>
            <a:off x="692640" y="2822399"/>
            <a:ext cx="1044000" cy="511200"/>
          </a:xfrm>
          <a:prstGeom prst="rect">
            <a:avLst/>
          </a:prstGeom>
          <a:noFill/>
        </p:spPr>
        <p:txBody>
          <a:bodyPr wrap="square" anchor="ctr" lIns="54000" rIns="0" tIns="0" bIns="0">
            <a:spAutoFit/>
          </a:bodyPr>
          <a:lstStyle/>
          <a:p>
            <a:pPr algn="l"/>
            <a:r>
              <a:rPr sz="1300" b="1">
                <a:solidFill>
                  <a:srgbClr val="1488C2"/>
                </a:solidFill>
                <a:latin typeface="Arial"/>
              </a:rPr>
              <a:t>投資対象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1682640" y="2822399"/>
            <a:ext cx="6912720" cy="511200"/>
          </a:xfrm>
          <a:prstGeom prst="rect">
            <a:avLst/>
          </a:prstGeom>
          <a:noFill/>
        </p:spPr>
        <p:txBody>
          <a:bodyPr wrap="square" anchor="ctr" lIns="0" rIns="72000" tIns="0" bIns="0">
            <a:spAutoFit/>
          </a:bodyPr>
          <a:lstStyle/>
          <a:p>
            <a:pPr algn="l"/>
            <a:r>
              <a:rPr sz="1150">
                <a:solidFill>
                  <a:srgbClr val="16263F"/>
                </a:solidFill>
                <a:latin typeface="Arial"/>
              </a:rPr>
              <a:t>Solafune＝衛星×AIで地球を解析する「Planetary Intelligence OS」。120カ国超の開発者基盤。</a:t>
            </a:r>
          </a:p>
        </p:txBody>
      </p:sp>
      <p:sp>
        <p:nvSpPr>
          <p:cNvPr id="966" name="ExecRow3"/>
          <p:cNvSpPr/>
          <p:nvPr/>
        </p:nvSpPr>
        <p:spPr>
          <a:xfrm>
            <a:off x="548640" y="3405599"/>
            <a:ext cx="8046720" cy="51120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7" name="ExecRowBar3"/>
          <p:cNvSpPr/>
          <p:nvPr/>
        </p:nvSpPr>
        <p:spPr>
          <a:xfrm>
            <a:off x="548640" y="3405599"/>
            <a:ext cx="54000" cy="511200"/>
          </a:xfrm>
          <a:prstGeom prst="rect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8" name="TextBox 967"/>
          <p:cNvSpPr txBox="1"/>
          <p:nvPr/>
        </p:nvSpPr>
        <p:spPr>
          <a:xfrm>
            <a:off x="692640" y="3405599"/>
            <a:ext cx="1044000" cy="511200"/>
          </a:xfrm>
          <a:prstGeom prst="rect">
            <a:avLst/>
          </a:prstGeom>
          <a:noFill/>
        </p:spPr>
        <p:txBody>
          <a:bodyPr wrap="square" anchor="ctr" lIns="54000" rIns="0" tIns="0" bIns="0">
            <a:spAutoFit/>
          </a:bodyPr>
          <a:lstStyle/>
          <a:p>
            <a:pPr algn="l"/>
            <a:r>
              <a:rPr sz="1300" b="1">
                <a:solidFill>
                  <a:srgbClr val="1488C2"/>
                </a:solidFill>
                <a:latin typeface="Arial"/>
              </a:rPr>
              <a:t>勝ち筋</a:t>
            </a:r>
          </a:p>
        </p:txBody>
      </p:sp>
      <p:sp>
        <p:nvSpPr>
          <p:cNvPr id="969" name="TextBox 968"/>
          <p:cNvSpPr txBox="1"/>
          <p:nvPr/>
        </p:nvSpPr>
        <p:spPr>
          <a:xfrm>
            <a:off x="1682640" y="3405599"/>
            <a:ext cx="6912720" cy="511200"/>
          </a:xfrm>
          <a:prstGeom prst="rect">
            <a:avLst/>
          </a:prstGeom>
          <a:noFill/>
        </p:spPr>
        <p:txBody>
          <a:bodyPr wrap="square" anchor="ctr" lIns="0" rIns="72000" tIns="0" bIns="0">
            <a:spAutoFit/>
          </a:bodyPr>
          <a:lstStyle/>
          <a:p>
            <a:pPr algn="l"/>
            <a:r>
              <a:rPr sz="1150">
                <a:solidFill>
                  <a:srgbClr val="16263F"/>
                </a:solidFill>
                <a:latin typeface="Arial"/>
              </a:rPr>
              <a:t>衛星を持たず解析レイヤーに特化。ネットワーク効果と政府・国際機関の信認が参入障壁。</a:t>
            </a:r>
          </a:p>
        </p:txBody>
      </p:sp>
      <p:sp>
        <p:nvSpPr>
          <p:cNvPr id="970" name="ExecRow4"/>
          <p:cNvSpPr/>
          <p:nvPr/>
        </p:nvSpPr>
        <p:spPr>
          <a:xfrm>
            <a:off x="548640" y="3988799"/>
            <a:ext cx="8046720" cy="51120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1" name="ExecRowBar4"/>
          <p:cNvSpPr/>
          <p:nvPr/>
        </p:nvSpPr>
        <p:spPr>
          <a:xfrm>
            <a:off x="548640" y="3988799"/>
            <a:ext cx="54000" cy="511200"/>
          </a:xfrm>
          <a:prstGeom prst="rect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2" name="TextBox 971"/>
          <p:cNvSpPr txBox="1"/>
          <p:nvPr/>
        </p:nvSpPr>
        <p:spPr>
          <a:xfrm>
            <a:off x="692640" y="3988799"/>
            <a:ext cx="1044000" cy="511200"/>
          </a:xfrm>
          <a:prstGeom prst="rect">
            <a:avLst/>
          </a:prstGeom>
          <a:noFill/>
        </p:spPr>
        <p:txBody>
          <a:bodyPr wrap="square" anchor="ctr" lIns="54000" rIns="0" tIns="0" bIns="0">
            <a:spAutoFit/>
          </a:bodyPr>
          <a:lstStyle/>
          <a:p>
            <a:pPr algn="l"/>
            <a:r>
              <a:rPr sz="1300" b="1">
                <a:solidFill>
                  <a:srgbClr val="1488C2"/>
                </a:solidFill>
                <a:latin typeface="Arial"/>
              </a:rPr>
              <a:t>リターン</a:t>
            </a:r>
          </a:p>
        </p:txBody>
      </p:sp>
      <p:sp>
        <p:nvSpPr>
          <p:cNvPr id="973" name="TextBox 972"/>
          <p:cNvSpPr txBox="1"/>
          <p:nvPr/>
        </p:nvSpPr>
        <p:spPr>
          <a:xfrm>
            <a:off x="1682640" y="3988799"/>
            <a:ext cx="6912720" cy="511200"/>
          </a:xfrm>
          <a:prstGeom prst="rect">
            <a:avLst/>
          </a:prstGeom>
          <a:noFill/>
        </p:spPr>
        <p:txBody>
          <a:bodyPr wrap="square" anchor="ctr" lIns="0" rIns="72000" tIns="0" bIns="0">
            <a:spAutoFit/>
          </a:bodyPr>
          <a:lstStyle/>
          <a:p>
            <a:pPr algn="l"/>
            <a:r>
              <a:rPr sz="1150">
                <a:solidFill>
                  <a:srgbClr val="16263F"/>
                </a:solidFill>
                <a:latin typeface="Arial"/>
              </a:rPr>
              <a:t>Solafune 1社のExit（企業価値1,500〜1,800億円）で150億円ファンドを回収（約1.3X）。</a:t>
            </a:r>
          </a:p>
        </p:txBody>
      </p:sp>
      <p:sp>
        <p:nvSpPr>
          <p:cNvPr id="974" name="TextBox 973"/>
          <p:cNvSpPr txBox="1"/>
          <p:nvPr/>
        </p:nvSpPr>
        <p:spPr>
          <a:xfrm>
            <a:off x="548640" y="4589999"/>
            <a:ext cx="8046720" cy="251999"/>
          </a:xfrm>
          <a:prstGeom prst="rect">
            <a:avLst/>
          </a:prstGeom>
          <a:noFill/>
        </p:spPr>
        <p:txBody>
          <a:bodyPr wrap="square" anchor="ctr" lIns="18000" rIns="0" tIns="0" bIns="0">
            <a:spAutoFit/>
          </a:bodyPr>
          <a:lstStyle/>
          <a:p>
            <a:pPr algn="l"/>
            <a:r>
              <a:rPr sz="1000">
                <a:solidFill>
                  <a:srgbClr val="56627A"/>
                </a:solidFill>
                <a:latin typeface="Arial"/>
              </a:rPr>
              <a:t>守り：出口未実証・政府依存・評価非開示のリスクは、契約条項（トランシェ払込・希薄化防止・取締役指名権）と保守的前提で先回りして潰す。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548640" y="36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私たちは、どう勝つか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1800000"/>
            <a:ext cx="2468880" cy="2468880"/>
          </a:xfrm>
          <a:prstGeom prst="roundRect">
            <a:avLst>
              <a:gd fmla="val 3333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04672" y="2074320"/>
            <a:ext cx="713232" cy="713232"/>
          </a:xfrm>
          <a:prstGeom prst="ellipse">
            <a:avLst/>
          </a:prstGeom>
          <a:solidFill>
            <a:srgbClr val="E4ECF8"/>
          </a:solidFill>
          <a:ln cap="flat" cmpd="sng" w="15875">
            <a:solidFill>
              <a:srgbClr val="1488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264" y="223891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804672" y="29887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主権 SOVEREIGNTY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04672" y="3464208"/>
            <a:ext cx="197510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56627A"/>
                </a:solidFill>
              </a:rPr>
              <a:t>国産・データ主権が不可欠な領域に、政府アンカーで張る</a:t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246120" y="1800000"/>
            <a:ext cx="2468880" cy="2468880"/>
          </a:xfrm>
          <a:prstGeom prst="roundRect">
            <a:avLst>
              <a:gd fmla="val 3333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502152" y="2074320"/>
            <a:ext cx="713232" cy="713232"/>
          </a:xfrm>
          <a:prstGeom prst="ellipse">
            <a:avLst/>
          </a:prstGeom>
          <a:solidFill>
            <a:srgbClr val="E4ECF8"/>
          </a:solidFill>
          <a:ln cap="flat" cmpd="sng" w="15875">
            <a:solidFill>
              <a:srgbClr val="D988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6744" y="223891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3502152" y="29887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集中 CONCENTRATION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502152" y="3464208"/>
            <a:ext cx="197510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10〜12社に絞り、1社でファンドを返す設計に徹する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943600" y="1800000"/>
            <a:ext cx="2468880" cy="2468880"/>
          </a:xfrm>
          <a:prstGeom prst="roundRect">
            <a:avLst>
              <a:gd fmla="val 3333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199632" y="2074320"/>
            <a:ext cx="713232" cy="713232"/>
          </a:xfrm>
          <a:prstGeom prst="ellipse">
            <a:avLst/>
          </a:prstGeom>
          <a:solidFill>
            <a:srgbClr val="E4ECF8"/>
          </a:solidFill>
          <a:ln cap="flat" cmpd="sng" w="15875">
            <a:solidFill>
              <a:srgbClr val="6E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4224" y="223891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6199632" y="29887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宇宙×AI ORBIT × AI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199632" y="3464208"/>
            <a:ext cx="197510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衛星×AIで地球を解析するソフト層に投資する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Rule2"/>
          <p:cNvCxnSpPr/>
          <p:nvPr/>
        </p:nvCxnSpPr>
        <p:spPr>
          <a:xfrm>
            <a:off x="548640" y="957600"/>
            <a:ext cx="8046720" cy="0"/>
          </a:xfrm>
          <a:prstGeom prst="line">
            <a:avLst/>
          </a:prstGeom>
          <a:ln w="19050">
            <a:solidFill>
              <a:srgbClr val="9FA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KeyBox2"/>
          <p:cNvSpPr/>
          <p:nvPr/>
        </p:nvSpPr>
        <p:spPr>
          <a:xfrm>
            <a:off x="548640" y="1029600"/>
            <a:ext cx="8046720" cy="691200"/>
          </a:xfrm>
          <a:prstGeom prst="rect">
            <a:avLst/>
          </a:prstGeom>
          <a:solidFill>
            <a:srgbClr val="EEF0F4"/>
          </a:solidFill>
          <a:ln w="9525">
            <a:solidFill>
              <a:srgbClr val="D7DCE5"/>
            </a:solidFill>
          </a:ln>
          <a:effectLst/>
        </p:spPr>
        <p:txBody>
          <a:bodyPr rtlCol="0" anchor="ctr" wrap="square" lIns="216000" rIns="108000" tIns="28800" bIns="28800"/>
          <a:lstStyle/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重要鉱物・資源安全保障のデュアルユースに、狭く深く張る集中型ファンド。</a:t>
            </a:r>
          </a:p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主権・データが不可欠な領域を、政府アンカーで10〜12社に集中投資。</a:t>
            </a:r>
          </a:p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衛星×AIの解析レイヤーに絞り、1社でファンドを返す設計に徹する。</a:t>
            </a:r>
          </a:p>
        </p:txBody>
      </p:sp>
      <p:sp>
        <p:nvSpPr>
          <p:cNvPr id="48" name="KeyBar2"/>
          <p:cNvSpPr/>
          <p:nvPr/>
        </p:nvSpPr>
        <p:spPr>
          <a:xfrm>
            <a:off x="548640" y="1029600"/>
            <a:ext cx="54000" cy="691200"/>
          </a:xfrm>
          <a:prstGeom prst="rect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548640" y="36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数字で語るファンドの骨格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8640" y="1620000"/>
            <a:ext cx="2468880" cy="1170432"/>
          </a:xfrm>
          <a:prstGeom prst="roundRect">
            <a:avLst>
              <a:gd fmla="val 7031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777240" y="178459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88C2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488C2"/>
                </a:solidFill>
                <a:latin typeface="Arial"/>
                <a:ea typeface="Arial"/>
                <a:cs typeface="Arial"/>
                <a:sym typeface="Arial"/>
              </a:rPr>
              <a:t>¥150億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795528" y="2388096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ファンド総額（3号）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246120" y="1620000"/>
            <a:ext cx="2468880" cy="1170432"/>
          </a:xfrm>
          <a:prstGeom prst="roundRect">
            <a:avLst>
              <a:gd fmla="val 7031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474720" y="178459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81C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D9881C"/>
                </a:solidFill>
                <a:latin typeface="Arial"/>
                <a:ea typeface="Arial"/>
                <a:cs typeface="Arial"/>
                <a:sym typeface="Arial"/>
              </a:rPr>
              <a:t>3.0X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493008" y="2388096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目標ネットDPI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943600" y="1620000"/>
            <a:ext cx="2468880" cy="1170432"/>
          </a:xfrm>
          <a:prstGeom prst="roundRect">
            <a:avLst>
              <a:gd fmla="val 7031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6172200" y="178459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88C2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488C2"/>
                </a:solidFill>
                <a:latin typeface="Arial"/>
                <a:ea typeface="Arial"/>
                <a:cs typeface="Arial"/>
                <a:sym typeface="Arial"/>
              </a:rPr>
              <a:t>10–12社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190488" y="2388096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集中ポートフォリオ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48640" y="2991600"/>
            <a:ext cx="2468880" cy="1170432"/>
          </a:xfrm>
          <a:prstGeom prst="roundRect">
            <a:avLst>
              <a:gd fmla="val 7031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777240" y="315619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81C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D9881C"/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795528" y="3759696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エントリー持分（リード）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246120" y="2991600"/>
            <a:ext cx="2468880" cy="1170432"/>
          </a:xfrm>
          <a:prstGeom prst="roundRect">
            <a:avLst>
              <a:gd fmla="val 7031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474720" y="315619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88C2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488C2"/>
                </a:solidFill>
                <a:latin typeface="Arial"/>
                <a:ea typeface="Arial"/>
                <a:cs typeface="Arial"/>
                <a:sym typeface="Arial"/>
              </a:rPr>
              <a:t>2 / 20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493008" y="3759696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管理報酬 / 成功報酬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943600" y="2991600"/>
            <a:ext cx="2468880" cy="1170432"/>
          </a:xfrm>
          <a:prstGeom prst="roundRect">
            <a:avLst>
              <a:gd fmla="val 7031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172200" y="315619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81C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D9881C"/>
                </a:solidFill>
                <a:latin typeface="Arial"/>
                <a:ea typeface="Arial"/>
                <a:cs typeface="Arial"/>
                <a:sym typeface="Arial"/>
              </a:rPr>
              <a:t>10年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190488" y="3759696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運用期間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48640" y="4500360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ネット3.0X ＝ グロス約4.3X。</a:t>
            </a:r>
            <a:r>
              <a:rPr b="0" i="0" lang="en-US" sz="13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  1社で約</a:t>
            </a:r>
            <a:r>
              <a:rPr b="1" i="0" lang="en-US" sz="1350" u="none" cap="none" strike="noStrike">
                <a:solidFill>
                  <a:srgbClr val="D9881C"/>
                </a:solidFill>
                <a:latin typeface="Arial"/>
                <a:ea typeface="Arial"/>
                <a:cs typeface="Arial"/>
                <a:sym typeface="Arial"/>
              </a:rPr>
              <a:t>1,360億円</a:t>
            </a:r>
            <a:r>
              <a:rPr b="0" i="0" lang="en-US" sz="13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のExitを出せば、ファンドを丸ごと返す。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Rule3"/>
          <p:cNvCxnSpPr/>
          <p:nvPr/>
        </p:nvCxnSpPr>
        <p:spPr>
          <a:xfrm>
            <a:off x="548640" y="957600"/>
            <a:ext cx="8046720" cy="0"/>
          </a:xfrm>
          <a:prstGeom prst="line">
            <a:avLst/>
          </a:prstGeom>
          <a:ln w="19050">
            <a:solidFill>
              <a:srgbClr val="9FA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KeyBox3"/>
          <p:cNvSpPr/>
          <p:nvPr/>
        </p:nvSpPr>
        <p:spPr>
          <a:xfrm>
            <a:off x="548640" y="1029600"/>
            <a:ext cx="8046720" cy="511200"/>
          </a:xfrm>
          <a:prstGeom prst="rect">
            <a:avLst/>
          </a:prstGeom>
          <a:solidFill>
            <a:srgbClr val="EEF0F4"/>
          </a:solidFill>
          <a:ln w="9525">
            <a:solidFill>
              <a:srgbClr val="D7DCE5"/>
            </a:solidFill>
          </a:ln>
          <a:effectLst/>
        </p:spPr>
        <p:txBody>
          <a:bodyPr rtlCol="0" anchor="ctr" wrap="square" lIns="216000" rIns="108000" tIns="28800" bIns="28800"/>
          <a:lstStyle/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総額150億円・集中10〜12社・運用10年（投資5＋回収5）の日本登記3号ファンド。</a:t>
            </a:r>
          </a:p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目標はネットDPI 3.0X（グロス約4.3X）。1社・約1,360億円のExitがファンドを返す。</a:t>
            </a:r>
          </a:p>
        </p:txBody>
      </p:sp>
      <p:sp>
        <p:nvSpPr>
          <p:cNvPr id="74" name="KeyBar3"/>
          <p:cNvSpPr/>
          <p:nvPr/>
        </p:nvSpPr>
        <p:spPr>
          <a:xfrm>
            <a:off x="548640" y="1029600"/>
            <a:ext cx="54000" cy="511200"/>
          </a:xfrm>
          <a:prstGeom prst="rect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548640" y="36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経済安全保障 × 宇宙の時代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48640" y="1800000"/>
            <a:ext cx="4160520" cy="3108960"/>
          </a:xfrm>
          <a:prstGeom prst="roundRect">
            <a:avLst>
              <a:gd fmla="val 2647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2074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6"/>
          <p:cNvSpPr/>
          <p:nvPr/>
        </p:nvSpPr>
        <p:spPr>
          <a:xfrm>
            <a:off x="1325880" y="21017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重要鉱物をめぐる主権争い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822960" y="2668680"/>
            <a:ext cx="37033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中国がレアアース輸出管理を強化し、アフリカ等で鉱床を囲い込み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サプライチェーン途絶リスクが現実化（日本の磁石輸出に影響）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88C2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488C2"/>
                </a:solidFill>
                <a:latin typeface="Arial"/>
                <a:ea typeface="Arial"/>
                <a:cs typeface="Arial"/>
                <a:sym typeface="Arial"/>
              </a:rPr>
              <a:t>→ 国産インテリジェンスと資源モニタリングの需要が構造的に拡大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074920" y="18000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追い風となる公的需要プール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074920" y="2257200"/>
            <a:ext cx="3520440" cy="777240"/>
          </a:xfrm>
          <a:prstGeom prst="roundRect">
            <a:avLst>
              <a:gd fmla="val 10588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5285232" y="2385216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88C2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488C2"/>
                </a:solidFill>
                <a:latin typeface="Arial"/>
                <a:ea typeface="Arial"/>
                <a:cs typeface="Arial"/>
                <a:sym typeface="Arial"/>
              </a:rPr>
              <a:t>¥8.8兆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720840" y="2494944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防衛関係費（2026年度）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074920" y="3153312"/>
            <a:ext cx="3520440" cy="777240"/>
          </a:xfrm>
          <a:prstGeom prst="roundRect">
            <a:avLst>
              <a:gd fmla="val 10588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285232" y="3281328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81C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D9881C"/>
                </a:solidFill>
                <a:latin typeface="Arial"/>
                <a:ea typeface="Arial"/>
                <a:cs typeface="Arial"/>
                <a:sym typeface="Arial"/>
              </a:rPr>
              <a:t>¥1兆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720840" y="3391056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宇宙戦略基金（10年）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074920" y="4049424"/>
            <a:ext cx="3520440" cy="777240"/>
          </a:xfrm>
          <a:prstGeom prst="roundRect">
            <a:avLst>
              <a:gd fmla="val 10588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5285232" y="41774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AD9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6E5AD9"/>
                </a:solidFill>
                <a:latin typeface="Arial"/>
                <a:ea typeface="Arial"/>
                <a:cs typeface="Arial"/>
                <a:sym typeface="Arial"/>
              </a:rPr>
              <a:t>数千億円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720840" y="428716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経済安保 強靱化予算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Rule4"/>
          <p:cNvCxnSpPr/>
          <p:nvPr/>
        </p:nvCxnSpPr>
        <p:spPr>
          <a:xfrm>
            <a:off x="548640" y="957600"/>
            <a:ext cx="8046720" cy="0"/>
          </a:xfrm>
          <a:prstGeom prst="line">
            <a:avLst/>
          </a:prstGeom>
          <a:ln w="19050">
            <a:solidFill>
              <a:srgbClr val="9FA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KeyBox4"/>
          <p:cNvSpPr/>
          <p:nvPr/>
        </p:nvSpPr>
        <p:spPr>
          <a:xfrm>
            <a:off x="548640" y="1029600"/>
            <a:ext cx="8046720" cy="691200"/>
          </a:xfrm>
          <a:prstGeom prst="rect">
            <a:avLst/>
          </a:prstGeom>
          <a:solidFill>
            <a:srgbClr val="EEF0F4"/>
          </a:solidFill>
          <a:ln w="9525">
            <a:solidFill>
              <a:srgbClr val="D7DCE5"/>
            </a:solidFill>
          </a:ln>
          <a:effectLst/>
        </p:spPr>
        <p:txBody>
          <a:bodyPr rtlCol="0" anchor="ctr" wrap="square" lIns="216000" rIns="108000" tIns="28800" bIns="28800"/>
          <a:lstStyle/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中国のレアアース管理強化で、サプライチェーン途絶リスクが顕在化。</a:t>
            </a:r>
          </a:p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重要鉱物の主権争いが、国産インテリジェンス需要を構造的に押し上げる。</a:t>
            </a:r>
          </a:p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防衛8.8兆円・宇宙戦略基金1兆円など、公的需要プールが追い風。</a:t>
            </a:r>
          </a:p>
        </p:txBody>
      </p:sp>
      <p:sp>
        <p:nvSpPr>
          <p:cNvPr id="95" name="KeyBar4"/>
          <p:cNvSpPr/>
          <p:nvPr/>
        </p:nvSpPr>
        <p:spPr>
          <a:xfrm>
            <a:off x="548640" y="1029600"/>
            <a:ext cx="54000" cy="691200"/>
          </a:xfrm>
          <a:prstGeom prst="rect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/>
          <p:nvPr/>
        </p:nvSpPr>
        <p:spPr>
          <a:xfrm>
            <a:off x="548640" y="36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Solafune ― 地球を読むOS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48640" y="1800000"/>
            <a:ext cx="2011680" cy="603504"/>
          </a:xfrm>
          <a:prstGeom prst="roundRect">
            <a:avLst>
              <a:gd fmla="val 13636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731520" y="187315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GEOINT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731520" y="2129184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衛星・地理空間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48640" y="2558952"/>
            <a:ext cx="2011680" cy="603504"/>
          </a:xfrm>
          <a:prstGeom prst="roundRect">
            <a:avLst>
              <a:gd fmla="val 13636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731520" y="263210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OSINT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731520" y="2888136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公開情報・Web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48640" y="3317904"/>
            <a:ext cx="2011680" cy="603504"/>
          </a:xfrm>
          <a:prstGeom prst="roundRect">
            <a:avLst>
              <a:gd fmla="val 13636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731520" y="339105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SIGINT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731520" y="364708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通信・電波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7"/>
          <p:cNvCxnSpPr/>
          <p:nvPr/>
        </p:nvCxnSpPr>
        <p:spPr>
          <a:xfrm>
            <a:off x="2560320" y="2101752"/>
            <a:ext cx="411480" cy="640080"/>
          </a:xfrm>
          <a:prstGeom prst="straightConnector1">
            <a:avLst/>
          </a:prstGeom>
          <a:noFill/>
          <a:ln cap="flat" cmpd="sng" w="15875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7"/>
          <p:cNvCxnSpPr/>
          <p:nvPr/>
        </p:nvCxnSpPr>
        <p:spPr>
          <a:xfrm>
            <a:off x="2560320" y="2860704"/>
            <a:ext cx="411480" cy="18288"/>
          </a:xfrm>
          <a:prstGeom prst="straightConnector1">
            <a:avLst/>
          </a:prstGeom>
          <a:noFill/>
          <a:ln cap="flat" cmpd="sng" w="15875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7"/>
          <p:cNvCxnSpPr/>
          <p:nvPr/>
        </p:nvCxnSpPr>
        <p:spPr>
          <a:xfrm flipH="1" rot="10800000">
            <a:off x="2560320" y="3016152"/>
            <a:ext cx="411480" cy="603504"/>
          </a:xfrm>
          <a:prstGeom prst="straightConnector1">
            <a:avLst/>
          </a:prstGeom>
          <a:noFill/>
          <a:ln cap="flat" cmpd="sng" w="15875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7"/>
          <p:cNvSpPr/>
          <p:nvPr/>
        </p:nvSpPr>
        <p:spPr>
          <a:xfrm>
            <a:off x="2880360" y="1982880"/>
            <a:ext cx="1783080" cy="1783080"/>
          </a:xfrm>
          <a:prstGeom prst="ellipse">
            <a:avLst/>
          </a:prstGeom>
          <a:solidFill>
            <a:srgbClr val="E4ECF8"/>
          </a:solidFill>
          <a:ln cap="flat" cmpd="sng" w="25400">
            <a:solidFill>
              <a:srgbClr val="1488C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9584" y="23029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7"/>
          <p:cNvSpPr/>
          <p:nvPr/>
        </p:nvSpPr>
        <p:spPr>
          <a:xfrm>
            <a:off x="2880360" y="2833272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2880360" y="3089304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88C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88C2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983480" y="1845720"/>
            <a:ext cx="3611880" cy="603504"/>
          </a:xfrm>
          <a:prstGeom prst="roundRect">
            <a:avLst>
              <a:gd fmla="val 13636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6360" y="201945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/>
          <p:nvPr/>
        </p:nvSpPr>
        <p:spPr>
          <a:xfrm>
            <a:off x="5532120" y="1891440"/>
            <a:ext cx="2971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重要鉱物の探査・違法採掘モニタリング（SHIGEN AI）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983480" y="2604672"/>
            <a:ext cx="3611880" cy="603504"/>
          </a:xfrm>
          <a:prstGeom prst="roundRect">
            <a:avLst>
              <a:gd fmla="val 13636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66360" y="27784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/>
          <p:nvPr/>
        </p:nvSpPr>
        <p:spPr>
          <a:xfrm>
            <a:off x="5532120" y="2650392"/>
            <a:ext cx="2971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防衛省・警察庁・内閣府 ＋ アフリカ諸国・国連機関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983480" y="3363624"/>
            <a:ext cx="3611880" cy="603504"/>
          </a:xfrm>
          <a:prstGeom prst="roundRect">
            <a:avLst>
              <a:gd fmla="val 13636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66360" y="3537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5532120" y="3409344"/>
            <a:ext cx="2971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120カ国超の開発者コミュニティが解析を供給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Rule5"/>
          <p:cNvCxnSpPr/>
          <p:nvPr/>
        </p:nvCxnSpPr>
        <p:spPr>
          <a:xfrm>
            <a:off x="548640" y="957600"/>
            <a:ext cx="8046720" cy="0"/>
          </a:xfrm>
          <a:prstGeom prst="line">
            <a:avLst/>
          </a:prstGeom>
          <a:ln w="19050">
            <a:solidFill>
              <a:srgbClr val="9FA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KeyBox5"/>
          <p:cNvSpPr/>
          <p:nvPr/>
        </p:nvSpPr>
        <p:spPr>
          <a:xfrm>
            <a:off x="548640" y="1029600"/>
            <a:ext cx="8046720" cy="691200"/>
          </a:xfrm>
          <a:prstGeom prst="rect">
            <a:avLst/>
          </a:prstGeom>
          <a:solidFill>
            <a:srgbClr val="EEF0F4"/>
          </a:solidFill>
          <a:ln w="9525">
            <a:solidFill>
              <a:srgbClr val="D7DCE5"/>
            </a:solidFill>
          </a:ln>
          <a:effectLst/>
        </p:spPr>
        <p:txBody>
          <a:bodyPr rtlCol="0" anchor="ctr" wrap="square" lIns="216000" rIns="108000" tIns="28800" bIns="28800"/>
          <a:lstStyle/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衛星×AIで地球を解析する「Planetary Intelligence OS」。</a:t>
            </a:r>
          </a:p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GEOINT/OSINT/SIGINTを統合し、資源探査から防衛モニタリングまで提供。</a:t>
            </a:r>
          </a:p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120カ国超の開発者コミュニティが解析を供給する基盤を持つ。</a:t>
            </a:r>
          </a:p>
        </p:txBody>
      </p:sp>
      <p:sp>
        <p:nvSpPr>
          <p:cNvPr id="128" name="KeyBar5"/>
          <p:cNvSpPr/>
          <p:nvPr/>
        </p:nvSpPr>
        <p:spPr>
          <a:xfrm>
            <a:off x="548640" y="1029600"/>
            <a:ext cx="54000" cy="691200"/>
          </a:xfrm>
          <a:prstGeom prst="rect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548640" y="36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なぜ Solafune が勝てるか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48640" y="1800000"/>
            <a:ext cx="2514600" cy="1371600"/>
          </a:xfrm>
          <a:prstGeom prst="roundRect">
            <a:avLst>
              <a:gd fmla="val 6000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749808" y="19371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上流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749808" y="23029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衛星を作る・飛ばす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749808" y="274183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三菱電機 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8"/>
          <p:cNvCxnSpPr/>
          <p:nvPr/>
        </p:nvCxnSpPr>
        <p:spPr>
          <a:xfrm>
            <a:off x="3090672" y="2485800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488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8"/>
          <p:cNvSpPr/>
          <p:nvPr/>
        </p:nvSpPr>
        <p:spPr>
          <a:xfrm>
            <a:off x="3291840" y="1800000"/>
            <a:ext cx="2514600" cy="1371600"/>
          </a:xfrm>
          <a:prstGeom prst="roundRect">
            <a:avLst>
              <a:gd fmla="val 6000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3493008" y="19371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中流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493008" y="23029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データを撮る・売る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3493008" y="274183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Synspective / ICEYE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8"/>
          <p:cNvCxnSpPr/>
          <p:nvPr/>
        </p:nvCxnSpPr>
        <p:spPr>
          <a:xfrm>
            <a:off x="5833872" y="2485800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488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8"/>
          <p:cNvSpPr/>
          <p:nvPr/>
        </p:nvSpPr>
        <p:spPr>
          <a:xfrm>
            <a:off x="6035040" y="1800000"/>
            <a:ext cx="2514600" cy="1371600"/>
          </a:xfrm>
          <a:prstGeom prst="roundRect">
            <a:avLst>
              <a:gd fmla="val 6000" name="adj"/>
            </a:avLst>
          </a:prstGeom>
          <a:solidFill>
            <a:srgbClr val="E4ECF8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6236208" y="19371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81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9881C"/>
                </a:solidFill>
                <a:latin typeface="Arial"/>
                <a:ea typeface="Arial"/>
                <a:cs typeface="Arial"/>
                <a:sym typeface="Arial"/>
              </a:rPr>
              <a:t>下流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236208" y="23029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解析 → インテリジェンス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6236208" y="274183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81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D9881C"/>
                </a:solidFill>
                <a:latin typeface="Arial"/>
                <a:ea typeface="Arial"/>
                <a:cs typeface="Arial"/>
                <a:sym typeface="Arial"/>
              </a:rPr>
              <a:t>★ Solafune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48640" y="3400200"/>
            <a:ext cx="2514600" cy="1417320"/>
          </a:xfrm>
          <a:prstGeom prst="roundRect">
            <a:avLst>
              <a:gd fmla="val 5806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" y="35647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/>
          <p:nvPr/>
        </p:nvSpPr>
        <p:spPr>
          <a:xfrm>
            <a:off x="1152144" y="356479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センサー非依存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749808" y="3967128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衛星を持たず、複数ソースを統合する解析レイヤー＝高い資本効率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3291840" y="3400200"/>
            <a:ext cx="2514600" cy="1417320"/>
          </a:xfrm>
          <a:prstGeom prst="roundRect">
            <a:avLst>
              <a:gd fmla="val 5806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93008" y="35647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/>
          <p:nvPr/>
        </p:nvSpPr>
        <p:spPr>
          <a:xfrm>
            <a:off x="3895344" y="356479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ネットワーク効果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493008" y="3967128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120カ国の開発者がデータ・人材・アルゴリズムを循環供給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035040" y="3400200"/>
            <a:ext cx="2514600" cy="1417320"/>
          </a:xfrm>
          <a:prstGeom prst="roundRect">
            <a:avLst>
              <a:gd fmla="val 5806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6208" y="35647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6638544" y="356479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主権的信認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236208" y="3967128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政府・国際機関との実績が、参入障壁の高い領域での堀になる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Rule6"/>
          <p:cNvCxnSpPr/>
          <p:nvPr/>
        </p:nvCxnSpPr>
        <p:spPr>
          <a:xfrm>
            <a:off x="548640" y="957600"/>
            <a:ext cx="8046720" cy="0"/>
          </a:xfrm>
          <a:prstGeom prst="line">
            <a:avLst/>
          </a:prstGeom>
          <a:ln w="19050">
            <a:solidFill>
              <a:srgbClr val="9FA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KeyBox6"/>
          <p:cNvSpPr/>
          <p:nvPr/>
        </p:nvSpPr>
        <p:spPr>
          <a:xfrm>
            <a:off x="548640" y="1029600"/>
            <a:ext cx="8046720" cy="691200"/>
          </a:xfrm>
          <a:prstGeom prst="rect">
            <a:avLst/>
          </a:prstGeom>
          <a:solidFill>
            <a:srgbClr val="EEF0F4"/>
          </a:solidFill>
          <a:ln w="9525">
            <a:solidFill>
              <a:srgbClr val="D7DCE5"/>
            </a:solidFill>
          </a:ln>
          <a:effectLst/>
        </p:spPr>
        <p:txBody>
          <a:bodyPr rtlCol="0" anchor="ctr" wrap="square" lIns="216000" rIns="108000" tIns="28800" bIns="28800"/>
          <a:lstStyle/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衛星を持たず、解析レイヤーに特化することで高い資本効率を実現。</a:t>
            </a:r>
          </a:p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120カ国の開発者がデータ・人材・アルゴリズムを循環供給（ネットワーク効果）。</a:t>
            </a:r>
          </a:p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政府・国際機関との実績が、参入障壁の高い領域での堀になる。</a:t>
            </a:r>
          </a:p>
        </p:txBody>
      </p:sp>
      <p:sp>
        <p:nvSpPr>
          <p:cNvPr id="161" name="KeyBar6"/>
          <p:cNvSpPr/>
          <p:nvPr/>
        </p:nvSpPr>
        <p:spPr>
          <a:xfrm>
            <a:off x="548640" y="1029600"/>
            <a:ext cx="54000" cy="691200"/>
          </a:xfrm>
          <a:prstGeom prst="rect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>
            <a:off x="548640" y="36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拡大する地理空間インテリジェンス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800000"/>
            <a:ext cx="384048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/>
          <p:nvPr/>
        </p:nvSpPr>
        <p:spPr>
          <a:xfrm>
            <a:off x="4709160" y="1873152"/>
            <a:ext cx="3886200" cy="822960"/>
          </a:xfrm>
          <a:prstGeom prst="roundRect">
            <a:avLst>
              <a:gd fmla="val 10000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4892040" y="198288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81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D9881C"/>
                </a:solidFill>
                <a:latin typeface="Arial"/>
                <a:ea typeface="Arial"/>
                <a:cs typeface="Arial"/>
                <a:sym typeface="Arial"/>
              </a:rPr>
              <a:t>TAM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806440" y="1946304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防衛地理空間 約$150B → $282B（2030）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709160" y="2833272"/>
            <a:ext cx="3886200" cy="822960"/>
          </a:xfrm>
          <a:prstGeom prst="roundRect">
            <a:avLst>
              <a:gd fmla="val 10000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4892040" y="294300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88C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88C2"/>
                </a:solidFill>
                <a:latin typeface="Arial"/>
                <a:ea typeface="Arial"/>
                <a:cs typeface="Arial"/>
                <a:sym typeface="Arial"/>
              </a:rPr>
              <a:t>SAM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806440" y="2906424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日本＋同志国の政府需要（防衛AI・宇宙データ・経済安保）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709160" y="3793392"/>
            <a:ext cx="3886200" cy="822960"/>
          </a:xfrm>
          <a:prstGeom prst="roundRect">
            <a:avLst>
              <a:gd fmla="val 10000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4892040" y="390312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AD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E5AD9"/>
                </a:solidFill>
                <a:latin typeface="Arial"/>
                <a:ea typeface="Arial"/>
                <a:cs typeface="Arial"/>
                <a:sym typeface="Arial"/>
              </a:rPr>
              <a:t>参入経路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5806440" y="3866544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日本政府 → 同志国政府 → 民間（グローバルサウス）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Rule7"/>
          <p:cNvCxnSpPr/>
          <p:nvPr/>
        </p:nvCxnSpPr>
        <p:spPr>
          <a:xfrm>
            <a:off x="548640" y="957600"/>
            <a:ext cx="8046720" cy="0"/>
          </a:xfrm>
          <a:prstGeom prst="line">
            <a:avLst/>
          </a:prstGeom>
          <a:ln w="19050">
            <a:solidFill>
              <a:srgbClr val="9FA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KeyBox7"/>
          <p:cNvSpPr/>
          <p:nvPr/>
        </p:nvSpPr>
        <p:spPr>
          <a:xfrm>
            <a:off x="548640" y="1029600"/>
            <a:ext cx="8046720" cy="691200"/>
          </a:xfrm>
          <a:prstGeom prst="rect">
            <a:avLst/>
          </a:prstGeom>
          <a:solidFill>
            <a:srgbClr val="EEF0F4"/>
          </a:solidFill>
          <a:ln w="9525">
            <a:solidFill>
              <a:srgbClr val="D7DCE5"/>
            </a:solidFill>
          </a:ln>
          <a:effectLst/>
        </p:spPr>
        <p:txBody>
          <a:bodyPr rtlCol="0" anchor="ctr" wrap="square" lIns="216000" rIns="108000" tIns="28800" bIns="28800"/>
          <a:lstStyle/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防衛地理空間市場はCAGR約11%、2030年に約$282Bへ拡大。</a:t>
            </a:r>
          </a:p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日本＋同志国の政府需要（防衛AI・宇宙データ・経済安保）をSAMに積み上げ。</a:t>
            </a:r>
          </a:p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日本政府→同志国政府→民間へとボトムアップで攻略する。</a:t>
            </a:r>
          </a:p>
        </p:txBody>
      </p:sp>
      <p:sp>
        <p:nvSpPr>
          <p:cNvPr id="178" name="KeyBar7"/>
          <p:cNvSpPr/>
          <p:nvPr/>
        </p:nvSpPr>
        <p:spPr>
          <a:xfrm>
            <a:off x="548640" y="1029600"/>
            <a:ext cx="54000" cy="691200"/>
          </a:xfrm>
          <a:prstGeom prst="rect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548640" y="36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5年で描く成長（仮・要検証）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800000"/>
            <a:ext cx="521208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0"/>
          <p:cNvSpPr/>
          <p:nvPr/>
        </p:nvSpPr>
        <p:spPr>
          <a:xfrm>
            <a:off x="5989320" y="1873152"/>
            <a:ext cx="2606040" cy="822960"/>
          </a:xfrm>
          <a:prstGeom prst="roundRect">
            <a:avLst>
              <a:gd fmla="val 10000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6172200" y="196459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81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881C"/>
                </a:solidFill>
                <a:latin typeface="Arial"/>
                <a:ea typeface="Arial"/>
                <a:cs typeface="Arial"/>
                <a:sym typeface="Arial"/>
              </a:rPr>
              <a:t>60% → 72%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6190488" y="23669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グロスマージン（ソフト/解析）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5989320" y="2833272"/>
            <a:ext cx="2606040" cy="822960"/>
          </a:xfrm>
          <a:prstGeom prst="roundRect">
            <a:avLst>
              <a:gd fmla="val 10000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6172200" y="292471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88C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488C2"/>
                </a:solidFill>
                <a:latin typeface="Arial"/>
                <a:ea typeface="Arial"/>
                <a:cs typeface="Arial"/>
                <a:sym typeface="Arial"/>
              </a:rPr>
              <a:t>¥40億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190488" y="33270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投資時点 Post-Val（想定）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5989320" y="3793392"/>
            <a:ext cx="2606040" cy="822960"/>
          </a:xfrm>
          <a:prstGeom prst="roundRect">
            <a:avLst>
              <a:gd fmla="val 10000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6172200" y="388483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AD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6E5AD9"/>
                </a:solidFill>
                <a:latin typeface="Arial"/>
                <a:ea typeface="Arial"/>
                <a:cs typeface="Arial"/>
                <a:sym typeface="Arial"/>
              </a:rPr>
              <a:t>年率 約2倍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6190488" y="42871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政府案件 ＋ 海外展開で成長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Rule8"/>
          <p:cNvCxnSpPr/>
          <p:nvPr/>
        </p:nvCxnSpPr>
        <p:spPr>
          <a:xfrm>
            <a:off x="548640" y="957600"/>
            <a:ext cx="8046720" cy="0"/>
          </a:xfrm>
          <a:prstGeom prst="line">
            <a:avLst/>
          </a:prstGeom>
          <a:ln w="19050">
            <a:solidFill>
              <a:srgbClr val="9FA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KeyBox8"/>
          <p:cNvSpPr/>
          <p:nvPr/>
        </p:nvSpPr>
        <p:spPr>
          <a:xfrm>
            <a:off x="548640" y="1029600"/>
            <a:ext cx="8046720" cy="691200"/>
          </a:xfrm>
          <a:prstGeom prst="rect">
            <a:avLst/>
          </a:prstGeom>
          <a:solidFill>
            <a:srgbClr val="EEF0F4"/>
          </a:solidFill>
          <a:ln w="9525">
            <a:solidFill>
              <a:srgbClr val="D7DCE5"/>
            </a:solidFill>
          </a:ln>
          <a:effectLst/>
        </p:spPr>
        <p:txBody>
          <a:bodyPr rtlCol="0" anchor="ctr" wrap="square" lIns="216000" rIns="108000" tIns="28800" bIns="28800"/>
          <a:lstStyle/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政府案件＋海外展開で、売上は5年で約20倍・年率約2倍を想定（仮・要検証）。</a:t>
            </a:r>
          </a:p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グロスマージンはソフト/解析モデルで60%→72%へ改善。</a:t>
            </a:r>
          </a:p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投資時点のPost-Valは約40億円を想定。</a:t>
            </a:r>
          </a:p>
        </p:txBody>
      </p:sp>
      <p:sp>
        <p:nvSpPr>
          <p:cNvPr id="195" name="KeyBar8"/>
          <p:cNvSpPr/>
          <p:nvPr/>
        </p:nvSpPr>
        <p:spPr>
          <a:xfrm>
            <a:off x="548640" y="1029600"/>
            <a:ext cx="54000" cy="691200"/>
          </a:xfrm>
          <a:prstGeom prst="rect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/>
          <p:nvPr/>
        </p:nvSpPr>
        <p:spPr>
          <a:xfrm>
            <a:off x="548640" y="36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1社でファンドを返す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48640" y="1800000"/>
            <a:ext cx="2514600" cy="1051560"/>
          </a:xfrm>
          <a:prstGeom prst="roundRect">
            <a:avLst>
              <a:gd fmla="val 7826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749808" y="1955448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88C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488C2"/>
                </a:solidFill>
                <a:latin typeface="Arial"/>
                <a:ea typeface="Arial"/>
                <a:cs typeface="Arial"/>
                <a:sym typeface="Arial"/>
              </a:rPr>
              <a:t>売上 ¥85億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749808" y="244922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2030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11"/>
          <p:cNvCxnSpPr/>
          <p:nvPr/>
        </p:nvCxnSpPr>
        <p:spPr>
          <a:xfrm>
            <a:off x="3090672" y="232120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488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11"/>
          <p:cNvSpPr/>
          <p:nvPr/>
        </p:nvSpPr>
        <p:spPr>
          <a:xfrm>
            <a:off x="3291840" y="1800000"/>
            <a:ext cx="2514600" cy="1051560"/>
          </a:xfrm>
          <a:prstGeom prst="roundRect">
            <a:avLst>
              <a:gd fmla="val 7826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3493008" y="1955448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× 15–18倍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3493008" y="244922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ソフト・マルチプル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1"/>
          <p:cNvCxnSpPr/>
          <p:nvPr/>
        </p:nvCxnSpPr>
        <p:spPr>
          <a:xfrm>
            <a:off x="5833872" y="232120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488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1"/>
          <p:cNvSpPr/>
          <p:nvPr/>
        </p:nvSpPr>
        <p:spPr>
          <a:xfrm>
            <a:off x="6035040" y="1800000"/>
            <a:ext cx="2514600" cy="1051560"/>
          </a:xfrm>
          <a:prstGeom prst="roundRect">
            <a:avLst>
              <a:gd fmla="val 7826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6236208" y="1955448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81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D9881C"/>
                </a:solidFill>
                <a:latin typeface="Arial"/>
                <a:ea typeface="Arial"/>
                <a:cs typeface="Arial"/>
                <a:sym typeface="Arial"/>
              </a:rPr>
              <a:t>企業価値 ¥1,500–1,800億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6236208" y="244922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Exit 2032・IPO/M&amp;A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48640" y="3171600"/>
            <a:ext cx="8046720" cy="1600200"/>
          </a:xfrm>
          <a:prstGeom prst="roundRect">
            <a:avLst>
              <a:gd fmla="val 5143" name="adj"/>
            </a:avLst>
          </a:prstGeom>
          <a:solidFill>
            <a:srgbClr val="E4ECF8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914400" y="34002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持分 11%  ×  Exit ¥1,800億  =  </a:t>
            </a:r>
            <a:r>
              <a:rPr b="1" i="0" lang="en-US" sz="2000" u="none" cap="none" strike="noStrike">
                <a:solidFill>
                  <a:srgbClr val="D9881C"/>
                </a:solidFill>
                <a:latin typeface="Arial"/>
                <a:ea typeface="Arial"/>
                <a:cs typeface="Arial"/>
                <a:sym typeface="Arial"/>
              </a:rPr>
              <a:t>¥約200億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914400" y="3903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＝ ファンド(¥150億)の 約1.3倍 を1社で回収。  </a:t>
            </a:r>
            <a:r>
              <a:rPr b="1" i="0" lang="en-US" sz="1400" u="none" cap="none" strike="noStrike">
                <a:solidFill>
                  <a:srgbClr val="1488C2"/>
                </a:solidFill>
                <a:latin typeface="Arial"/>
                <a:ea typeface="Arial"/>
                <a:cs typeface="Arial"/>
                <a:sym typeface="Arial"/>
              </a:rPr>
              <a:t>持分 × Exit ≧ ファンド総額 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914400" y="43146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81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881C"/>
                </a:solidFill>
                <a:latin typeface="Arial"/>
                <a:ea typeface="Arial"/>
                <a:cs typeface="Arial"/>
                <a:sym typeface="Arial"/>
              </a:rPr>
              <a:t>1.3X  FUND RETURNED BY ONE COMPANY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Rule9"/>
          <p:cNvCxnSpPr/>
          <p:nvPr/>
        </p:nvCxnSpPr>
        <p:spPr>
          <a:xfrm>
            <a:off x="548640" y="957600"/>
            <a:ext cx="8046720" cy="0"/>
          </a:xfrm>
          <a:prstGeom prst="line">
            <a:avLst/>
          </a:prstGeom>
          <a:ln w="19050">
            <a:solidFill>
              <a:srgbClr val="9FA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KeyBox9"/>
          <p:cNvSpPr/>
          <p:nvPr/>
        </p:nvSpPr>
        <p:spPr>
          <a:xfrm>
            <a:off x="548640" y="1029600"/>
            <a:ext cx="8046720" cy="691200"/>
          </a:xfrm>
          <a:prstGeom prst="rect">
            <a:avLst/>
          </a:prstGeom>
          <a:solidFill>
            <a:srgbClr val="EEF0F4"/>
          </a:solidFill>
          <a:ln w="9525">
            <a:solidFill>
              <a:srgbClr val="D7DCE5"/>
            </a:solidFill>
          </a:ln>
          <a:effectLst/>
        </p:spPr>
        <p:txBody>
          <a:bodyPr rtlCol="0" anchor="ctr" wrap="square" lIns="216000" rIns="108000" tIns="28800" bIns="28800"/>
          <a:lstStyle/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売上85億円×ソフトマルチプル15〜18倍＝企業価値1,500〜1,800億円。</a:t>
            </a:r>
          </a:p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持分11%×Exit1,800億円＝約200億円。1社でファンドの約1.3倍を回収。</a:t>
            </a:r>
          </a:p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「持分×Exit ≧ ファンド総額」を満たすファンドリターナー。</a:t>
            </a:r>
          </a:p>
        </p:txBody>
      </p:sp>
      <p:sp>
        <p:nvSpPr>
          <p:cNvPr id="217" name="KeyBar9"/>
          <p:cNvSpPr/>
          <p:nvPr/>
        </p:nvSpPr>
        <p:spPr>
          <a:xfrm>
            <a:off x="548640" y="1029600"/>
            <a:ext cx="54000" cy="691200"/>
          </a:xfrm>
          <a:prstGeom prst="rect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/>
          <p:nvPr/>
        </p:nvSpPr>
        <p:spPr>
          <a:xfrm>
            <a:off x="548640" y="36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弱点を、先に潰す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548640" y="1800000"/>
            <a:ext cx="3886200" cy="1280160"/>
          </a:xfrm>
          <a:prstGeom prst="roundRect">
            <a:avLst>
              <a:gd fmla="val 6429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0286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2"/>
          <p:cNvSpPr/>
          <p:nvPr/>
        </p:nvSpPr>
        <p:spPr>
          <a:xfrm>
            <a:off x="1170432" y="200116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81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9881C"/>
                </a:solidFill>
                <a:latin typeface="Arial"/>
                <a:ea typeface="Arial"/>
                <a:cs typeface="Arial"/>
                <a:sym typeface="Arial"/>
              </a:rPr>
              <a:t>出口が未実証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777240" y="2421792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上場済み宇宙SU（Synspective等）が実証。日本IPO波に乗る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4663440" y="1800000"/>
            <a:ext cx="3886200" cy="1280160"/>
          </a:xfrm>
          <a:prstGeom prst="roundRect">
            <a:avLst>
              <a:gd fmla="val 6429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20286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2"/>
          <p:cNvSpPr/>
          <p:nvPr/>
        </p:nvSpPr>
        <p:spPr>
          <a:xfrm>
            <a:off x="5285232" y="200116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81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9881C"/>
                </a:solidFill>
                <a:latin typeface="Arial"/>
                <a:ea typeface="Arial"/>
                <a:cs typeface="Arial"/>
                <a:sym typeface="Arial"/>
              </a:rPr>
              <a:t>政府依存・調達変動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892040" y="2421792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マイルストン連動＋同志国横展開でリカーリング化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548640" y="3263040"/>
            <a:ext cx="3886200" cy="1280160"/>
          </a:xfrm>
          <a:prstGeom prst="roundRect">
            <a:avLst>
              <a:gd fmla="val 6429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3491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2"/>
          <p:cNvSpPr/>
          <p:nvPr/>
        </p:nvSpPr>
        <p:spPr>
          <a:xfrm>
            <a:off x="1170432" y="34642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81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9881C"/>
                </a:solidFill>
                <a:latin typeface="Arial"/>
                <a:ea typeface="Arial"/>
                <a:cs typeface="Arial"/>
                <a:sym typeface="Arial"/>
              </a:rPr>
              <a:t>バリュエーション非開示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777240" y="3884832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トランシェ払込・希薄化防止・取締役指名権を確保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4663440" y="3263040"/>
            <a:ext cx="3886200" cy="1280160"/>
          </a:xfrm>
          <a:prstGeom prst="roundRect">
            <a:avLst>
              <a:gd fmla="val 6429" name="adj"/>
            </a:avLst>
          </a:prstGeom>
          <a:solidFill>
            <a:srgbClr val="EEF3FB"/>
          </a:solidFill>
          <a:ln cap="flat" cmpd="sng" w="12700">
            <a:solidFill>
              <a:srgbClr val="D5DEE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6263F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3491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2"/>
          <p:cNvSpPr/>
          <p:nvPr/>
        </p:nvSpPr>
        <p:spPr>
          <a:xfrm>
            <a:off x="5285232" y="34642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81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9881C"/>
                </a:solidFill>
                <a:latin typeface="Arial"/>
                <a:ea typeface="Arial"/>
                <a:cs typeface="Arial"/>
                <a:sym typeface="Arial"/>
              </a:rPr>
              <a:t>防衛AIバブル懸念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4892040" y="3884832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2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6627A"/>
                </a:solidFill>
                <a:latin typeface="Arial"/>
                <a:ea typeface="Arial"/>
                <a:cs typeface="Arial"/>
                <a:sym typeface="Arial"/>
              </a:rPr>
              <a:t>保守的マルチプル(15–18倍)とExit時期の柔軟化で吸収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Rule10"/>
          <p:cNvCxnSpPr/>
          <p:nvPr/>
        </p:nvCxnSpPr>
        <p:spPr>
          <a:xfrm>
            <a:off x="548640" y="957600"/>
            <a:ext cx="8046720" cy="0"/>
          </a:xfrm>
          <a:prstGeom prst="line">
            <a:avLst/>
          </a:prstGeom>
          <a:ln w="19050">
            <a:solidFill>
              <a:srgbClr val="9FA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KeyBox10"/>
          <p:cNvSpPr/>
          <p:nvPr/>
        </p:nvSpPr>
        <p:spPr>
          <a:xfrm>
            <a:off x="548640" y="1029600"/>
            <a:ext cx="8046720" cy="691200"/>
          </a:xfrm>
          <a:prstGeom prst="rect">
            <a:avLst/>
          </a:prstGeom>
          <a:solidFill>
            <a:srgbClr val="EEF0F4"/>
          </a:solidFill>
          <a:ln w="9525">
            <a:solidFill>
              <a:srgbClr val="D7DCE5"/>
            </a:solidFill>
          </a:ln>
          <a:effectLst/>
        </p:spPr>
        <p:txBody>
          <a:bodyPr rtlCol="0" anchor="ctr" wrap="square" lIns="216000" rIns="108000" tIns="28800" bIns="28800"/>
          <a:lstStyle/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出口未実証は、上場済み宇宙SU（Synspective等）の実証と日本IPO波で対応。</a:t>
            </a:r>
          </a:p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政府依存・調達変動は、マイルストン連動＋同志国横展開でリカーリング化。</a:t>
            </a:r>
          </a:p>
          <a:p>
            <a:pPr algn="l" marL="198000" indent="-16200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Clr>
                <a:srgbClr val="1488C2"/>
              </a:buClr>
              <a:buFont typeface="Arial"/>
              <a:buChar char="▪"/>
            </a:pPr>
            <a:r>
              <a:rPr sz="1100" b="0">
                <a:solidFill>
                  <a:srgbClr val="16263F"/>
                </a:solidFill>
                <a:latin typeface="Arial"/>
              </a:rPr>
              <a:t>評価/バブル懸念は、保守的マルチプル(15〜18倍)と契約条項で吸収。</a:t>
            </a:r>
          </a:p>
        </p:txBody>
      </p:sp>
      <p:sp>
        <p:nvSpPr>
          <p:cNvPr id="240" name="KeyBar10"/>
          <p:cNvSpPr/>
          <p:nvPr/>
        </p:nvSpPr>
        <p:spPr>
          <a:xfrm>
            <a:off x="548640" y="1029600"/>
            <a:ext cx="54000" cy="691200"/>
          </a:xfrm>
          <a:prstGeom prst="rect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BC8FF"/>
                </a:solidFill>
                <a:latin typeface="Arial"/>
                <a:ea typeface="Arial"/>
                <a:cs typeface="Arial"/>
                <a:sym typeface="Arial"/>
              </a:rPr>
              <a:t>ORBIT SENTINEL CAPITAL  ×  Solafune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548640" y="141732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AF1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EAF1FF"/>
                </a:solidFill>
                <a:latin typeface="Arial"/>
                <a:ea typeface="Arial"/>
                <a:cs typeface="Arial"/>
                <a:sym typeface="Arial"/>
              </a:rPr>
              <a:t>地球を読む者が、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C8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5BC8FF"/>
                </a:solidFill>
                <a:latin typeface="Arial"/>
                <a:ea typeface="Arial"/>
                <a:cs typeface="Arial"/>
                <a:sym typeface="Arial"/>
              </a:rPr>
              <a:t>次の安全保障を制する。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54864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0D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DB0D0"/>
                </a:solidFill>
                <a:latin typeface="Arial"/>
                <a:ea typeface="Arial"/>
                <a:cs typeface="Arial"/>
                <a:sym typeface="Arial"/>
              </a:rPr>
              <a:t>経済安全保障 × 宇宙 × AI に、狭く深く張る。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0D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DB0D0"/>
                </a:solidFill>
                <a:latin typeface="Arial"/>
                <a:ea typeface="Arial"/>
                <a:cs typeface="Arial"/>
                <a:sym typeface="Arial"/>
              </a:rPr>
              <a:t>ご清聴ありがとうございました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70" name="AgendaTitle"/>
          <p:cNvSpPr/>
          <p:nvPr/>
        </p:nvSpPr>
        <p:spPr>
          <a:xfrm>
            <a:off x="548640" y="36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63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6263F"/>
                </a:solidFill>
                <a:latin typeface="Arial"/>
                <a:ea typeface="Arial"/>
                <a:cs typeface="Arial"/>
                <a:sym typeface="Arial"/>
              </a:rPr>
              <a:t>アジェンダ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1" name="AgendaRule"/>
          <p:cNvCxnSpPr/>
          <p:nvPr/>
        </p:nvCxnSpPr>
        <p:spPr>
          <a:xfrm>
            <a:off x="548640" y="957600"/>
            <a:ext cx="8046720" cy="0"/>
          </a:xfrm>
          <a:prstGeom prst="line">
            <a:avLst/>
          </a:prstGeom>
          <a:ln w="19050">
            <a:solidFill>
              <a:srgbClr val="9FA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2" name="AgRow0"/>
          <p:cNvSpPr/>
          <p:nvPr/>
        </p:nvSpPr>
        <p:spPr>
          <a:xfrm>
            <a:off x="548640" y="1242000"/>
            <a:ext cx="8046720" cy="503999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3" name="AgBadge0"/>
          <p:cNvSpPr/>
          <p:nvPr/>
        </p:nvSpPr>
        <p:spPr>
          <a:xfrm>
            <a:off x="663840" y="1317599"/>
            <a:ext cx="352800" cy="352800"/>
          </a:xfrm>
          <a:prstGeom prst="ellipse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74" name="TextBox 973"/>
          <p:cNvSpPr txBox="1"/>
          <p:nvPr/>
        </p:nvSpPr>
        <p:spPr>
          <a:xfrm>
            <a:off x="1160640" y="1242000"/>
            <a:ext cx="50400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263F"/>
                </a:solidFill>
                <a:latin typeface="Arial"/>
              </a:rPr>
              <a:t>勝ち筋とファンド設計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5948640" y="1242000"/>
            <a:ext cx="253872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56627A"/>
                </a:solidFill>
                <a:latin typeface="Arial"/>
              </a:rPr>
              <a:t>OUR EDGE / FUND DESIGN</a:t>
            </a:r>
          </a:p>
        </p:txBody>
      </p:sp>
      <p:sp>
        <p:nvSpPr>
          <p:cNvPr id="976" name="AgRow1"/>
          <p:cNvSpPr/>
          <p:nvPr/>
        </p:nvSpPr>
        <p:spPr>
          <a:xfrm>
            <a:off x="548640" y="1810800"/>
            <a:ext cx="8046720" cy="503999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7" name="AgBadge1"/>
          <p:cNvSpPr/>
          <p:nvPr/>
        </p:nvSpPr>
        <p:spPr>
          <a:xfrm>
            <a:off x="663840" y="1886399"/>
            <a:ext cx="352800" cy="352800"/>
          </a:xfrm>
          <a:prstGeom prst="ellipse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1160640" y="1810800"/>
            <a:ext cx="50400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263F"/>
                </a:solidFill>
                <a:latin typeface="Arial"/>
              </a:rPr>
              <a:t>なぜ今 — 経済安全保障 × 宇宙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5948640" y="1810800"/>
            <a:ext cx="253872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56627A"/>
                </a:solidFill>
                <a:latin typeface="Arial"/>
              </a:rPr>
              <a:t>WHY NOW</a:t>
            </a:r>
          </a:p>
        </p:txBody>
      </p:sp>
      <p:sp>
        <p:nvSpPr>
          <p:cNvPr id="980" name="AgRow2"/>
          <p:cNvSpPr/>
          <p:nvPr/>
        </p:nvSpPr>
        <p:spPr>
          <a:xfrm>
            <a:off x="548640" y="2379600"/>
            <a:ext cx="8046720" cy="503999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1" name="AgBadge2"/>
          <p:cNvSpPr/>
          <p:nvPr/>
        </p:nvSpPr>
        <p:spPr>
          <a:xfrm>
            <a:off x="663840" y="2455199"/>
            <a:ext cx="352800" cy="352800"/>
          </a:xfrm>
          <a:prstGeom prst="ellipse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982" name="TextBox 981"/>
          <p:cNvSpPr txBox="1"/>
          <p:nvPr/>
        </p:nvSpPr>
        <p:spPr>
          <a:xfrm>
            <a:off x="1160640" y="2379600"/>
            <a:ext cx="50400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263F"/>
                </a:solidFill>
                <a:latin typeface="Arial"/>
              </a:rPr>
              <a:t>投資対象 — Solafune と競争優位</a:t>
            </a:r>
          </a:p>
        </p:txBody>
      </p:sp>
      <p:sp>
        <p:nvSpPr>
          <p:cNvPr id="983" name="TextBox 982"/>
          <p:cNvSpPr txBox="1"/>
          <p:nvPr/>
        </p:nvSpPr>
        <p:spPr>
          <a:xfrm>
            <a:off x="5948640" y="2379600"/>
            <a:ext cx="253872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56627A"/>
                </a:solidFill>
                <a:latin typeface="Arial"/>
              </a:rPr>
              <a:t>THE TARGET / MOAT</a:t>
            </a:r>
          </a:p>
        </p:txBody>
      </p:sp>
      <p:sp>
        <p:nvSpPr>
          <p:cNvPr id="984" name="AgRow3"/>
          <p:cNvSpPr/>
          <p:nvPr/>
        </p:nvSpPr>
        <p:spPr>
          <a:xfrm>
            <a:off x="548640" y="2948400"/>
            <a:ext cx="8046720" cy="503999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5" name="AgBadge3"/>
          <p:cNvSpPr/>
          <p:nvPr/>
        </p:nvSpPr>
        <p:spPr>
          <a:xfrm>
            <a:off x="663840" y="3023999"/>
            <a:ext cx="352800" cy="352800"/>
          </a:xfrm>
          <a:prstGeom prst="ellipse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986" name="TextBox 985"/>
          <p:cNvSpPr txBox="1"/>
          <p:nvPr/>
        </p:nvSpPr>
        <p:spPr>
          <a:xfrm>
            <a:off x="1160640" y="2948400"/>
            <a:ext cx="50400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263F"/>
                </a:solidFill>
                <a:latin typeface="Arial"/>
              </a:rPr>
              <a:t>市場規模と定量モデル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5948640" y="2948400"/>
            <a:ext cx="253872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56627A"/>
                </a:solidFill>
                <a:latin typeface="Arial"/>
              </a:rPr>
              <a:t>MARKET / QUANT</a:t>
            </a:r>
          </a:p>
        </p:txBody>
      </p:sp>
      <p:sp>
        <p:nvSpPr>
          <p:cNvPr id="988" name="AgRow4"/>
          <p:cNvSpPr/>
          <p:nvPr/>
        </p:nvSpPr>
        <p:spPr>
          <a:xfrm>
            <a:off x="548640" y="3517200"/>
            <a:ext cx="8046720" cy="503999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9" name="AgBadge4"/>
          <p:cNvSpPr/>
          <p:nvPr/>
        </p:nvSpPr>
        <p:spPr>
          <a:xfrm>
            <a:off x="663840" y="3592799"/>
            <a:ext cx="352800" cy="352800"/>
          </a:xfrm>
          <a:prstGeom prst="ellipse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1160640" y="3517200"/>
            <a:ext cx="50400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263F"/>
                </a:solidFill>
                <a:latin typeface="Arial"/>
              </a:rPr>
              <a:t>リターン — 1社でファンドを返す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5948640" y="3517200"/>
            <a:ext cx="253872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56627A"/>
                </a:solidFill>
                <a:latin typeface="Arial"/>
              </a:rPr>
              <a:t>EXIT</a:t>
            </a:r>
          </a:p>
        </p:txBody>
      </p:sp>
      <p:sp>
        <p:nvSpPr>
          <p:cNvPr id="992" name="AgRow5"/>
          <p:cNvSpPr/>
          <p:nvPr/>
        </p:nvSpPr>
        <p:spPr>
          <a:xfrm>
            <a:off x="548640" y="4086000"/>
            <a:ext cx="8046720" cy="503999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3" name="AgBadge5"/>
          <p:cNvSpPr/>
          <p:nvPr/>
        </p:nvSpPr>
        <p:spPr>
          <a:xfrm>
            <a:off x="663840" y="4161599"/>
            <a:ext cx="352800" cy="352800"/>
          </a:xfrm>
          <a:prstGeom prst="ellipse">
            <a:avLst/>
          </a:prstGeom>
          <a:solidFill>
            <a:srgbClr val="1488C2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994" name="TextBox 993"/>
          <p:cNvSpPr txBox="1"/>
          <p:nvPr/>
        </p:nvSpPr>
        <p:spPr>
          <a:xfrm>
            <a:off x="1160640" y="4086000"/>
            <a:ext cx="50400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263F"/>
                </a:solidFill>
                <a:latin typeface="Arial"/>
              </a:rPr>
              <a:t>リスクと備え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5948640" y="4086000"/>
            <a:ext cx="253872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56627A"/>
                </a:solidFill>
                <a:latin typeface="Arial"/>
              </a:rPr>
              <a:t>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