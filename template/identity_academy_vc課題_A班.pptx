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" name="Google Shape;4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0" name="Google Shape;240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5" Type="http://schemas.openxmlformats.org/officeDocument/2006/relationships/image" Target="../media/image22.png"/><Relationship Id="rId6" Type="http://schemas.openxmlformats.org/officeDocument/2006/relationships/image" Target="../media/image1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2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28.png"/><Relationship Id="rId6" Type="http://schemas.openxmlformats.org/officeDocument/2006/relationships/image" Target="../media/image23.png"/><Relationship Id="rId7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7.png"/><Relationship Id="rId6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1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2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Relationship Id="rId4" Type="http://schemas.openxmlformats.org/officeDocument/2006/relationships/image" Target="../media/image2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VC FUND PITCH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548640" y="1234440"/>
            <a:ext cx="8229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ORBIT SENTINEL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548640" y="20574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CAPITAL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548640" y="297180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宇宙から地球を読み、経済安全保障に張る。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548640" y="3383280"/>
            <a:ext cx="8046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Securing the critical frontier — from orbit.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548640" y="457200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7FA6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E7FA6"/>
                </a:solidFill>
                <a:latin typeface="Arial"/>
                <a:ea typeface="Arial"/>
                <a:cs typeface="Arial"/>
                <a:sym typeface="Arial"/>
              </a:rPr>
              <a:t>投資対象  </a:t>
            </a:r>
            <a:r>
              <a:rPr b="1" i="0" lang="en-US" sz="13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Solafune</a:t>
            </a:r>
            <a:r>
              <a:rPr b="0" i="0" lang="en-US" sz="1300" u="none" cap="none" strike="noStrike">
                <a:solidFill>
                  <a:srgbClr val="6E7FA6"/>
                </a:solidFill>
                <a:latin typeface="Arial"/>
                <a:ea typeface="Arial"/>
                <a:cs typeface="Arial"/>
                <a:sym typeface="Arial"/>
              </a:rPr>
              <a:t>     3号ファンド  </a:t>
            </a:r>
            <a:r>
              <a:rPr b="1" i="0" lang="en-US" sz="130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¥150億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6217920" y="50292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7FA6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E7FA6"/>
                </a:solidFill>
                <a:latin typeface="Arial"/>
                <a:ea typeface="Arial"/>
                <a:cs typeface="Arial"/>
                <a:sym typeface="Arial"/>
              </a:rPr>
              <a:t>〈ファンド名は仮。チームで最終決定〉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OUR EDGE ・ 勝ち筋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548640" y="603504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私たちは、どう勝つか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548640" y="1298448"/>
            <a:ext cx="8046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重要鉱物・資源安全保障のデュアルユースに、狭く深く張る集中型ファンド。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548640" y="1920240"/>
            <a:ext cx="2468880" cy="2468880"/>
          </a:xfrm>
          <a:prstGeom prst="roundRect">
            <a:avLst>
              <a:gd fmla="val 3333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804672" y="2194560"/>
            <a:ext cx="713232" cy="713232"/>
          </a:xfrm>
          <a:prstGeom prst="ellipse">
            <a:avLst/>
          </a:prstGeom>
          <a:solidFill>
            <a:srgbClr val="16244A"/>
          </a:solidFill>
          <a:ln cap="flat" cmpd="sng" w="15875">
            <a:solidFill>
              <a:srgbClr val="5B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3" name="Google Shape;33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9264" y="2359152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4"/>
          <p:cNvSpPr/>
          <p:nvPr/>
        </p:nvSpPr>
        <p:spPr>
          <a:xfrm>
            <a:off x="804672" y="310896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主権 SOVEREIGNTY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804672" y="3584448"/>
            <a:ext cx="1975104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200"/>
              <a:buFont typeface="Arial"/>
              <a:buNone/>
            </a:pPr>
            <a:r>
              <a:rPr i="0" lang="en-US" sz="1200" u="none" cap="none" strike="noStrike">
                <a:solidFill>
                  <a:srgbClr val="9DB0D0"/>
                </a:solidFill>
              </a:rPr>
              <a:t>国産・データ主権が不可欠な領域に、政府アンカーで張る</a:t>
            </a:r>
            <a:endParaRPr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3246120" y="1920240"/>
            <a:ext cx="2468880" cy="2468880"/>
          </a:xfrm>
          <a:prstGeom prst="roundRect">
            <a:avLst>
              <a:gd fmla="val 3333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3502152" y="2194560"/>
            <a:ext cx="713232" cy="713232"/>
          </a:xfrm>
          <a:prstGeom prst="ellipse">
            <a:avLst/>
          </a:prstGeom>
          <a:solidFill>
            <a:srgbClr val="16244A"/>
          </a:solidFill>
          <a:ln cap="flat" cmpd="sng" w="15875">
            <a:solidFill>
              <a:srgbClr val="F5B4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8" name="Google Shape;3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6744" y="2359152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4"/>
          <p:cNvSpPr/>
          <p:nvPr/>
        </p:nvSpPr>
        <p:spPr>
          <a:xfrm>
            <a:off x="3502152" y="310896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集中 CONCENTRATION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3502152" y="3584448"/>
            <a:ext cx="1975104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10〜12社に絞り、1社でファンドを返す設計に徹する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5943600" y="1920240"/>
            <a:ext cx="2468880" cy="2468880"/>
          </a:xfrm>
          <a:prstGeom prst="roundRect">
            <a:avLst>
              <a:gd fmla="val 3333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6199632" y="2194560"/>
            <a:ext cx="713232" cy="713232"/>
          </a:xfrm>
          <a:prstGeom prst="ellipse">
            <a:avLst/>
          </a:prstGeom>
          <a:solidFill>
            <a:srgbClr val="16244A"/>
          </a:solidFill>
          <a:ln cap="flat" cmpd="sng" w="15875">
            <a:solidFill>
              <a:srgbClr val="9C8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" name="Google Shape;43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64224" y="2359152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4"/>
          <p:cNvSpPr/>
          <p:nvPr/>
        </p:nvSpPr>
        <p:spPr>
          <a:xfrm>
            <a:off x="6199632" y="310896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宇宙×AI ORBIT × AI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6199632" y="3584448"/>
            <a:ext cx="1975104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衛星×AIで地球を解析するソフト層に投資する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5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FUND DESIGN ・ ファンド設計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548640" y="603504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数字で語るファンドの骨格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548640" y="1554480"/>
            <a:ext cx="2468880" cy="1170432"/>
          </a:xfrm>
          <a:prstGeom prst="roundRect">
            <a:avLst>
              <a:gd fmla="val 7031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5"/>
          <p:cNvSpPr/>
          <p:nvPr/>
        </p:nvSpPr>
        <p:spPr>
          <a:xfrm>
            <a:off x="777240" y="1719072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¥150億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795528" y="2322576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ファンド総額（3号）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3246120" y="1554480"/>
            <a:ext cx="2468880" cy="1170432"/>
          </a:xfrm>
          <a:prstGeom prst="roundRect">
            <a:avLst>
              <a:gd fmla="val 7031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5"/>
          <p:cNvSpPr/>
          <p:nvPr/>
        </p:nvSpPr>
        <p:spPr>
          <a:xfrm>
            <a:off x="3474720" y="1719072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B454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3.0X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3493008" y="2322576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目標ネットDPI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5943600" y="1554480"/>
            <a:ext cx="2468880" cy="1170432"/>
          </a:xfrm>
          <a:prstGeom prst="roundRect">
            <a:avLst>
              <a:gd fmla="val 7031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/>
          <p:nvPr/>
        </p:nvSpPr>
        <p:spPr>
          <a:xfrm>
            <a:off x="6172200" y="1719072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10–12社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6190488" y="2322576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集中ポートフォリオ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548640" y="2926080"/>
            <a:ext cx="2468880" cy="1170432"/>
          </a:xfrm>
          <a:prstGeom prst="roundRect">
            <a:avLst>
              <a:gd fmla="val 7031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5"/>
          <p:cNvSpPr/>
          <p:nvPr/>
        </p:nvSpPr>
        <p:spPr>
          <a:xfrm>
            <a:off x="777240" y="3090672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B454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795528" y="3694176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エントリー持分（リード）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3246120" y="2926080"/>
            <a:ext cx="2468880" cy="1170432"/>
          </a:xfrm>
          <a:prstGeom prst="roundRect">
            <a:avLst>
              <a:gd fmla="val 7031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3474720" y="3090672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2 / 20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3493008" y="3694176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管理報酬 / 成功報酬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5943600" y="2926080"/>
            <a:ext cx="2468880" cy="1170432"/>
          </a:xfrm>
          <a:prstGeom prst="roundRect">
            <a:avLst>
              <a:gd fmla="val 7031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6172200" y="3090672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B454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10年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6190488" y="3694176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運用期間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548640" y="4434840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ネット3.0X ＝ グロス約4.3X。</a:t>
            </a:r>
            <a:r>
              <a:rPr b="0" i="0" lang="en-US" sz="13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  1社で約</a:t>
            </a:r>
            <a:r>
              <a:rPr b="1" i="0" lang="en-US" sz="135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1,360億円</a:t>
            </a:r>
            <a:r>
              <a:rPr b="0" i="0" lang="en-US" sz="13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のExitを出せば、ファンドを丸ごと返す。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WHY NOW ・ なぜ今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6"/>
          <p:cNvSpPr/>
          <p:nvPr/>
        </p:nvSpPr>
        <p:spPr>
          <a:xfrm>
            <a:off x="548640" y="603504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経済安全保障 × 宇宙の時代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548640" y="1508760"/>
            <a:ext cx="4160520" cy="3108960"/>
          </a:xfrm>
          <a:prstGeom prst="roundRect">
            <a:avLst>
              <a:gd fmla="val 2647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0" name="Google Shape;8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960" y="178308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6"/>
          <p:cNvSpPr/>
          <p:nvPr/>
        </p:nvSpPr>
        <p:spPr>
          <a:xfrm>
            <a:off x="1325880" y="1810512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重要鉱物をめぐる主権争い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822960" y="2377440"/>
            <a:ext cx="370332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300"/>
              <a:buFont typeface="Arial"/>
              <a:buChar char="•"/>
            </a:pPr>
            <a:r>
              <a:rPr b="0" i="0" lang="en-US" sz="13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中国がレアアース輸出管理を強化し、アフリカ等で鉱床を囲い込み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300"/>
              <a:buFont typeface="Arial"/>
              <a:buChar char="•"/>
            </a:pPr>
            <a:r>
              <a:rPr b="0" i="0" lang="en-US" sz="13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サプライチェーン途絶リスクが現実化（日本の磁石輸出に影響）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300"/>
              <a:buFont typeface="Arial"/>
              <a:buChar char="•"/>
            </a:pPr>
            <a:r>
              <a:rPr b="0" i="0" lang="en-US" sz="13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→ 国産インテリジェンスと資源モニタリングの需要が構造的に拡大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6"/>
          <p:cNvSpPr/>
          <p:nvPr/>
        </p:nvSpPr>
        <p:spPr>
          <a:xfrm>
            <a:off x="5074920" y="150876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追い風となる公的需要プール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5074920" y="1965960"/>
            <a:ext cx="3520440" cy="777240"/>
          </a:xfrm>
          <a:prstGeom prst="roundRect">
            <a:avLst>
              <a:gd fmla="val 10588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6"/>
          <p:cNvSpPr/>
          <p:nvPr/>
        </p:nvSpPr>
        <p:spPr>
          <a:xfrm>
            <a:off x="5285232" y="2093976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¥8.8兆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6720840" y="2203704"/>
            <a:ext cx="1783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防衛関係費（2026年度）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5074920" y="2862072"/>
            <a:ext cx="3520440" cy="777240"/>
          </a:xfrm>
          <a:prstGeom prst="roundRect">
            <a:avLst>
              <a:gd fmla="val 10588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6"/>
          <p:cNvSpPr/>
          <p:nvPr/>
        </p:nvSpPr>
        <p:spPr>
          <a:xfrm>
            <a:off x="5285232" y="2990088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B454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¥1兆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6720840" y="3099816"/>
            <a:ext cx="1783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宇宙戦略基金（10年）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5074920" y="3758184"/>
            <a:ext cx="3520440" cy="777240"/>
          </a:xfrm>
          <a:prstGeom prst="roundRect">
            <a:avLst>
              <a:gd fmla="val 10588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5285232" y="3886200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8CFF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9C8CFF"/>
                </a:solidFill>
                <a:latin typeface="Arial"/>
                <a:ea typeface="Arial"/>
                <a:cs typeface="Arial"/>
                <a:sym typeface="Arial"/>
              </a:rPr>
              <a:t>数千億円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6"/>
          <p:cNvSpPr/>
          <p:nvPr/>
        </p:nvSpPr>
        <p:spPr>
          <a:xfrm>
            <a:off x="6720840" y="3995928"/>
            <a:ext cx="1783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経済安保 強靱化予算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7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THE TARGET ・ 投資対象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548640" y="603504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Solafune ― 地球を読むOS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Planetary Intelligence OS ／ 衛星 × AI で地球を解析する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548640" y="1965960"/>
            <a:ext cx="2011680" cy="603504"/>
          </a:xfrm>
          <a:prstGeom prst="roundRect">
            <a:avLst>
              <a:gd fmla="val 13636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7"/>
          <p:cNvSpPr/>
          <p:nvPr/>
        </p:nvSpPr>
        <p:spPr>
          <a:xfrm>
            <a:off x="731520" y="2039112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GEOINT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/>
          <p:nvPr/>
        </p:nvSpPr>
        <p:spPr>
          <a:xfrm>
            <a:off x="731520" y="2295144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衛星・地理空間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/>
          <p:nvPr/>
        </p:nvSpPr>
        <p:spPr>
          <a:xfrm>
            <a:off x="548640" y="2724912"/>
            <a:ext cx="2011680" cy="603504"/>
          </a:xfrm>
          <a:prstGeom prst="roundRect">
            <a:avLst>
              <a:gd fmla="val 13636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7"/>
          <p:cNvSpPr/>
          <p:nvPr/>
        </p:nvSpPr>
        <p:spPr>
          <a:xfrm>
            <a:off x="731520" y="2798064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OSINT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7"/>
          <p:cNvSpPr/>
          <p:nvPr/>
        </p:nvSpPr>
        <p:spPr>
          <a:xfrm>
            <a:off x="731520" y="3054096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公開情報・Web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7"/>
          <p:cNvSpPr/>
          <p:nvPr/>
        </p:nvSpPr>
        <p:spPr>
          <a:xfrm>
            <a:off x="548640" y="3483864"/>
            <a:ext cx="2011680" cy="603504"/>
          </a:xfrm>
          <a:prstGeom prst="roundRect">
            <a:avLst>
              <a:gd fmla="val 13636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7"/>
          <p:cNvSpPr/>
          <p:nvPr/>
        </p:nvSpPr>
        <p:spPr>
          <a:xfrm>
            <a:off x="731520" y="3557016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SIGINT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/>
          <p:nvPr/>
        </p:nvSpPr>
        <p:spPr>
          <a:xfrm>
            <a:off x="731520" y="3813048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通信・電波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0" name="Google Shape;110;p7"/>
          <p:cNvCxnSpPr/>
          <p:nvPr/>
        </p:nvCxnSpPr>
        <p:spPr>
          <a:xfrm>
            <a:off x="2560320" y="2267712"/>
            <a:ext cx="411480" cy="640080"/>
          </a:xfrm>
          <a:prstGeom prst="straightConnector1">
            <a:avLst/>
          </a:prstGeom>
          <a:noFill/>
          <a:ln cap="flat" cmpd="sng" w="15875">
            <a:solidFill>
              <a:srgbClr val="3A508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" name="Google Shape;111;p7"/>
          <p:cNvCxnSpPr/>
          <p:nvPr/>
        </p:nvCxnSpPr>
        <p:spPr>
          <a:xfrm>
            <a:off x="2560320" y="3026664"/>
            <a:ext cx="411480" cy="18288"/>
          </a:xfrm>
          <a:prstGeom prst="straightConnector1">
            <a:avLst/>
          </a:prstGeom>
          <a:noFill/>
          <a:ln cap="flat" cmpd="sng" w="15875">
            <a:solidFill>
              <a:srgbClr val="3A508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2" name="Google Shape;112;p7"/>
          <p:cNvCxnSpPr/>
          <p:nvPr/>
        </p:nvCxnSpPr>
        <p:spPr>
          <a:xfrm flipH="1" rot="10800000">
            <a:off x="2560320" y="3182112"/>
            <a:ext cx="411480" cy="603504"/>
          </a:xfrm>
          <a:prstGeom prst="straightConnector1">
            <a:avLst/>
          </a:prstGeom>
          <a:noFill/>
          <a:ln cap="flat" cmpd="sng" w="15875">
            <a:solidFill>
              <a:srgbClr val="3A508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3" name="Google Shape;113;p7"/>
          <p:cNvSpPr/>
          <p:nvPr/>
        </p:nvSpPr>
        <p:spPr>
          <a:xfrm>
            <a:off x="2880360" y="2148840"/>
            <a:ext cx="1783080" cy="1783080"/>
          </a:xfrm>
          <a:prstGeom prst="ellipse">
            <a:avLst/>
          </a:prstGeom>
          <a:solidFill>
            <a:srgbClr val="16244A"/>
          </a:solidFill>
          <a:ln cap="flat" cmpd="sng" w="25400">
            <a:solidFill>
              <a:srgbClr val="5BC8F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4" name="Google Shape;114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29584" y="2468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7"/>
          <p:cNvSpPr/>
          <p:nvPr/>
        </p:nvSpPr>
        <p:spPr>
          <a:xfrm>
            <a:off x="2880360" y="2999232"/>
            <a:ext cx="1783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Intelligence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2880360" y="3255264"/>
            <a:ext cx="1783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4983480" y="2011680"/>
            <a:ext cx="3611880" cy="603504"/>
          </a:xfrm>
          <a:prstGeom prst="roundRect">
            <a:avLst>
              <a:gd fmla="val 13636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8" name="Google Shape;118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66360" y="218541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7"/>
          <p:cNvSpPr/>
          <p:nvPr/>
        </p:nvSpPr>
        <p:spPr>
          <a:xfrm>
            <a:off x="5532120" y="2057400"/>
            <a:ext cx="29718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重要鉱物の探査・違法採掘モニタリング（SHIGEN AI）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4983480" y="2770632"/>
            <a:ext cx="3611880" cy="603504"/>
          </a:xfrm>
          <a:prstGeom prst="roundRect">
            <a:avLst>
              <a:gd fmla="val 13636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1" name="Google Shape;121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166360" y="294436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7"/>
          <p:cNvSpPr/>
          <p:nvPr/>
        </p:nvSpPr>
        <p:spPr>
          <a:xfrm>
            <a:off x="5532120" y="2816352"/>
            <a:ext cx="29718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防衛省・警察庁・内閣府 ＋ アフリカ諸国・国連機関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4983480" y="3529584"/>
            <a:ext cx="3611880" cy="603504"/>
          </a:xfrm>
          <a:prstGeom prst="roundRect">
            <a:avLst>
              <a:gd fmla="val 13636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4" name="Google Shape;124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166360" y="370332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7"/>
          <p:cNvSpPr/>
          <p:nvPr/>
        </p:nvSpPr>
        <p:spPr>
          <a:xfrm>
            <a:off x="5532120" y="3575304"/>
            <a:ext cx="29718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120カ国超の開発者コミュニティが解析を供給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8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MOAT ・ 競争優位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548640" y="603504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なぜ Solafune が勝てるか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548640" y="1600200"/>
            <a:ext cx="2514600" cy="1371600"/>
          </a:xfrm>
          <a:prstGeom prst="roundRect">
            <a:avLst>
              <a:gd fmla="val 6000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8"/>
          <p:cNvSpPr/>
          <p:nvPr/>
        </p:nvSpPr>
        <p:spPr>
          <a:xfrm>
            <a:off x="749808" y="173736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上流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749808" y="2103120"/>
            <a:ext cx="2148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衛星を作る・飛ばす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8"/>
          <p:cNvSpPr/>
          <p:nvPr/>
        </p:nvSpPr>
        <p:spPr>
          <a:xfrm>
            <a:off x="749808" y="2542032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三菱電機 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" name="Google Shape;137;p8"/>
          <p:cNvCxnSpPr/>
          <p:nvPr/>
        </p:nvCxnSpPr>
        <p:spPr>
          <a:xfrm>
            <a:off x="3090672" y="2286000"/>
            <a:ext cx="182880" cy="0"/>
          </a:xfrm>
          <a:prstGeom prst="straightConnector1">
            <a:avLst/>
          </a:prstGeom>
          <a:noFill/>
          <a:ln cap="flat" cmpd="sng" w="25400">
            <a:solidFill>
              <a:srgbClr val="5BC8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8" name="Google Shape;138;p8"/>
          <p:cNvSpPr/>
          <p:nvPr/>
        </p:nvSpPr>
        <p:spPr>
          <a:xfrm>
            <a:off x="3291840" y="1600200"/>
            <a:ext cx="2514600" cy="1371600"/>
          </a:xfrm>
          <a:prstGeom prst="roundRect">
            <a:avLst>
              <a:gd fmla="val 6000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8"/>
          <p:cNvSpPr/>
          <p:nvPr/>
        </p:nvSpPr>
        <p:spPr>
          <a:xfrm>
            <a:off x="3493008" y="173736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中流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8"/>
          <p:cNvSpPr/>
          <p:nvPr/>
        </p:nvSpPr>
        <p:spPr>
          <a:xfrm>
            <a:off x="3493008" y="2103120"/>
            <a:ext cx="2148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データを撮る・売る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8"/>
          <p:cNvSpPr/>
          <p:nvPr/>
        </p:nvSpPr>
        <p:spPr>
          <a:xfrm>
            <a:off x="3493008" y="2542032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Synspective / ICEYE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2" name="Google Shape;142;p8"/>
          <p:cNvCxnSpPr/>
          <p:nvPr/>
        </p:nvCxnSpPr>
        <p:spPr>
          <a:xfrm>
            <a:off x="5833872" y="2286000"/>
            <a:ext cx="182880" cy="0"/>
          </a:xfrm>
          <a:prstGeom prst="straightConnector1">
            <a:avLst/>
          </a:prstGeom>
          <a:noFill/>
          <a:ln cap="flat" cmpd="sng" w="25400">
            <a:solidFill>
              <a:srgbClr val="5BC8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3" name="Google Shape;143;p8"/>
          <p:cNvSpPr/>
          <p:nvPr/>
        </p:nvSpPr>
        <p:spPr>
          <a:xfrm>
            <a:off x="6035040" y="1600200"/>
            <a:ext cx="2514600" cy="1371600"/>
          </a:xfrm>
          <a:prstGeom prst="roundRect">
            <a:avLst>
              <a:gd fmla="val 6000" name="adj"/>
            </a:avLst>
          </a:prstGeom>
          <a:solidFill>
            <a:srgbClr val="16244A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"/>
          <p:cNvSpPr/>
          <p:nvPr/>
        </p:nvSpPr>
        <p:spPr>
          <a:xfrm>
            <a:off x="6236208" y="173736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B454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下流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8"/>
          <p:cNvSpPr/>
          <p:nvPr/>
        </p:nvSpPr>
        <p:spPr>
          <a:xfrm>
            <a:off x="6236208" y="2103120"/>
            <a:ext cx="2148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解析 → インテリジェンス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8"/>
          <p:cNvSpPr/>
          <p:nvPr/>
        </p:nvSpPr>
        <p:spPr>
          <a:xfrm>
            <a:off x="6236208" y="2542032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B454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★ Solafune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8"/>
          <p:cNvSpPr/>
          <p:nvPr/>
        </p:nvSpPr>
        <p:spPr>
          <a:xfrm>
            <a:off x="548640" y="3200400"/>
            <a:ext cx="2514600" cy="1417320"/>
          </a:xfrm>
          <a:prstGeom prst="roundRect">
            <a:avLst>
              <a:gd fmla="val 5806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8" name="Google Shape;148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808" y="33649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8"/>
          <p:cNvSpPr/>
          <p:nvPr/>
        </p:nvSpPr>
        <p:spPr>
          <a:xfrm>
            <a:off x="1152144" y="3364992"/>
            <a:ext cx="1783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センサー非依存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749808" y="3767328"/>
            <a:ext cx="21488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衛星を持たず、複数ソースを統合する解析レイヤー＝高い資本効率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3291840" y="3200400"/>
            <a:ext cx="2514600" cy="1417320"/>
          </a:xfrm>
          <a:prstGeom prst="roundRect">
            <a:avLst>
              <a:gd fmla="val 5806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2" name="Google Shape;152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93008" y="33649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8"/>
          <p:cNvSpPr/>
          <p:nvPr/>
        </p:nvSpPr>
        <p:spPr>
          <a:xfrm>
            <a:off x="3895344" y="3364992"/>
            <a:ext cx="1783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ネットワーク効果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3493008" y="3767328"/>
            <a:ext cx="21488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120カ国の開発者がデータ・人材・アルゴリズムを循環供給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6035040" y="3200400"/>
            <a:ext cx="2514600" cy="1417320"/>
          </a:xfrm>
          <a:prstGeom prst="roundRect">
            <a:avLst>
              <a:gd fmla="val 5806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6" name="Google Shape;156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36208" y="33649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8"/>
          <p:cNvSpPr/>
          <p:nvPr/>
        </p:nvSpPr>
        <p:spPr>
          <a:xfrm>
            <a:off x="6638544" y="3364992"/>
            <a:ext cx="1783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主権的信認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6236208" y="3767328"/>
            <a:ext cx="21488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政府・国際機関との実績が、参入障壁の高い領域での堀になる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MARKET ・ 市場規模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548640" y="603504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拡大する地理空間インテリジェンス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554480"/>
            <a:ext cx="3840480" cy="283464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9"/>
          <p:cNvSpPr/>
          <p:nvPr/>
        </p:nvSpPr>
        <p:spPr>
          <a:xfrm>
            <a:off x="4709160" y="1627632"/>
            <a:ext cx="3886200" cy="822960"/>
          </a:xfrm>
          <a:prstGeom prst="roundRect">
            <a:avLst>
              <a:gd fmla="val 10000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9"/>
          <p:cNvSpPr/>
          <p:nvPr/>
        </p:nvSpPr>
        <p:spPr>
          <a:xfrm>
            <a:off x="4892040" y="1737360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B454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TAM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5806440" y="1700784"/>
            <a:ext cx="265176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防衛地理空間 約$150B → $282B（2030）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4709160" y="2587752"/>
            <a:ext cx="3886200" cy="822960"/>
          </a:xfrm>
          <a:prstGeom prst="roundRect">
            <a:avLst>
              <a:gd fmla="val 10000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9"/>
          <p:cNvSpPr/>
          <p:nvPr/>
        </p:nvSpPr>
        <p:spPr>
          <a:xfrm>
            <a:off x="4892040" y="2697480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SAM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9"/>
          <p:cNvSpPr/>
          <p:nvPr/>
        </p:nvSpPr>
        <p:spPr>
          <a:xfrm>
            <a:off x="5806440" y="2660904"/>
            <a:ext cx="265176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日本＋同志国の政府需要（防衛AI・宇宙データ・経済安保）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9"/>
          <p:cNvSpPr/>
          <p:nvPr/>
        </p:nvSpPr>
        <p:spPr>
          <a:xfrm>
            <a:off x="4709160" y="3547872"/>
            <a:ext cx="3886200" cy="822960"/>
          </a:xfrm>
          <a:prstGeom prst="roundRect">
            <a:avLst>
              <a:gd fmla="val 10000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9"/>
          <p:cNvSpPr/>
          <p:nvPr/>
        </p:nvSpPr>
        <p:spPr>
          <a:xfrm>
            <a:off x="4892040" y="3657600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8C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9C8CFF"/>
                </a:solidFill>
                <a:latin typeface="Arial"/>
                <a:ea typeface="Arial"/>
                <a:cs typeface="Arial"/>
                <a:sym typeface="Arial"/>
              </a:rPr>
              <a:t>参入経路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9"/>
          <p:cNvSpPr/>
          <p:nvPr/>
        </p:nvSpPr>
        <p:spPr>
          <a:xfrm>
            <a:off x="5806440" y="3621024"/>
            <a:ext cx="265176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日本政府 → 同志国政府 → 民間（グローバルサウス）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QUANT ・ 定量モデル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0"/>
          <p:cNvSpPr/>
          <p:nvPr/>
        </p:nvSpPr>
        <p:spPr>
          <a:xfrm>
            <a:off x="548640" y="603504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5年で描く成長（仮・要検証）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3" name="Google Shape;183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554480"/>
            <a:ext cx="5212080" cy="29718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0"/>
          <p:cNvSpPr/>
          <p:nvPr/>
        </p:nvSpPr>
        <p:spPr>
          <a:xfrm>
            <a:off x="5989320" y="1627632"/>
            <a:ext cx="2606040" cy="822960"/>
          </a:xfrm>
          <a:prstGeom prst="roundRect">
            <a:avLst>
              <a:gd fmla="val 10000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0"/>
          <p:cNvSpPr/>
          <p:nvPr/>
        </p:nvSpPr>
        <p:spPr>
          <a:xfrm>
            <a:off x="6172200" y="1719072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B454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60% → 72%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0"/>
          <p:cNvSpPr/>
          <p:nvPr/>
        </p:nvSpPr>
        <p:spPr>
          <a:xfrm>
            <a:off x="6190488" y="212140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グロスマージン（ソフト/解析）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5989320" y="2587752"/>
            <a:ext cx="2606040" cy="822960"/>
          </a:xfrm>
          <a:prstGeom prst="roundRect">
            <a:avLst>
              <a:gd fmla="val 10000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0"/>
          <p:cNvSpPr/>
          <p:nvPr/>
        </p:nvSpPr>
        <p:spPr>
          <a:xfrm>
            <a:off x="6172200" y="2679192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¥40億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0"/>
          <p:cNvSpPr/>
          <p:nvPr/>
        </p:nvSpPr>
        <p:spPr>
          <a:xfrm>
            <a:off x="6190488" y="308152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投資時点 Post-Val（想定）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5989320" y="3547872"/>
            <a:ext cx="2606040" cy="822960"/>
          </a:xfrm>
          <a:prstGeom prst="roundRect">
            <a:avLst>
              <a:gd fmla="val 10000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0"/>
          <p:cNvSpPr/>
          <p:nvPr/>
        </p:nvSpPr>
        <p:spPr>
          <a:xfrm>
            <a:off x="6172200" y="3639312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8C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9C8CFF"/>
                </a:solidFill>
                <a:latin typeface="Arial"/>
                <a:ea typeface="Arial"/>
                <a:cs typeface="Arial"/>
                <a:sym typeface="Arial"/>
              </a:rPr>
              <a:t>年率 約2倍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6190488" y="404164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政府案件 ＋ 海外展開で成長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1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EXIT ・ ファンドリターナー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1"/>
          <p:cNvSpPr/>
          <p:nvPr/>
        </p:nvSpPr>
        <p:spPr>
          <a:xfrm>
            <a:off x="548640" y="603504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1社でファンドを返す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1"/>
          <p:cNvSpPr/>
          <p:nvPr/>
        </p:nvSpPr>
        <p:spPr>
          <a:xfrm>
            <a:off x="548640" y="1600200"/>
            <a:ext cx="2514600" cy="1051560"/>
          </a:xfrm>
          <a:prstGeom prst="roundRect">
            <a:avLst>
              <a:gd fmla="val 7826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"/>
          <p:cNvSpPr/>
          <p:nvPr/>
        </p:nvSpPr>
        <p:spPr>
          <a:xfrm>
            <a:off x="749808" y="1755648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売上 ¥85億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1"/>
          <p:cNvSpPr/>
          <p:nvPr/>
        </p:nvSpPr>
        <p:spPr>
          <a:xfrm>
            <a:off x="749808" y="2249424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2030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3" name="Google Shape;203;p11"/>
          <p:cNvCxnSpPr/>
          <p:nvPr/>
        </p:nvCxnSpPr>
        <p:spPr>
          <a:xfrm>
            <a:off x="3090672" y="2121408"/>
            <a:ext cx="182880" cy="0"/>
          </a:xfrm>
          <a:prstGeom prst="straightConnector1">
            <a:avLst/>
          </a:prstGeom>
          <a:noFill/>
          <a:ln cap="flat" cmpd="sng" w="25400">
            <a:solidFill>
              <a:srgbClr val="5BC8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4" name="Google Shape;204;p11"/>
          <p:cNvSpPr/>
          <p:nvPr/>
        </p:nvSpPr>
        <p:spPr>
          <a:xfrm>
            <a:off x="3291840" y="1600200"/>
            <a:ext cx="2514600" cy="1051560"/>
          </a:xfrm>
          <a:prstGeom prst="roundRect">
            <a:avLst>
              <a:gd fmla="val 7826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1"/>
          <p:cNvSpPr/>
          <p:nvPr/>
        </p:nvSpPr>
        <p:spPr>
          <a:xfrm>
            <a:off x="3493008" y="1755648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× 15–18倍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1"/>
          <p:cNvSpPr/>
          <p:nvPr/>
        </p:nvSpPr>
        <p:spPr>
          <a:xfrm>
            <a:off x="3493008" y="2249424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ソフト・マルチプル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7" name="Google Shape;207;p11"/>
          <p:cNvCxnSpPr/>
          <p:nvPr/>
        </p:nvCxnSpPr>
        <p:spPr>
          <a:xfrm>
            <a:off x="5833872" y="2121408"/>
            <a:ext cx="182880" cy="0"/>
          </a:xfrm>
          <a:prstGeom prst="straightConnector1">
            <a:avLst/>
          </a:prstGeom>
          <a:noFill/>
          <a:ln cap="flat" cmpd="sng" w="25400">
            <a:solidFill>
              <a:srgbClr val="5BC8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8" name="Google Shape;208;p11"/>
          <p:cNvSpPr/>
          <p:nvPr/>
        </p:nvSpPr>
        <p:spPr>
          <a:xfrm>
            <a:off x="6035040" y="1600200"/>
            <a:ext cx="2514600" cy="1051560"/>
          </a:xfrm>
          <a:prstGeom prst="roundRect">
            <a:avLst>
              <a:gd fmla="val 7826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1"/>
          <p:cNvSpPr/>
          <p:nvPr/>
        </p:nvSpPr>
        <p:spPr>
          <a:xfrm>
            <a:off x="6236208" y="1755648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B454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企業価値 ¥1,500–1,800億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1"/>
          <p:cNvSpPr/>
          <p:nvPr/>
        </p:nvSpPr>
        <p:spPr>
          <a:xfrm>
            <a:off x="6236208" y="2249424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Exit 2032・IPO/M&amp;A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1"/>
          <p:cNvSpPr/>
          <p:nvPr/>
        </p:nvSpPr>
        <p:spPr>
          <a:xfrm>
            <a:off x="548640" y="2971800"/>
            <a:ext cx="8046720" cy="1600200"/>
          </a:xfrm>
          <a:prstGeom prst="roundRect">
            <a:avLst>
              <a:gd fmla="val 5143" name="adj"/>
            </a:avLst>
          </a:prstGeom>
          <a:solidFill>
            <a:srgbClr val="16244A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1"/>
          <p:cNvSpPr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持分 11%  ×  Exit ¥1,800億  =  </a:t>
            </a:r>
            <a:r>
              <a:rPr b="1" i="0" lang="en-US" sz="200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¥約200億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1"/>
          <p:cNvSpPr/>
          <p:nvPr/>
        </p:nvSpPr>
        <p:spPr>
          <a:xfrm>
            <a:off x="914400" y="37033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＝ ファンド(¥150億)の 約1.3倍 を1社で回収。  </a:t>
            </a:r>
            <a:r>
              <a:rPr b="1" i="0" lang="en-US" sz="14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持分 × Exit ≧ ファンド総額 ✓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1"/>
          <p:cNvSpPr/>
          <p:nvPr/>
        </p:nvSpPr>
        <p:spPr>
          <a:xfrm>
            <a:off x="914400" y="41148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B454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1.3X  FUND RETURNED BY ONE COMPANY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2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RISK ・ リスクと備え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2"/>
          <p:cNvSpPr/>
          <p:nvPr/>
        </p:nvSpPr>
        <p:spPr>
          <a:xfrm>
            <a:off x="548640" y="603504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弱点を、先に潰す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2"/>
          <p:cNvSpPr/>
          <p:nvPr/>
        </p:nvSpPr>
        <p:spPr>
          <a:xfrm>
            <a:off x="548640" y="1600200"/>
            <a:ext cx="3886200" cy="1280160"/>
          </a:xfrm>
          <a:prstGeom prst="roundRect">
            <a:avLst>
              <a:gd fmla="val 6429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3" name="Google Shape;223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7240" y="18288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2"/>
          <p:cNvSpPr/>
          <p:nvPr/>
        </p:nvSpPr>
        <p:spPr>
          <a:xfrm>
            <a:off x="1170432" y="1801368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B454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出口が未実証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2"/>
          <p:cNvSpPr/>
          <p:nvPr/>
        </p:nvSpPr>
        <p:spPr>
          <a:xfrm>
            <a:off x="777240" y="2221992"/>
            <a:ext cx="3474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上場済み宇宙SU（Synspective等）が実証。日本IPO波に乗る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2"/>
          <p:cNvSpPr/>
          <p:nvPr/>
        </p:nvSpPr>
        <p:spPr>
          <a:xfrm>
            <a:off x="4663440" y="1600200"/>
            <a:ext cx="3886200" cy="1280160"/>
          </a:xfrm>
          <a:prstGeom prst="roundRect">
            <a:avLst>
              <a:gd fmla="val 6429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7" name="Google Shape;22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92040" y="18288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12"/>
          <p:cNvSpPr/>
          <p:nvPr/>
        </p:nvSpPr>
        <p:spPr>
          <a:xfrm>
            <a:off x="5285232" y="1801368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B454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政府依存・調達変動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2"/>
          <p:cNvSpPr/>
          <p:nvPr/>
        </p:nvSpPr>
        <p:spPr>
          <a:xfrm>
            <a:off x="4892040" y="2221992"/>
            <a:ext cx="3474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マイルストン連動＋同志国横展開でリカーリング化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2"/>
          <p:cNvSpPr/>
          <p:nvPr/>
        </p:nvSpPr>
        <p:spPr>
          <a:xfrm>
            <a:off x="548640" y="3063240"/>
            <a:ext cx="3886200" cy="1280160"/>
          </a:xfrm>
          <a:prstGeom prst="roundRect">
            <a:avLst>
              <a:gd fmla="val 6429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31" name="Google Shape;231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7240" y="329184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12"/>
          <p:cNvSpPr/>
          <p:nvPr/>
        </p:nvSpPr>
        <p:spPr>
          <a:xfrm>
            <a:off x="1170432" y="3264408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B454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バリュエーション非開示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2"/>
          <p:cNvSpPr/>
          <p:nvPr/>
        </p:nvSpPr>
        <p:spPr>
          <a:xfrm>
            <a:off x="777240" y="3685032"/>
            <a:ext cx="3474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トランシェ払込・希薄化防止・取締役指名権を確保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2"/>
          <p:cNvSpPr/>
          <p:nvPr/>
        </p:nvSpPr>
        <p:spPr>
          <a:xfrm>
            <a:off x="4663440" y="3063240"/>
            <a:ext cx="3886200" cy="1280160"/>
          </a:xfrm>
          <a:prstGeom prst="roundRect">
            <a:avLst>
              <a:gd fmla="val 6429" name="adj"/>
            </a:avLst>
          </a:prstGeom>
          <a:solidFill>
            <a:srgbClr val="111C3C"/>
          </a:solidFill>
          <a:ln cap="flat" cmpd="sng" w="12700">
            <a:solidFill>
              <a:srgbClr val="2A3B66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35" name="Google Shape;235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92040" y="329184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12"/>
          <p:cNvSpPr/>
          <p:nvPr/>
        </p:nvSpPr>
        <p:spPr>
          <a:xfrm>
            <a:off x="5285232" y="3264408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B454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防衛AIバブル懸念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2"/>
          <p:cNvSpPr/>
          <p:nvPr/>
        </p:nvSpPr>
        <p:spPr>
          <a:xfrm>
            <a:off x="4892040" y="3685032"/>
            <a:ext cx="3474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保守的マルチプル(15–18倍)とExit時期の柔軟化で吸収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3"/>
          <p:cNvSpPr/>
          <p:nvPr/>
        </p:nvSpPr>
        <p:spPr>
          <a:xfrm>
            <a:off x="548640" y="6400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ORBIT SENTINEL CAPITAL  ×  Solafune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3"/>
          <p:cNvSpPr/>
          <p:nvPr/>
        </p:nvSpPr>
        <p:spPr>
          <a:xfrm>
            <a:off x="548640" y="1417320"/>
            <a:ext cx="8229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地球を読む者が、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次の安全保障を制する。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3"/>
          <p:cNvSpPr/>
          <p:nvPr/>
        </p:nvSpPr>
        <p:spPr>
          <a:xfrm>
            <a:off x="548640" y="31089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経済安全保障 × 宇宙 × AI に、狭く深く張る。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3"/>
          <p:cNvSpPr/>
          <p:nvPr/>
        </p:nvSpPr>
        <p:spPr>
          <a:xfrm>
            <a:off x="548640" y="457200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ご清聴ありがとうございました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